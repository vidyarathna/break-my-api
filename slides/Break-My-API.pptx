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5B616E"/>
                </a:solidFill>
                <a:latin typeface="Arial"/>
              </a:defRPr>
            </a:pPr>
            <a:r>
              <a:rPr sz="1400" b="0" i="0" u="none" strike="noStrike">
                <a:solidFill>
                  <a:srgbClr val="5B616E"/>
                </a:solidFill>
                <a:latin typeface="Arial"/>
              </a:rPr>
              <a:t>Alice's credit balance, per order</a:t>
            </a:r>
          </a:p>
        </c:rich>
      </c:tx>
      <c:layout/>
      <c:overlay val="0"/>
    </c:title>
    <c:autoTitleDeleted val="0"/>
    <c:plotArea>
      <c:layout/>
      <c:lineChart>
        <c:varyColors val="0"/>
        <c:ser>
          <c:idx val="0"/>
          <c:order val="0"/>
          <c:tx>
            <c:strRef>
              <c:f>Sheet1!$B$1</c:f>
              <c:strCache>
                <c:ptCount val="1"/>
                <c:pt idx="0">
                  <c:v>Balance</c:v>
                </c:pt>
              </c:strCache>
            </c:strRef>
          </c:tx>
          <c:spPr>
            <a:solidFill>
              <a:srgbClr val="E5484D"/>
            </a:solidFill>
            <a:ln w="50800" cap="flat">
              <a:solidFill>
                <a:srgbClr val="E5484D"/>
              </a:solidFill>
              <a:prstDash val="solid"/>
              <a:round/>
            </a:ln>
            <a:effectLst/>
          </c:spPr>
          <c:invertIfNegative val="0"/>
          <c:dLbls>
            <c:numFmt formatCode="#,##0" sourceLinked="0"/>
            <c:txPr>
              <a:bodyPr/>
              <a:lstStyle/>
              <a:p>
                <a:pPr>
                  <a:defRPr b="0" i="0" strike="noStrike" sz="1200" u="none">
                    <a:solidFill>
                      <a:srgbClr val="1C1F26"/>
                    </a:solidFill>
                    <a:latin typeface="Arial"/>
                  </a:defRPr>
                </a:pPr>
              </a:p>
            </c:txPr>
            <c:dLblPos val="t"/>
            <c:showLegendKey val="0"/>
            <c:showVal val="1"/>
            <c:showCatName val="0"/>
            <c:showSerName val="0"/>
            <c:showPercent val="0"/>
            <c:showBubbleSize val="0"/>
            <c:showLeaderLines val="0"/>
          </c:dLbls>
          <c:marker>
            <c:symbol val="circle"/>
            <c:size val="10"/>
            <c:spPr>
              <a:solidFill>
                <a:srgbClr val="E5484D"/>
              </a:solidFill>
              <a:ln w="9525" cap="flat">
                <a:solidFill>
                  <a:srgbClr val="E5484D"/>
                </a:solidFill>
                <a:prstDash val="solid"/>
                <a:round/>
              </a:ln>
              <a:effectLst/>
            </c:spPr>
          </c:marker>
          <c:cat>
            <c:multiLvlStrRef>
              <c:f>Sheet1!$A$2:$A$7</c:f>
              <c:multiLvlStrCache>
                <c:ptCount val="6"/>
                <c:lvl>
                  <c:pt idx="0">
                    <c:v>start</c:v>
                  </c:pt>
                  <c:pt idx="1">
                    <c:v>1</c:v>
                  </c:pt>
                  <c:pt idx="2">
                    <c:v>2</c:v>
                  </c:pt>
                  <c:pt idx="3">
                    <c:v>3</c:v>
                  </c:pt>
                  <c:pt idx="4">
                    <c:v>4</c:v>
                  </c:pt>
                  <c:pt idx="5">
                    <c:v>5</c:v>
                  </c:pt>
                </c:lvl>
              </c:multiLvlStrCache>
            </c:multiLvlStrRef>
          </c:cat>
          <c:val>
            <c:numRef>
              <c:f>Sheet1!$B$2:$B$7</c:f>
              <c:numCache>
                <c:formatCode>General</c:formatCode>
                <c:ptCount val="6"/>
                <c:pt idx="0">
                  <c:v>5000</c:v>
                </c:pt>
                <c:pt idx="1">
                  <c:v>6800</c:v>
                </c:pt>
                <c:pt idx="2">
                  <c:v>8600</c:v>
                </c:pt>
                <c:pt idx="3">
                  <c:v>10400</c:v>
                </c:pt>
                <c:pt idx="4">
                  <c:v>12200</c:v>
                </c:pt>
                <c:pt idx="5">
                  <c:v>14000</c:v>
                </c:pt>
              </c:numCache>
            </c:numRef>
          </c:val>
          <c:smooth val="0"/>
        </c:ser>
        <c:dLbls>
          <c:numFmt formatCode="#,##0" sourceLinked="0"/>
          <c:txPr>
            <a:bodyPr/>
            <a:lstStyle/>
            <a:p>
              <a:pPr>
                <a:defRPr b="0" i="0" strike="noStrike" sz="1200" u="none">
                  <a:solidFill>
                    <a:srgbClr val="1C1F26"/>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16E"/>
                    </a:solidFill>
                    <a:latin typeface="Arial"/>
                  </a:defRPr>
                </a:pPr>
                <a:r>
                  <a:rPr sz="1200" b="0" i="0" u="none" strike="noStrike">
                    <a:solidFill>
                      <a:srgbClr val="5B616E"/>
                    </a:solidFill>
                    <a:latin typeface="Arial"/>
                  </a:rPr>
                  <a:t>order</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16E"/>
                </a:solidFill>
                <a:latin typeface="Arial"/>
              </a:defRPr>
            </a:pPr>
            <a:endParaRPr lang="en-US"/>
          </a:p>
        </c:txPr>
        <c:crossAx val="2094734552"/>
        <c:crosses val="autoZero"/>
        <c:auto val="1"/>
        <c:lblAlgn val="ctr"/>
        <c:noMultiLvlLbl val="1"/>
      </c:catAx>
      <c:valAx>
        <c:axId val="2094734552"/>
        <c:scaling>
          <c:orientation val="minMax"/>
          <c:max val="15000"/>
          <c:min val="4000"/>
        </c:scaling>
        <c:delete val="0"/>
        <c:axPos val="l"/>
        <c:majorGridlines>
          <c:spPr>
            <a:ln w="12700" cap="flat">
              <a:solidFill>
                <a:srgbClr val="E6E8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16E"/>
                </a:solidFill>
                <a:latin typeface="Arial"/>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 Terminal already open behind the slides, API running, happy-path curl typed but not run. Don't introduce yourself at length: switch to the terminal within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curl live. Two tickets, 4000 charged, 400 back, balance 1400. 'Correct. I wrote this, I tested it.' Then: for the next 25 minutes a model takes it apart, and then three bugs that weren't in its case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explain each right-hand line yet: they come back in the demo. The point: nobody writes these tests because nobody imagines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rules properly. Say 'hold on to rule three, it comes back.' /me and /_reset exist but are helpers; don't mention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only: the attacker framing and the 'correct, not predicted' oracle. Describe the assumptions line as intent, not a proven improvement, unless you compared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'what about hallucinations?' before anyone asks. Then: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06:00-08:00. Do NOT generate live (qwen2.5-coder:7b took 91 s). Say: I ran this prompt last night on a local 7B model; this is the unedited output. 9 cases came back, 1 was rejected as malformed (it put a raw token in the auth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08:00-13:00. 8 cases, 5 red. Walk the 3 real bugs first, then the 2 false alarms: they are the most credible moment of the talk. Point at the 'Candidate defects - a human still has to triage these' footer.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14:00-18:30, the wow moment. Show the one line in app/main.py before running. Say only what your real Prompt 3 run found: see TALK-PACKET section 9, Demo 3, for the three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after the money loop runs, or instead of it if the terminal fails. It's capped at 5 rounds only because the ticket stock runs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18:30-23:00. If you're behind at 18:00, skip the student ticket and say it in one sentence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many models will suggest testing concurrency or the student ticket. The claim is that it couldn't run the race in this format, and couldn't know the pricing rule. Don't say 'AI can't find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Say the sentence verbatim, slowly. Don't paraphrase it anywhere else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numbers (ai/run_prompt2.json, ai/run_prompt3.json). Say: five red, three real, two confidently wrong, zero on the expensive bug. Never cut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point 4. Stay on this slide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61B"/>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indent="0" marL="0">
              <a:buNone/>
            </a:pPr>
            <a:r>
              <a:rPr lang="en-US" sz="1300" dirty="0">
                <a:solidFill>
                  <a:srgbClr val="9AA1AD"/>
                </a:solidFill>
                <a:latin typeface="Courier New" pitchFamily="34" charset="0"/>
                <a:ea typeface="Courier New" pitchFamily="34" charset="-122"/>
                <a:cs typeface="Courier New" pitchFamily="34" charset="-120"/>
              </a:rPr>
              <a:t>HackersMang  ·  AI Talks  ·  19 Sep 2026</a:t>
            </a:r>
            <a:endParaRPr lang="en-US" sz="1300" dirty="0"/>
          </a:p>
        </p:txBody>
      </p:sp>
      <p:sp>
        <p:nvSpPr>
          <p:cNvPr id="3" name="Text 1"/>
          <p:cNvSpPr txBox="1"/>
          <p:nvPr/>
        </p:nvSpPr>
        <p:spPr>
          <a:xfrm>
            <a:off x="548640" y="1234440"/>
            <a:ext cx="8412480" cy="1097280"/>
          </a:xfrm>
          <a:prstGeom prst="rect">
            <a:avLst/>
          </a:prstGeom>
          <a:noFill/>
          <a:ln/>
        </p:spPr>
        <p:txBody>
          <a:bodyPr wrap="square" lIns="0" tIns="0" rIns="0" bIns="0" rtlCol="0" anchor="t"/>
          <a:lstStyle/>
          <a:p>
            <a:pPr indent="0" marL="0">
              <a:buNone/>
            </a:pPr>
            <a:r>
              <a:rPr lang="en-US" sz="6600" b="1" dirty="0">
                <a:solidFill>
                  <a:srgbClr val="FFFFFF"/>
                </a:solidFill>
                <a:latin typeface="Arial" pitchFamily="34" charset="0"/>
                <a:ea typeface="Arial" pitchFamily="34" charset="-122"/>
                <a:cs typeface="Arial" pitchFamily="34" charset="-120"/>
              </a:rPr>
              <a:t>Break My API</a:t>
            </a:r>
            <a:endParaRPr lang="en-US" sz="6600" dirty="0"/>
          </a:p>
        </p:txBody>
      </p:sp>
      <p:sp>
        <p:nvSpPr>
          <p:cNvPr id="4" name="Text 2"/>
          <p:cNvSpPr txBox="1"/>
          <p:nvPr/>
        </p:nvSpPr>
        <p:spPr>
          <a:xfrm>
            <a:off x="548640" y="2377440"/>
            <a:ext cx="8412480" cy="548640"/>
          </a:xfrm>
          <a:prstGeom prst="rect">
            <a:avLst/>
          </a:prstGeom>
          <a:noFill/>
          <a:ln/>
        </p:spPr>
        <p:txBody>
          <a:bodyPr wrap="square" lIns="0" tIns="0" rIns="0" bIns="0" rtlCol="0" anchor="t"/>
          <a:lstStyle/>
          <a:p>
            <a:pPr indent="0" marL="0">
              <a:buNone/>
            </a:pPr>
            <a:r>
              <a:rPr lang="en-US" sz="2800" dirty="0">
                <a:solidFill>
                  <a:srgbClr val="C9CED6"/>
                </a:solidFill>
                <a:latin typeface="Arial" pitchFamily="34" charset="0"/>
                <a:ea typeface="Arial" pitchFamily="34" charset="-122"/>
                <a:cs typeface="Arial" pitchFamily="34" charset="-120"/>
              </a:rPr>
              <a:t>Can AI find the bugs I forgot to test?</a:t>
            </a:r>
            <a:endParaRPr lang="en-US" sz="2800" dirty="0"/>
          </a:p>
        </p:txBody>
      </p:sp>
      <p:sp>
        <p:nvSpPr>
          <p:cNvPr id="5" name="Shape 3"/>
          <p:cNvSpPr/>
          <p:nvPr/>
        </p:nvSpPr>
        <p:spPr>
          <a:xfrm>
            <a:off x="548640" y="3429000"/>
            <a:ext cx="2002536" cy="329184"/>
          </a:xfrm>
          <a:prstGeom prst="roundRect">
            <a:avLst>
              <a:gd name="adj" fmla="val 50000"/>
            </a:avLst>
          </a:prstGeom>
          <a:solidFill>
            <a:srgbClr val="E5484D"/>
          </a:solidFill>
          <a:ln w="12700">
            <a:solidFill>
              <a:srgbClr val="E5484D"/>
            </a:solidFill>
            <a:prstDash val="solid"/>
          </a:ln>
        </p:spPr>
      </p:sp>
      <p:sp>
        <p:nvSpPr>
          <p:cNvPr id="6" name="Text 4"/>
          <p:cNvSpPr txBox="1"/>
          <p:nvPr/>
        </p:nvSpPr>
        <p:spPr>
          <a:xfrm>
            <a:off x="548640" y="3429000"/>
            <a:ext cx="2002536"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FAIL  quantity: -5</a:t>
            </a:r>
            <a:endParaRPr lang="en-US" sz="1200" dirty="0"/>
          </a:p>
        </p:txBody>
      </p:sp>
      <p:sp>
        <p:nvSpPr>
          <p:cNvPr id="7" name="Shape 5"/>
          <p:cNvSpPr/>
          <p:nvPr/>
        </p:nvSpPr>
        <p:spPr>
          <a:xfrm>
            <a:off x="2734056" y="3429000"/>
            <a:ext cx="2098548" cy="329184"/>
          </a:xfrm>
          <a:prstGeom prst="roundRect">
            <a:avLst>
              <a:gd name="adj" fmla="val 50000"/>
            </a:avLst>
          </a:prstGeom>
          <a:solidFill>
            <a:srgbClr val="E5484D"/>
          </a:solidFill>
          <a:ln w="12700">
            <a:solidFill>
              <a:srgbClr val="E5484D"/>
            </a:solidFill>
            <a:prstDash val="solid"/>
          </a:ln>
        </p:spPr>
      </p:sp>
      <p:sp>
        <p:nvSpPr>
          <p:cNvPr id="8" name="Text 6"/>
          <p:cNvSpPr txBox="1"/>
          <p:nvPr/>
        </p:nvSpPr>
        <p:spPr>
          <a:xfrm>
            <a:off x="2734056" y="3429000"/>
            <a:ext cx="2098548"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FAIL  SPEAKER100 x2</a:t>
            </a:r>
            <a:endParaRPr lang="en-US" sz="1200" dirty="0"/>
          </a:p>
        </p:txBody>
      </p:sp>
      <p:sp>
        <p:nvSpPr>
          <p:cNvPr id="9" name="Shape 7"/>
          <p:cNvSpPr/>
          <p:nvPr/>
        </p:nvSpPr>
        <p:spPr>
          <a:xfrm>
            <a:off x="5015484" y="3429000"/>
            <a:ext cx="1906524" cy="329184"/>
          </a:xfrm>
          <a:prstGeom prst="roundRect">
            <a:avLst>
              <a:gd name="adj" fmla="val 50000"/>
            </a:avLst>
          </a:prstGeom>
          <a:solidFill>
            <a:srgbClr val="E5484D"/>
          </a:solidFill>
          <a:ln w="12700">
            <a:solidFill>
              <a:srgbClr val="E5484D"/>
            </a:solidFill>
            <a:prstDash val="solid"/>
          </a:ln>
        </p:spPr>
      </p:sp>
      <p:sp>
        <p:nvSpPr>
          <p:cNvPr id="10" name="Text 8"/>
          <p:cNvSpPr txBox="1"/>
          <p:nvPr/>
        </p:nvSpPr>
        <p:spPr>
          <a:xfrm>
            <a:off x="5015484" y="3429000"/>
            <a:ext cx="190652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FAIL  role: admin</a:t>
            </a:r>
            <a:endParaRPr lang="en-US" sz="1200" dirty="0"/>
          </a:p>
        </p:txBody>
      </p:sp>
      <p:sp>
        <p:nvSpPr>
          <p:cNvPr id="11" name="Shape 9"/>
          <p:cNvSpPr/>
          <p:nvPr/>
        </p:nvSpPr>
        <p:spPr>
          <a:xfrm>
            <a:off x="7104888" y="3429000"/>
            <a:ext cx="1810512" cy="329184"/>
          </a:xfrm>
          <a:prstGeom prst="roundRect">
            <a:avLst>
              <a:gd name="adj" fmla="val 50000"/>
            </a:avLst>
          </a:prstGeom>
          <a:solidFill>
            <a:srgbClr val="30A46C"/>
          </a:solidFill>
          <a:ln w="12700">
            <a:solidFill>
              <a:srgbClr val="30A46C"/>
            </a:solidFill>
            <a:prstDash val="solid"/>
          </a:ln>
        </p:spPr>
      </p:sp>
      <p:sp>
        <p:nvSpPr>
          <p:cNvPr id="12" name="Text 10"/>
          <p:cNvSpPr txBox="1"/>
          <p:nvPr/>
        </p:nvSpPr>
        <p:spPr>
          <a:xfrm>
            <a:off x="7104888" y="3429000"/>
            <a:ext cx="1810512"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PASS  happy path</a:t>
            </a:r>
            <a:endParaRPr lang="en-US" sz="1200" dirty="0"/>
          </a:p>
        </p:txBody>
      </p:sp>
      <p:sp>
        <p:nvSpPr>
          <p:cNvPr id="13" name="Text 11"/>
          <p:cNvSpPr txBox="1"/>
          <p:nvPr/>
        </p:nvSpPr>
        <p:spPr>
          <a:xfrm>
            <a:off x="548640" y="5257800"/>
            <a:ext cx="548640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Vidyarathna B</a:t>
            </a:r>
            <a:endParaRPr lang="en-US" sz="2200" dirty="0"/>
          </a:p>
        </p:txBody>
      </p:sp>
      <p:sp>
        <p:nvSpPr>
          <p:cNvPr id="14" name="Text 12"/>
          <p:cNvSpPr txBox="1"/>
          <p:nvPr/>
        </p:nvSpPr>
        <p:spPr>
          <a:xfrm>
            <a:off x="548640" y="5669280"/>
            <a:ext cx="5486400" cy="365760"/>
          </a:xfrm>
          <a:prstGeom prst="rect">
            <a:avLst/>
          </a:prstGeom>
          <a:noFill/>
          <a:ln/>
        </p:spPr>
        <p:txBody>
          <a:bodyPr wrap="square" lIns="0" tIns="0" rIns="0" bIns="0" rtlCol="0" anchor="t"/>
          <a:lstStyle/>
          <a:p>
            <a:pPr indent="0" marL="0">
              <a:buNone/>
            </a:pPr>
            <a:r>
              <a:rPr lang="en-US" sz="1500" dirty="0">
                <a:solidFill>
                  <a:srgbClr val="9AA1AD"/>
                </a:solidFill>
                <a:latin typeface="Arial" pitchFamily="34" charset="0"/>
                <a:ea typeface="Arial" pitchFamily="34" charset="-122"/>
                <a:cs typeface="Arial" pitchFamily="34" charset="-120"/>
              </a:rPr>
              <a:t>Software Engineer  ·  Soult Digital</a:t>
            </a:r>
            <a:endParaRPr lang="en-US" sz="1500" dirty="0"/>
          </a:p>
        </p:txBody>
      </p:sp>
      <p:sp>
        <p:nvSpPr>
          <p:cNvPr id="15" name="Shape 13"/>
          <p:cNvSpPr/>
          <p:nvPr/>
        </p:nvSpPr>
        <p:spPr>
          <a:xfrm>
            <a:off x="9464040" y="3246120"/>
            <a:ext cx="2194560" cy="2194560"/>
          </a:xfrm>
          <a:prstGeom prst="roundRect">
            <a:avLst>
              <a:gd name="adj" fmla="val 6250"/>
            </a:avLst>
          </a:prstGeom>
          <a:solidFill>
            <a:srgbClr val="FFFFFF"/>
          </a:solidFill>
          <a:ln w="12700">
            <a:solidFill>
              <a:srgbClr val="FFFFFF"/>
            </a:solidFill>
            <a:prstDash val="solid"/>
          </a:ln>
        </p:spPr>
      </p:sp>
      <p:pic>
        <p:nvPicPr>
          <p:cNvPr id="16" name="Image 0" descr="qr.png">    </p:cNvPr>
          <p:cNvPicPr>
            <a:picLocks noChangeAspect="1"/>
          </p:cNvPicPr>
          <p:nvPr/>
        </p:nvPicPr>
        <p:blipFill>
          <a:blip r:embed="rId1"/>
          <a:stretch>
            <a:fillRect/>
          </a:stretch>
        </p:blipFill>
        <p:spPr>
          <a:xfrm>
            <a:off x="9601200" y="3383280"/>
            <a:ext cx="1920240" cy="1920240"/>
          </a:xfrm>
          <a:prstGeom prst="rect">
            <a:avLst/>
          </a:prstGeom>
        </p:spPr>
      </p:pic>
      <p:sp>
        <p:nvSpPr>
          <p:cNvPr id="17" name="Text 14"/>
          <p:cNvSpPr txBox="1"/>
          <p:nvPr/>
        </p:nvSpPr>
        <p:spPr>
          <a:xfrm>
            <a:off x="9189720" y="5577840"/>
            <a:ext cx="2743200" cy="320040"/>
          </a:xfrm>
          <a:prstGeom prst="rect">
            <a:avLst/>
          </a:prstGeom>
          <a:noFill/>
          <a:ln/>
        </p:spPr>
        <p:txBody>
          <a:bodyPr wrap="square" lIns="0" tIns="0" rIns="0" bIns="0" rtlCol="0" anchor="t"/>
          <a:lstStyle/>
          <a:p>
            <a:pPr algn="ctr" indent="0" marL="0">
              <a:buNone/>
            </a:pPr>
            <a:r>
              <a:rPr lang="en-US" sz="1000" dirty="0">
                <a:solidFill>
                  <a:srgbClr val="9AA1AD"/>
                </a:solidFill>
                <a:latin typeface="Courier New" pitchFamily="34" charset="0"/>
                <a:ea typeface="Courier New" pitchFamily="34" charset="-122"/>
                <a:cs typeface="Courier New" pitchFamily="34" charset="-120"/>
              </a:rPr>
              <a:t>github.com/vidyarathna/break-my-api</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731520"/>
          </a:xfrm>
          <a:prstGeom prst="rect">
            <a:avLst/>
          </a:prstGeom>
          <a:noFill/>
          <a:ln/>
        </p:spPr>
        <p:txBody>
          <a:bodyPr wrap="square" lIns="0" tIns="0" rIns="0" bIns="0" rtlCol="0" anchor="t"/>
          <a:lstStyle/>
          <a:p>
            <a:pPr indent="0" marL="0">
              <a:buNone/>
            </a:pPr>
            <a:r>
              <a:rPr lang="en-US" sz="4000" b="1" dirty="0">
                <a:solidFill>
                  <a:srgbClr val="1C1F26"/>
                </a:solidFill>
                <a:latin typeface="Arial" pitchFamily="34" charset="0"/>
                <a:ea typeface="Arial" pitchFamily="34" charset="-122"/>
                <a:cs typeface="Arial" pitchFamily="34" charset="-120"/>
              </a:rPr>
              <a:t>This works. I tested it.</a:t>
            </a:r>
            <a:endParaRPr lang="en-US" sz="4000" dirty="0"/>
          </a:p>
        </p:txBody>
      </p:sp>
      <p:sp>
        <p:nvSpPr>
          <p:cNvPr id="3" name="Shape 1"/>
          <p:cNvSpPr/>
          <p:nvPr/>
        </p:nvSpPr>
        <p:spPr>
          <a:xfrm>
            <a:off x="548640" y="1554480"/>
            <a:ext cx="5394960" cy="3291840"/>
          </a:xfrm>
          <a:prstGeom prst="roundRect">
            <a:avLst>
              <a:gd name="adj" fmla="val 3333"/>
            </a:avLst>
          </a:prstGeom>
          <a:solidFill>
            <a:srgbClr val="14161B"/>
          </a:solidFill>
          <a:ln w="12700">
            <a:solidFill>
              <a:srgbClr val="14161B"/>
            </a:solidFill>
            <a:prstDash val="solid"/>
          </a:ln>
        </p:spPr>
      </p:sp>
      <p:sp>
        <p:nvSpPr>
          <p:cNvPr id="4" name="Text 2"/>
          <p:cNvSpPr txBox="1"/>
          <p:nvPr/>
        </p:nvSpPr>
        <p:spPr>
          <a:xfrm>
            <a:off x="868680" y="1828800"/>
            <a:ext cx="2743200" cy="274320"/>
          </a:xfrm>
          <a:prstGeom prst="rect">
            <a:avLst/>
          </a:prstGeom>
          <a:noFill/>
          <a:ln/>
        </p:spPr>
        <p:txBody>
          <a:bodyPr wrap="square" lIns="0" tIns="0" rIns="0" bIns="0" rtlCol="0" anchor="t"/>
          <a:lstStyle/>
          <a:p>
            <a:pPr indent="0" marL="0">
              <a:buNone/>
            </a:pPr>
            <a:r>
              <a:rPr lang="en-US" sz="1200" b="1" dirty="0">
                <a:solidFill>
                  <a:srgbClr val="9AA1AD"/>
                </a:solidFill>
                <a:latin typeface="Courier New" pitchFamily="34" charset="0"/>
                <a:ea typeface="Courier New" pitchFamily="34" charset="-122"/>
                <a:cs typeface="Courier New" pitchFamily="34" charset="-120"/>
              </a:rPr>
              <a:t>REQUEST</a:t>
            </a:r>
            <a:endParaRPr lang="en-US" sz="1200" dirty="0"/>
          </a:p>
        </p:txBody>
      </p:sp>
      <p:sp>
        <p:nvSpPr>
          <p:cNvPr id="5" name="Text 3"/>
          <p:cNvSpPr txBox="1"/>
          <p:nvPr/>
        </p:nvSpPr>
        <p:spPr>
          <a:xfrm>
            <a:off x="868680" y="2286000"/>
            <a:ext cx="4846320" cy="2194560"/>
          </a:xfrm>
          <a:prstGeom prst="rect">
            <a:avLst/>
          </a:prstGeom>
          <a:noFill/>
          <a:ln/>
        </p:spPr>
        <p:txBody>
          <a:bodyPr wrap="square" lIns="0" tIns="0" rIns="0" bIns="0" rtlCol="0" anchor="t"/>
          <a:lstStyle/>
          <a:p>
            <a:pPr indent="0" marL="0">
              <a:spcAft>
                <a:spcPts val="400"/>
              </a:spcAft>
              <a:buNone/>
            </a:pPr>
            <a:r>
              <a:rPr lang="en-US" sz="1600" b="1" dirty="0">
                <a:solidFill>
                  <a:srgbClr val="FFFFFF"/>
                </a:solidFill>
                <a:latin typeface="Courier New" pitchFamily="34" charset="0"/>
                <a:ea typeface="Courier New" pitchFamily="34" charset="-122"/>
                <a:cs typeface="Courier New" pitchFamily="34" charset="-120"/>
              </a:rPr>
              <a:t>POST /orders</a:t>
            </a:r>
            <a:endParaRPr lang="en-US" sz="1600" dirty="0"/>
          </a:p>
          <a:p>
            <a:pPr indent="0" marL="0">
              <a:spcAft>
                <a:spcPts val="400"/>
              </a:spcAft>
              <a:buNone/>
            </a:pPr>
            <a:r>
              <a:rPr lang="en-US" sz="1600" dirty="0">
                <a:solidFill>
                  <a:srgbClr val="C9CED6"/>
                </a:solidFill>
                <a:latin typeface="Courier New" pitchFamily="34" charset="0"/>
                <a:ea typeface="Courier New" pitchFamily="34" charset="-122"/>
                <a:cs typeface="Courier New" pitchFamily="34" charset="-120"/>
              </a:rPr>
              <a:t>Authorization: Bearer MTp1c2Vy</a:t>
            </a:r>
            <a:endParaRPr lang="en-US" sz="1600" dirty="0"/>
          </a:p>
          <a:p>
            <a:pPr indent="0" marL="0">
              <a:spcAft>
                <a:spcPts val="400"/>
              </a:spcAft>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indent="0" marL="0">
              <a:spcAft>
                <a:spcPts val="400"/>
              </a:spcAft>
              <a:buNone/>
            </a:pPr>
            <a:r>
              <a:rPr lang="en-US" sz="1600" dirty="0">
                <a:solidFill>
                  <a:srgbClr val="C9CED6"/>
                </a:solidFill>
                <a:latin typeface="Courier New" pitchFamily="34" charset="0"/>
                <a:ea typeface="Courier New" pitchFamily="34" charset="-122"/>
                <a:cs typeface="Courier New" pitchFamily="34" charset="-120"/>
              </a:rPr>
              <a:t>{"ticket_id": 1, "quantity": 2}</a:t>
            </a:r>
            <a:endParaRPr lang="en-US" sz="1600" dirty="0"/>
          </a:p>
        </p:txBody>
      </p:sp>
      <p:sp>
        <p:nvSpPr>
          <p:cNvPr id="6" name="Shape 4"/>
          <p:cNvSpPr/>
          <p:nvPr/>
        </p:nvSpPr>
        <p:spPr>
          <a:xfrm>
            <a:off x="6263640" y="1554480"/>
            <a:ext cx="5394960" cy="3291840"/>
          </a:xfrm>
          <a:prstGeom prst="roundRect">
            <a:avLst>
              <a:gd name="adj" fmla="val 3333"/>
            </a:avLst>
          </a:prstGeom>
          <a:solidFill>
            <a:srgbClr val="F1F2F4"/>
          </a:solidFill>
          <a:ln w="12700">
            <a:solidFill>
              <a:srgbClr val="F1F2F4"/>
            </a:solidFill>
            <a:prstDash val="solid"/>
          </a:ln>
        </p:spPr>
      </p:sp>
      <p:sp>
        <p:nvSpPr>
          <p:cNvPr id="7" name="Text 5"/>
          <p:cNvSpPr txBox="1"/>
          <p:nvPr/>
        </p:nvSpPr>
        <p:spPr>
          <a:xfrm>
            <a:off x="6583680" y="1828800"/>
            <a:ext cx="1828800" cy="274320"/>
          </a:xfrm>
          <a:prstGeom prst="rect">
            <a:avLst/>
          </a:prstGeom>
          <a:noFill/>
          <a:ln/>
        </p:spPr>
        <p:txBody>
          <a:bodyPr wrap="square" lIns="0" tIns="0" rIns="0" bIns="0" rtlCol="0" anchor="t"/>
          <a:lstStyle/>
          <a:p>
            <a:pPr indent="0" marL="0">
              <a:buNone/>
            </a:pPr>
            <a:r>
              <a:rPr lang="en-US" sz="1200" b="1" dirty="0">
                <a:solidFill>
                  <a:srgbClr val="5B616E"/>
                </a:solidFill>
                <a:latin typeface="Courier New" pitchFamily="34" charset="0"/>
                <a:ea typeface="Courier New" pitchFamily="34" charset="-122"/>
                <a:cs typeface="Courier New" pitchFamily="34" charset="-120"/>
              </a:rPr>
              <a:t>RESPONSE</a:t>
            </a:r>
            <a:endParaRPr lang="en-US" sz="1200" dirty="0"/>
          </a:p>
        </p:txBody>
      </p:sp>
      <p:sp>
        <p:nvSpPr>
          <p:cNvPr id="8" name="Shape 6"/>
          <p:cNvSpPr/>
          <p:nvPr/>
        </p:nvSpPr>
        <p:spPr>
          <a:xfrm>
            <a:off x="9875520" y="1792224"/>
            <a:ext cx="1463040" cy="329184"/>
          </a:xfrm>
          <a:prstGeom prst="roundRect">
            <a:avLst>
              <a:gd name="adj" fmla="val 50000"/>
            </a:avLst>
          </a:prstGeom>
          <a:solidFill>
            <a:srgbClr val="30A46C"/>
          </a:solidFill>
          <a:ln w="12700">
            <a:solidFill>
              <a:srgbClr val="30A46C"/>
            </a:solidFill>
            <a:prstDash val="solid"/>
          </a:ln>
        </p:spPr>
      </p:sp>
      <p:sp>
        <p:nvSpPr>
          <p:cNvPr id="9" name="Text 7"/>
          <p:cNvSpPr txBox="1"/>
          <p:nvPr/>
        </p:nvSpPr>
        <p:spPr>
          <a:xfrm>
            <a:off x="9875520" y="1792224"/>
            <a:ext cx="14630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201 Created</a:t>
            </a:r>
            <a:endParaRPr lang="en-US" sz="1200" dirty="0"/>
          </a:p>
        </p:txBody>
      </p:sp>
      <p:sp>
        <p:nvSpPr>
          <p:cNvPr id="10" name="Text 8"/>
          <p:cNvSpPr txBox="1"/>
          <p:nvPr/>
        </p:nvSpPr>
        <p:spPr>
          <a:xfrm>
            <a:off x="6583680" y="2286000"/>
            <a:ext cx="4846320" cy="2377440"/>
          </a:xfrm>
          <a:prstGeom prst="rect">
            <a:avLst/>
          </a:prstGeom>
          <a:noFill/>
          <a:ln/>
        </p:spPr>
        <p:txBody>
          <a:bodyPr wrap="square" lIns="0" tIns="0" rIns="0" bIns="0" rtlCol="0" anchor="t"/>
          <a:lstStyle/>
          <a:p>
            <a:pPr indent="0" marL="0">
              <a:spcAft>
                <a:spcPts val="400"/>
              </a:spcAft>
              <a:buNone/>
            </a:pPr>
            <a:r>
              <a:rPr lang="en-US" sz="1600" dirty="0">
                <a:solidFill>
                  <a:srgbClr val="1C1F26"/>
                </a:solidFill>
                <a:latin typeface="Courier New" pitchFamily="34" charset="0"/>
                <a:ea typeface="Courier New" pitchFamily="34" charset="-122"/>
                <a:cs typeface="Courier New" pitchFamily="34" charset="-120"/>
              </a:rPr>
              <a:t>{</a:t>
            </a:r>
            <a:endParaRPr lang="en-US" sz="1600" dirty="0"/>
          </a:p>
          <a:p>
            <a:pPr indent="0" marL="0">
              <a:spcAft>
                <a:spcPts val="400"/>
              </a:spcAft>
              <a:buNone/>
            </a:pPr>
            <a:r>
              <a:rPr lang="en-US" sz="1600" dirty="0">
                <a:solidFill>
                  <a:srgbClr val="1C1F26"/>
                </a:solidFill>
                <a:latin typeface="Courier New" pitchFamily="34" charset="0"/>
                <a:ea typeface="Courier New" pitchFamily="34" charset="-122"/>
                <a:cs typeface="Courier New" pitchFamily="34" charset="-120"/>
              </a:rPr>
              <a:t>  "total_charged":  4000.0,</a:t>
            </a:r>
            <a:endParaRPr lang="en-US" sz="1600" dirty="0"/>
          </a:p>
          <a:p>
            <a:pPr indent="0" marL="0">
              <a:spcAft>
                <a:spcPts val="400"/>
              </a:spcAft>
              <a:buNone/>
            </a:pPr>
            <a:r>
              <a:rPr lang="en-US" sz="1600" dirty="0">
                <a:solidFill>
                  <a:srgbClr val="1C1F26"/>
                </a:solidFill>
                <a:latin typeface="Courier New" pitchFamily="34" charset="0"/>
                <a:ea typeface="Courier New" pitchFamily="34" charset="-122"/>
                <a:cs typeface="Courier New" pitchFamily="34" charset="-120"/>
              </a:rPr>
              <a:t>  "credits_earned":  400.0,</a:t>
            </a:r>
            <a:endParaRPr lang="en-US" sz="1600" dirty="0"/>
          </a:p>
          <a:p>
            <a:pPr indent="0" marL="0">
              <a:spcAft>
                <a:spcPts val="400"/>
              </a:spcAft>
              <a:buNone/>
            </a:pPr>
            <a:r>
              <a:rPr lang="en-US" sz="1600" dirty="0">
                <a:solidFill>
                  <a:srgbClr val="1C1F26"/>
                </a:solidFill>
                <a:latin typeface="Courier New" pitchFamily="34" charset="0"/>
                <a:ea typeface="Courier New" pitchFamily="34" charset="-122"/>
                <a:cs typeface="Courier New" pitchFamily="34" charset="-120"/>
              </a:rPr>
              <a:t>  "credit_balance": 1400.0</a:t>
            </a:r>
            <a:endParaRPr lang="en-US" sz="1600" dirty="0"/>
          </a:p>
          <a:p>
            <a:pPr indent="0" marL="0">
              <a:spcAft>
                <a:spcPts val="400"/>
              </a:spcAft>
              <a:buNone/>
            </a:pPr>
            <a:r>
              <a:rPr lang="en-US" sz="1600" dirty="0">
                <a:solidFill>
                  <a:srgbClr val="1C1F26"/>
                </a:solidFill>
                <a:latin typeface="Courier New" pitchFamily="34" charset="0"/>
                <a:ea typeface="Courier New" pitchFamily="34" charset="-122"/>
                <a:cs typeface="Courier New" pitchFamily="34" charset="-120"/>
              </a:rPr>
              <a:t>}</a:t>
            </a:r>
            <a:endParaRPr lang="en-US" sz="1600" dirty="0"/>
          </a:p>
        </p:txBody>
      </p:sp>
      <p:sp>
        <p:nvSpPr>
          <p:cNvPr id="11" name="Text 9"/>
          <p:cNvSpPr txBox="1"/>
          <p:nvPr/>
        </p:nvSpPr>
        <p:spPr>
          <a:xfrm>
            <a:off x="548640" y="5349240"/>
            <a:ext cx="10972800" cy="548640"/>
          </a:xfrm>
          <a:prstGeom prst="rect">
            <a:avLst/>
          </a:prstGeom>
          <a:noFill/>
          <a:ln/>
        </p:spPr>
        <p:txBody>
          <a:bodyPr wrap="square" lIns="0" tIns="0" rIns="0" bIns="0" rtlCol="0" anchor="t"/>
          <a:lstStyle/>
          <a:p>
            <a:pPr indent="0" marL="0">
              <a:buNone/>
            </a:pPr>
            <a:r>
              <a:rPr lang="en-US" sz="2400" dirty="0">
                <a:solidFill>
                  <a:srgbClr val="1C1F26"/>
                </a:solidFill>
                <a:latin typeface="Arial" pitchFamily="34" charset="0"/>
                <a:ea typeface="Arial" pitchFamily="34" charset="-122"/>
                <a:cs typeface="Arial" pitchFamily="34" charset="-120"/>
              </a:rPr>
              <a:t>Every test I wrote passes. </a:t>
            </a:r>
            <a:pPr indent="0" marL="0">
              <a:buNone/>
            </a:pPr>
            <a:r>
              <a:rPr lang="en-US" sz="2400" b="1" dirty="0">
                <a:solidFill>
                  <a:srgbClr val="E5484D"/>
                </a:solidFill>
                <a:latin typeface="Arial" pitchFamily="34" charset="0"/>
                <a:ea typeface="Arial" pitchFamily="34" charset="-122"/>
                <a:cs typeface="Arial" pitchFamily="34" charset="-120"/>
              </a:rPr>
              <a:t>That's the problem.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731520"/>
          </a:xfrm>
          <a:prstGeom prst="rect">
            <a:avLst/>
          </a:prstGeom>
          <a:noFill/>
          <a:ln/>
        </p:spPr>
        <p:txBody>
          <a:bodyPr wrap="square" lIns="0" tIns="0" rIns="0" bIns="0" rtlCol="0" anchor="t"/>
          <a:lstStyle/>
          <a:p>
            <a:pPr indent="0" marL="0">
              <a:buNone/>
            </a:pPr>
            <a:r>
              <a:rPr lang="en-US" sz="4000" b="1" dirty="0">
                <a:solidFill>
                  <a:srgbClr val="1C1F26"/>
                </a:solidFill>
                <a:latin typeface="Arial" pitchFamily="34" charset="0"/>
                <a:ea typeface="Arial" pitchFamily="34" charset="-122"/>
                <a:cs typeface="Arial" pitchFamily="34" charset="-120"/>
              </a:rPr>
              <a:t>My tests check what I imagined</a:t>
            </a:r>
            <a:endParaRPr lang="en-US" sz="4000" dirty="0"/>
          </a:p>
        </p:txBody>
      </p:sp>
      <p:sp>
        <p:nvSpPr>
          <p:cNvPr id="3" name="Shape 1"/>
          <p:cNvSpPr/>
          <p:nvPr/>
        </p:nvSpPr>
        <p:spPr>
          <a:xfrm>
            <a:off x="548640" y="1508760"/>
            <a:ext cx="5394960" cy="3840480"/>
          </a:xfrm>
          <a:prstGeom prst="roundRect">
            <a:avLst>
              <a:gd name="adj" fmla="val 2857"/>
            </a:avLst>
          </a:prstGeom>
          <a:solidFill>
            <a:srgbClr val="F1F2F4"/>
          </a:solidFill>
          <a:ln w="12700">
            <a:solidFill>
              <a:srgbClr val="F1F2F4"/>
            </a:solidFill>
            <a:prstDash val="solid"/>
          </a:ln>
        </p:spPr>
      </p:sp>
      <p:sp>
        <p:nvSpPr>
          <p:cNvPr id="4" name="Text 2"/>
          <p:cNvSpPr txBox="1"/>
          <p:nvPr/>
        </p:nvSpPr>
        <p:spPr>
          <a:xfrm>
            <a:off x="868680" y="1783080"/>
            <a:ext cx="4572000" cy="411480"/>
          </a:xfrm>
          <a:prstGeom prst="rect">
            <a:avLst/>
          </a:prstGeom>
          <a:noFill/>
          <a:ln/>
        </p:spPr>
        <p:txBody>
          <a:bodyPr wrap="square" lIns="0" tIns="0" rIns="0" bIns="0" rtlCol="0" anchor="t"/>
          <a:lstStyle/>
          <a:p>
            <a:pPr indent="0" marL="0">
              <a:buNone/>
            </a:pPr>
            <a:r>
              <a:rPr lang="en-US" sz="2200" b="1" dirty="0">
                <a:solidFill>
                  <a:srgbClr val="1C1F26"/>
                </a:solidFill>
                <a:latin typeface="Arial" pitchFamily="34" charset="0"/>
                <a:ea typeface="Arial" pitchFamily="34" charset="-122"/>
                <a:cs typeface="Arial" pitchFamily="34" charset="-120"/>
              </a:rPr>
              <a:t>What I tested</a:t>
            </a:r>
            <a:endParaRPr lang="en-US" sz="2200" dirty="0"/>
          </a:p>
        </p:txBody>
      </p:sp>
      <p:sp>
        <p:nvSpPr>
          <p:cNvPr id="5" name="Shape 3"/>
          <p:cNvSpPr/>
          <p:nvPr/>
        </p:nvSpPr>
        <p:spPr>
          <a:xfrm>
            <a:off x="868680" y="2468880"/>
            <a:ext cx="777240" cy="329184"/>
          </a:xfrm>
          <a:prstGeom prst="roundRect">
            <a:avLst>
              <a:gd name="adj" fmla="val 50000"/>
            </a:avLst>
          </a:prstGeom>
          <a:solidFill>
            <a:srgbClr val="30A46C"/>
          </a:solidFill>
          <a:ln w="12700">
            <a:solidFill>
              <a:srgbClr val="30A46C"/>
            </a:solidFill>
            <a:prstDash val="solid"/>
          </a:ln>
        </p:spPr>
      </p:sp>
      <p:sp>
        <p:nvSpPr>
          <p:cNvPr id="6" name="Text 4"/>
          <p:cNvSpPr txBox="1"/>
          <p:nvPr/>
        </p:nvSpPr>
        <p:spPr>
          <a:xfrm>
            <a:off x="868680" y="2468880"/>
            <a:ext cx="7772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PASS</a:t>
            </a:r>
            <a:endParaRPr lang="en-US" sz="1200" dirty="0"/>
          </a:p>
        </p:txBody>
      </p:sp>
      <p:sp>
        <p:nvSpPr>
          <p:cNvPr id="7" name="Text 5"/>
          <p:cNvSpPr txBox="1"/>
          <p:nvPr/>
        </p:nvSpPr>
        <p:spPr>
          <a:xfrm>
            <a:off x="1828800" y="2468880"/>
            <a:ext cx="3931920" cy="329184"/>
          </a:xfrm>
          <a:prstGeom prst="rect">
            <a:avLst/>
          </a:prstGeom>
          <a:noFill/>
          <a:ln/>
        </p:spPr>
        <p:txBody>
          <a:bodyPr wrap="square" lIns="0" tIns="0" rIns="0" bIns="0" rtlCol="0" anchor="ctr"/>
          <a:lstStyle/>
          <a:p>
            <a:pPr indent="0" marL="0">
              <a:buNone/>
            </a:pPr>
            <a:r>
              <a:rPr lang="en-US" sz="1700" dirty="0">
                <a:solidFill>
                  <a:srgbClr val="1C1F26"/>
                </a:solidFill>
                <a:latin typeface="Arial" pitchFamily="34" charset="0"/>
                <a:ea typeface="Arial" pitchFamily="34" charset="-122"/>
                <a:cs typeface="Arial" pitchFamily="34" charset="-120"/>
              </a:rPr>
              <a:t>log in with the right password</a:t>
            </a:r>
            <a:endParaRPr lang="en-US" sz="1700" dirty="0"/>
          </a:p>
        </p:txBody>
      </p:sp>
      <p:sp>
        <p:nvSpPr>
          <p:cNvPr id="8" name="Shape 6"/>
          <p:cNvSpPr/>
          <p:nvPr/>
        </p:nvSpPr>
        <p:spPr>
          <a:xfrm>
            <a:off x="868680" y="3154680"/>
            <a:ext cx="777240" cy="329184"/>
          </a:xfrm>
          <a:prstGeom prst="roundRect">
            <a:avLst>
              <a:gd name="adj" fmla="val 50000"/>
            </a:avLst>
          </a:prstGeom>
          <a:solidFill>
            <a:srgbClr val="30A46C"/>
          </a:solidFill>
          <a:ln w="12700">
            <a:solidFill>
              <a:srgbClr val="30A46C"/>
            </a:solidFill>
            <a:prstDash val="solid"/>
          </a:ln>
        </p:spPr>
      </p:sp>
      <p:sp>
        <p:nvSpPr>
          <p:cNvPr id="9" name="Text 7"/>
          <p:cNvSpPr txBox="1"/>
          <p:nvPr/>
        </p:nvSpPr>
        <p:spPr>
          <a:xfrm>
            <a:off x="868680" y="3154680"/>
            <a:ext cx="7772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PASS</a:t>
            </a:r>
            <a:endParaRPr lang="en-US" sz="1200" dirty="0"/>
          </a:p>
        </p:txBody>
      </p:sp>
      <p:sp>
        <p:nvSpPr>
          <p:cNvPr id="10" name="Text 8"/>
          <p:cNvSpPr txBox="1"/>
          <p:nvPr/>
        </p:nvSpPr>
        <p:spPr>
          <a:xfrm>
            <a:off x="1828800" y="3154680"/>
            <a:ext cx="3931920" cy="329184"/>
          </a:xfrm>
          <a:prstGeom prst="rect">
            <a:avLst/>
          </a:prstGeom>
          <a:noFill/>
          <a:ln/>
        </p:spPr>
        <p:txBody>
          <a:bodyPr wrap="square" lIns="0" tIns="0" rIns="0" bIns="0" rtlCol="0" anchor="ctr"/>
          <a:lstStyle/>
          <a:p>
            <a:pPr indent="0" marL="0">
              <a:buNone/>
            </a:pPr>
            <a:r>
              <a:rPr lang="en-US" sz="1700" dirty="0">
                <a:solidFill>
                  <a:srgbClr val="1C1F26"/>
                </a:solidFill>
                <a:latin typeface="Arial" pitchFamily="34" charset="0"/>
                <a:ea typeface="Arial" pitchFamily="34" charset="-122"/>
                <a:cs typeface="Arial" pitchFamily="34" charset="-120"/>
              </a:rPr>
              <a:t>search for "GENERAL"</a:t>
            </a:r>
            <a:endParaRPr lang="en-US" sz="1700" dirty="0"/>
          </a:p>
        </p:txBody>
      </p:sp>
      <p:sp>
        <p:nvSpPr>
          <p:cNvPr id="11" name="Shape 9"/>
          <p:cNvSpPr/>
          <p:nvPr/>
        </p:nvSpPr>
        <p:spPr>
          <a:xfrm>
            <a:off x="868680" y="3840480"/>
            <a:ext cx="777240" cy="329184"/>
          </a:xfrm>
          <a:prstGeom prst="roundRect">
            <a:avLst>
              <a:gd name="adj" fmla="val 50000"/>
            </a:avLst>
          </a:prstGeom>
          <a:solidFill>
            <a:srgbClr val="30A46C"/>
          </a:solidFill>
          <a:ln w="12700">
            <a:solidFill>
              <a:srgbClr val="30A46C"/>
            </a:solidFill>
            <a:prstDash val="solid"/>
          </a:ln>
        </p:spPr>
      </p:sp>
      <p:sp>
        <p:nvSpPr>
          <p:cNvPr id="12" name="Text 10"/>
          <p:cNvSpPr txBox="1"/>
          <p:nvPr/>
        </p:nvSpPr>
        <p:spPr>
          <a:xfrm>
            <a:off x="868680" y="3840480"/>
            <a:ext cx="7772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PASS</a:t>
            </a:r>
            <a:endParaRPr lang="en-US" sz="1200" dirty="0"/>
          </a:p>
        </p:txBody>
      </p:sp>
      <p:sp>
        <p:nvSpPr>
          <p:cNvPr id="13" name="Text 11"/>
          <p:cNvSpPr txBox="1"/>
          <p:nvPr/>
        </p:nvSpPr>
        <p:spPr>
          <a:xfrm>
            <a:off x="1828800" y="3840480"/>
            <a:ext cx="3931920" cy="329184"/>
          </a:xfrm>
          <a:prstGeom prst="rect">
            <a:avLst/>
          </a:prstGeom>
          <a:noFill/>
          <a:ln/>
        </p:spPr>
        <p:txBody>
          <a:bodyPr wrap="square" lIns="0" tIns="0" rIns="0" bIns="0" rtlCol="0" anchor="ctr"/>
          <a:lstStyle/>
          <a:p>
            <a:pPr indent="0" marL="0">
              <a:buNone/>
            </a:pPr>
            <a:r>
              <a:rPr lang="en-US" sz="1700" dirty="0">
                <a:solidFill>
                  <a:srgbClr val="1C1F26"/>
                </a:solidFill>
                <a:latin typeface="Arial" pitchFamily="34" charset="0"/>
                <a:ea typeface="Arial" pitchFamily="34" charset="-122"/>
                <a:cs typeface="Arial" pitchFamily="34" charset="-120"/>
              </a:rPr>
              <a:t>buy 2 tickets</a:t>
            </a:r>
            <a:endParaRPr lang="en-US" sz="1700" dirty="0"/>
          </a:p>
        </p:txBody>
      </p:sp>
      <p:sp>
        <p:nvSpPr>
          <p:cNvPr id="14" name="Shape 12"/>
          <p:cNvSpPr/>
          <p:nvPr/>
        </p:nvSpPr>
        <p:spPr>
          <a:xfrm>
            <a:off x="6263640" y="1508760"/>
            <a:ext cx="5394960" cy="3840480"/>
          </a:xfrm>
          <a:prstGeom prst="roundRect">
            <a:avLst>
              <a:gd name="adj" fmla="val 2857"/>
            </a:avLst>
          </a:prstGeom>
          <a:solidFill>
            <a:srgbClr val="14161B"/>
          </a:solidFill>
          <a:ln w="12700">
            <a:solidFill>
              <a:srgbClr val="14161B"/>
            </a:solidFill>
            <a:prstDash val="solid"/>
          </a:ln>
        </p:spPr>
      </p:sp>
      <p:sp>
        <p:nvSpPr>
          <p:cNvPr id="15" name="Text 13"/>
          <p:cNvSpPr txBox="1"/>
          <p:nvPr/>
        </p:nvSpPr>
        <p:spPr>
          <a:xfrm>
            <a:off x="6583680" y="1783080"/>
            <a:ext cx="48463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What callers actually send</a:t>
            </a:r>
            <a:endParaRPr lang="en-US" sz="2200" dirty="0"/>
          </a:p>
        </p:txBody>
      </p:sp>
      <p:sp>
        <p:nvSpPr>
          <p:cNvPr id="16" name="Shape 14"/>
          <p:cNvSpPr/>
          <p:nvPr/>
        </p:nvSpPr>
        <p:spPr>
          <a:xfrm>
            <a:off x="6583680" y="2468880"/>
            <a:ext cx="777240" cy="329184"/>
          </a:xfrm>
          <a:prstGeom prst="roundRect">
            <a:avLst>
              <a:gd name="adj" fmla="val 50000"/>
            </a:avLst>
          </a:prstGeom>
          <a:solidFill>
            <a:srgbClr val="2A2F39"/>
          </a:solidFill>
          <a:ln w="12700">
            <a:solidFill>
              <a:srgbClr val="2A2F39"/>
            </a:solidFill>
            <a:prstDash val="solid"/>
          </a:ln>
        </p:spPr>
      </p:sp>
      <p:sp>
        <p:nvSpPr>
          <p:cNvPr id="17" name="Text 15"/>
          <p:cNvSpPr txBox="1"/>
          <p:nvPr/>
        </p:nvSpPr>
        <p:spPr>
          <a:xfrm>
            <a:off x="6583680" y="2468880"/>
            <a:ext cx="777240" cy="329184"/>
          </a:xfrm>
          <a:prstGeom prst="rect">
            <a:avLst/>
          </a:prstGeom>
          <a:noFill/>
          <a:ln/>
        </p:spPr>
        <p:txBody>
          <a:bodyPr wrap="square" lIns="0" tIns="0" rIns="0" bIns="0" rtlCol="0" anchor="ctr"/>
          <a:lstStyle/>
          <a:p>
            <a:pPr algn="ctr" indent="0" marL="0">
              <a:buNone/>
            </a:pPr>
            <a:r>
              <a:rPr lang="en-US" sz="1200" b="1" dirty="0">
                <a:solidFill>
                  <a:srgbClr val="D6DAE1"/>
                </a:solidFill>
                <a:latin typeface="Courier New" pitchFamily="34" charset="0"/>
                <a:ea typeface="Courier New" pitchFamily="34" charset="-122"/>
                <a:cs typeface="Courier New" pitchFamily="34" charset="-120"/>
              </a:rPr>
              <a:t>????</a:t>
            </a:r>
            <a:endParaRPr lang="en-US" sz="1200" dirty="0"/>
          </a:p>
        </p:txBody>
      </p:sp>
      <p:sp>
        <p:nvSpPr>
          <p:cNvPr id="18" name="Text 16"/>
          <p:cNvSpPr txBox="1"/>
          <p:nvPr/>
        </p:nvSpPr>
        <p:spPr>
          <a:xfrm>
            <a:off x="7543800" y="2468880"/>
            <a:ext cx="3931920" cy="329184"/>
          </a:xfrm>
          <a:prstGeom prst="rect">
            <a:avLst/>
          </a:prstGeom>
          <a:noFill/>
          <a:ln/>
        </p:spPr>
        <p:txBody>
          <a:bodyPr wrap="square" lIns="0" tIns="0" rIns="0" bIns="0" rtlCol="0" anchor="ctr"/>
          <a:lstStyle/>
          <a:p>
            <a:pPr indent="0" marL="0">
              <a:buNone/>
            </a:pPr>
            <a:r>
              <a:rPr lang="en-US" sz="1500" dirty="0">
                <a:solidFill>
                  <a:srgbClr val="FFFFFF"/>
                </a:solidFill>
                <a:latin typeface="Courier New" pitchFamily="34" charset="0"/>
                <a:ea typeface="Courier New" pitchFamily="34" charset="-122"/>
                <a:cs typeface="Courier New" pitchFamily="34" charset="-120"/>
              </a:rPr>
              <a:t>"quantity": -5</a:t>
            </a:r>
            <a:endParaRPr lang="en-US" sz="1500" dirty="0"/>
          </a:p>
        </p:txBody>
      </p:sp>
      <p:sp>
        <p:nvSpPr>
          <p:cNvPr id="19" name="Shape 17"/>
          <p:cNvSpPr/>
          <p:nvPr/>
        </p:nvSpPr>
        <p:spPr>
          <a:xfrm>
            <a:off x="6583680" y="3017520"/>
            <a:ext cx="777240" cy="329184"/>
          </a:xfrm>
          <a:prstGeom prst="roundRect">
            <a:avLst>
              <a:gd name="adj" fmla="val 50000"/>
            </a:avLst>
          </a:prstGeom>
          <a:solidFill>
            <a:srgbClr val="2A2F39"/>
          </a:solidFill>
          <a:ln w="12700">
            <a:solidFill>
              <a:srgbClr val="2A2F39"/>
            </a:solidFill>
            <a:prstDash val="solid"/>
          </a:ln>
        </p:spPr>
      </p:sp>
      <p:sp>
        <p:nvSpPr>
          <p:cNvPr id="20" name="Text 18"/>
          <p:cNvSpPr txBox="1"/>
          <p:nvPr/>
        </p:nvSpPr>
        <p:spPr>
          <a:xfrm>
            <a:off x="6583680" y="3017520"/>
            <a:ext cx="777240" cy="329184"/>
          </a:xfrm>
          <a:prstGeom prst="rect">
            <a:avLst/>
          </a:prstGeom>
          <a:noFill/>
          <a:ln/>
        </p:spPr>
        <p:txBody>
          <a:bodyPr wrap="square" lIns="0" tIns="0" rIns="0" bIns="0" rtlCol="0" anchor="ctr"/>
          <a:lstStyle/>
          <a:p>
            <a:pPr algn="ctr" indent="0" marL="0">
              <a:buNone/>
            </a:pPr>
            <a:r>
              <a:rPr lang="en-US" sz="1200" b="1" dirty="0">
                <a:solidFill>
                  <a:srgbClr val="D6DAE1"/>
                </a:solidFill>
                <a:latin typeface="Courier New" pitchFamily="34" charset="0"/>
                <a:ea typeface="Courier New" pitchFamily="34" charset="-122"/>
                <a:cs typeface="Courier New" pitchFamily="34" charset="-120"/>
              </a:rPr>
              <a:t>????</a:t>
            </a:r>
            <a:endParaRPr lang="en-US" sz="1200" dirty="0"/>
          </a:p>
        </p:txBody>
      </p:sp>
      <p:sp>
        <p:nvSpPr>
          <p:cNvPr id="21" name="Text 19"/>
          <p:cNvSpPr txBox="1"/>
          <p:nvPr/>
        </p:nvSpPr>
        <p:spPr>
          <a:xfrm>
            <a:off x="7543800" y="3017520"/>
            <a:ext cx="3931920" cy="329184"/>
          </a:xfrm>
          <a:prstGeom prst="rect">
            <a:avLst/>
          </a:prstGeom>
          <a:noFill/>
          <a:ln/>
        </p:spPr>
        <p:txBody>
          <a:bodyPr wrap="square" lIns="0" tIns="0" rIns="0" bIns="0" rtlCol="0" anchor="ctr"/>
          <a:lstStyle/>
          <a:p>
            <a:pPr indent="0" marL="0">
              <a:buNone/>
            </a:pPr>
            <a:r>
              <a:rPr lang="en-US" sz="1500" dirty="0">
                <a:solidFill>
                  <a:srgbClr val="FFFFFF"/>
                </a:solidFill>
                <a:latin typeface="Courier New" pitchFamily="34" charset="0"/>
                <a:ea typeface="Courier New" pitchFamily="34" charset="-122"/>
                <a:cs typeface="Courier New" pitchFamily="34" charset="-120"/>
              </a:rPr>
              <a:t>q = %' OR published = 0 ...</a:t>
            </a:r>
            <a:endParaRPr lang="en-US" sz="1500" dirty="0"/>
          </a:p>
        </p:txBody>
      </p:sp>
      <p:sp>
        <p:nvSpPr>
          <p:cNvPr id="22" name="Shape 20"/>
          <p:cNvSpPr/>
          <p:nvPr/>
        </p:nvSpPr>
        <p:spPr>
          <a:xfrm>
            <a:off x="6583680" y="3566160"/>
            <a:ext cx="777240" cy="329184"/>
          </a:xfrm>
          <a:prstGeom prst="roundRect">
            <a:avLst>
              <a:gd name="adj" fmla="val 50000"/>
            </a:avLst>
          </a:prstGeom>
          <a:solidFill>
            <a:srgbClr val="2A2F39"/>
          </a:solidFill>
          <a:ln w="12700">
            <a:solidFill>
              <a:srgbClr val="2A2F39"/>
            </a:solidFill>
            <a:prstDash val="solid"/>
          </a:ln>
        </p:spPr>
      </p:sp>
      <p:sp>
        <p:nvSpPr>
          <p:cNvPr id="23" name="Text 21"/>
          <p:cNvSpPr txBox="1"/>
          <p:nvPr/>
        </p:nvSpPr>
        <p:spPr>
          <a:xfrm>
            <a:off x="6583680" y="3566160"/>
            <a:ext cx="777240" cy="329184"/>
          </a:xfrm>
          <a:prstGeom prst="rect">
            <a:avLst/>
          </a:prstGeom>
          <a:noFill/>
          <a:ln/>
        </p:spPr>
        <p:txBody>
          <a:bodyPr wrap="square" lIns="0" tIns="0" rIns="0" bIns="0" rtlCol="0" anchor="ctr"/>
          <a:lstStyle/>
          <a:p>
            <a:pPr algn="ctr" indent="0" marL="0">
              <a:buNone/>
            </a:pPr>
            <a:r>
              <a:rPr lang="en-US" sz="1200" b="1" dirty="0">
                <a:solidFill>
                  <a:srgbClr val="D6DAE1"/>
                </a:solidFill>
                <a:latin typeface="Courier New" pitchFamily="34" charset="0"/>
                <a:ea typeface="Courier New" pitchFamily="34" charset="-122"/>
                <a:cs typeface="Courier New" pitchFamily="34" charset="-120"/>
              </a:rPr>
              <a:t>????</a:t>
            </a:r>
            <a:endParaRPr lang="en-US" sz="1200" dirty="0"/>
          </a:p>
        </p:txBody>
      </p:sp>
      <p:sp>
        <p:nvSpPr>
          <p:cNvPr id="24" name="Text 22"/>
          <p:cNvSpPr txBox="1"/>
          <p:nvPr/>
        </p:nvSpPr>
        <p:spPr>
          <a:xfrm>
            <a:off x="7543800" y="3566160"/>
            <a:ext cx="3931920" cy="329184"/>
          </a:xfrm>
          <a:prstGeom prst="rect">
            <a:avLst/>
          </a:prstGeom>
          <a:noFill/>
          <a:ln/>
        </p:spPr>
        <p:txBody>
          <a:bodyPr wrap="square" lIns="0" tIns="0" rIns="0" bIns="0" rtlCol="0" anchor="ctr"/>
          <a:lstStyle/>
          <a:p>
            <a:pPr indent="0" marL="0">
              <a:buNone/>
            </a:pPr>
            <a:r>
              <a:rPr lang="en-US" sz="1500" dirty="0">
                <a:solidFill>
                  <a:srgbClr val="FFFFFF"/>
                </a:solidFill>
                <a:latin typeface="Courier New" pitchFamily="34" charset="0"/>
                <a:ea typeface="Courier New" pitchFamily="34" charset="-122"/>
                <a:cs typeface="Courier New" pitchFamily="34" charset="-120"/>
              </a:rPr>
              <a:t>Bearer OTphZG1pbg==</a:t>
            </a:r>
            <a:endParaRPr lang="en-US" sz="1500" dirty="0"/>
          </a:p>
        </p:txBody>
      </p:sp>
      <p:sp>
        <p:nvSpPr>
          <p:cNvPr id="25" name="Shape 23"/>
          <p:cNvSpPr/>
          <p:nvPr/>
        </p:nvSpPr>
        <p:spPr>
          <a:xfrm>
            <a:off x="6583680" y="4114800"/>
            <a:ext cx="777240" cy="329184"/>
          </a:xfrm>
          <a:prstGeom prst="roundRect">
            <a:avLst>
              <a:gd name="adj" fmla="val 50000"/>
            </a:avLst>
          </a:prstGeom>
          <a:solidFill>
            <a:srgbClr val="2A2F39"/>
          </a:solidFill>
          <a:ln w="12700">
            <a:solidFill>
              <a:srgbClr val="2A2F39"/>
            </a:solidFill>
            <a:prstDash val="solid"/>
          </a:ln>
        </p:spPr>
      </p:sp>
      <p:sp>
        <p:nvSpPr>
          <p:cNvPr id="26" name="Text 24"/>
          <p:cNvSpPr txBox="1"/>
          <p:nvPr/>
        </p:nvSpPr>
        <p:spPr>
          <a:xfrm>
            <a:off x="6583680" y="4114800"/>
            <a:ext cx="777240" cy="329184"/>
          </a:xfrm>
          <a:prstGeom prst="rect">
            <a:avLst/>
          </a:prstGeom>
          <a:noFill/>
          <a:ln/>
        </p:spPr>
        <p:txBody>
          <a:bodyPr wrap="square" lIns="0" tIns="0" rIns="0" bIns="0" rtlCol="0" anchor="ctr"/>
          <a:lstStyle/>
          <a:p>
            <a:pPr algn="ctr" indent="0" marL="0">
              <a:buNone/>
            </a:pPr>
            <a:r>
              <a:rPr lang="en-US" sz="1200" b="1" dirty="0">
                <a:solidFill>
                  <a:srgbClr val="D6DAE1"/>
                </a:solidFill>
                <a:latin typeface="Courier New" pitchFamily="34" charset="0"/>
                <a:ea typeface="Courier New" pitchFamily="34" charset="-122"/>
                <a:cs typeface="Courier New" pitchFamily="34" charset="-120"/>
              </a:rPr>
              <a:t>????</a:t>
            </a:r>
            <a:endParaRPr lang="en-US" sz="1200" dirty="0"/>
          </a:p>
        </p:txBody>
      </p:sp>
      <p:sp>
        <p:nvSpPr>
          <p:cNvPr id="27" name="Text 25"/>
          <p:cNvSpPr txBox="1"/>
          <p:nvPr/>
        </p:nvSpPr>
        <p:spPr>
          <a:xfrm>
            <a:off x="7543800" y="4114800"/>
            <a:ext cx="3931920" cy="329184"/>
          </a:xfrm>
          <a:prstGeom prst="rect">
            <a:avLst/>
          </a:prstGeom>
          <a:noFill/>
          <a:ln/>
        </p:spPr>
        <p:txBody>
          <a:bodyPr wrap="square" lIns="0" tIns="0" rIns="0" bIns="0" rtlCol="0" anchor="ctr"/>
          <a:lstStyle/>
          <a:p>
            <a:pPr indent="0" marL="0">
              <a:buNone/>
            </a:pPr>
            <a:r>
              <a:rPr lang="en-US" sz="1500" dirty="0">
                <a:solidFill>
                  <a:srgbClr val="FFFFFF"/>
                </a:solidFill>
                <a:latin typeface="Courier New" pitchFamily="34" charset="0"/>
                <a:ea typeface="Courier New" pitchFamily="34" charset="-122"/>
                <a:cs typeface="Courier New" pitchFamily="34" charset="-120"/>
              </a:rPr>
              <a:t>SPEAKER100, twice</a:t>
            </a:r>
            <a:endParaRPr lang="en-US" sz="1500" dirty="0"/>
          </a:p>
        </p:txBody>
      </p:sp>
      <p:sp>
        <p:nvSpPr>
          <p:cNvPr id="28" name="Shape 26"/>
          <p:cNvSpPr/>
          <p:nvPr/>
        </p:nvSpPr>
        <p:spPr>
          <a:xfrm>
            <a:off x="6583680" y="4663440"/>
            <a:ext cx="777240" cy="329184"/>
          </a:xfrm>
          <a:prstGeom prst="roundRect">
            <a:avLst>
              <a:gd name="adj" fmla="val 50000"/>
            </a:avLst>
          </a:prstGeom>
          <a:solidFill>
            <a:srgbClr val="2A2F39"/>
          </a:solidFill>
          <a:ln w="12700">
            <a:solidFill>
              <a:srgbClr val="2A2F39"/>
            </a:solidFill>
            <a:prstDash val="solid"/>
          </a:ln>
        </p:spPr>
      </p:sp>
      <p:sp>
        <p:nvSpPr>
          <p:cNvPr id="29" name="Text 27"/>
          <p:cNvSpPr txBox="1"/>
          <p:nvPr/>
        </p:nvSpPr>
        <p:spPr>
          <a:xfrm>
            <a:off x="6583680" y="4663440"/>
            <a:ext cx="777240" cy="329184"/>
          </a:xfrm>
          <a:prstGeom prst="rect">
            <a:avLst/>
          </a:prstGeom>
          <a:noFill/>
          <a:ln/>
        </p:spPr>
        <p:txBody>
          <a:bodyPr wrap="square" lIns="0" tIns="0" rIns="0" bIns="0" rtlCol="0" anchor="ctr"/>
          <a:lstStyle/>
          <a:p>
            <a:pPr algn="ctr" indent="0" marL="0">
              <a:buNone/>
            </a:pPr>
            <a:r>
              <a:rPr lang="en-US" sz="1200" b="1" dirty="0">
                <a:solidFill>
                  <a:srgbClr val="D6DAE1"/>
                </a:solidFill>
                <a:latin typeface="Courier New" pitchFamily="34" charset="0"/>
                <a:ea typeface="Courier New" pitchFamily="34" charset="-122"/>
                <a:cs typeface="Courier New" pitchFamily="34" charset="-120"/>
              </a:rPr>
              <a:t>????</a:t>
            </a:r>
            <a:endParaRPr lang="en-US" sz="1200" dirty="0"/>
          </a:p>
        </p:txBody>
      </p:sp>
      <p:sp>
        <p:nvSpPr>
          <p:cNvPr id="30" name="Text 28"/>
          <p:cNvSpPr txBox="1"/>
          <p:nvPr/>
        </p:nvSpPr>
        <p:spPr>
          <a:xfrm>
            <a:off x="7543800" y="4663440"/>
            <a:ext cx="3931920" cy="329184"/>
          </a:xfrm>
          <a:prstGeom prst="rect">
            <a:avLst/>
          </a:prstGeom>
          <a:noFill/>
          <a:ln/>
        </p:spPr>
        <p:txBody>
          <a:bodyPr wrap="square" lIns="0" tIns="0" rIns="0" bIns="0" rtlCol="0" anchor="ctr"/>
          <a:lstStyle/>
          <a:p>
            <a:pPr indent="0" marL="0">
              <a:buNone/>
            </a:pPr>
            <a:r>
              <a:rPr lang="en-US" sz="1500" dirty="0">
                <a:solidFill>
                  <a:srgbClr val="FFFFFF"/>
                </a:solidFill>
                <a:latin typeface="Courier New" pitchFamily="34" charset="0"/>
                <a:ea typeface="Courier New" pitchFamily="34" charset="-122"/>
                <a:cs typeface="Courier New" pitchFamily="34" charset="-120"/>
              </a:rPr>
              <a:t>20 buyers, 5 seats, same second</a:t>
            </a:r>
            <a:endParaRPr lang="en-US" sz="1500" dirty="0"/>
          </a:p>
        </p:txBody>
      </p:sp>
      <p:sp>
        <p:nvSpPr>
          <p:cNvPr id="31" name="Text 29"/>
          <p:cNvSpPr txBox="1"/>
          <p:nvPr/>
        </p:nvSpPr>
        <p:spPr>
          <a:xfrm>
            <a:off x="548640" y="5623560"/>
            <a:ext cx="10972800" cy="640080"/>
          </a:xfrm>
          <a:prstGeom prst="rect">
            <a:avLst/>
          </a:prstGeom>
          <a:noFill/>
          <a:ln/>
        </p:spPr>
        <p:txBody>
          <a:bodyPr wrap="square" lIns="0" tIns="0" rIns="0" bIns="0" rtlCol="0" anchor="t"/>
          <a:lstStyle/>
          <a:p>
            <a:pPr indent="0" marL="0">
              <a:buNone/>
            </a:pPr>
            <a:r>
              <a:rPr lang="en-US" sz="1800" dirty="0">
                <a:solidFill>
                  <a:srgbClr val="5B616E"/>
                </a:solidFill>
                <a:latin typeface="Arial" pitchFamily="34" charset="0"/>
                <a:ea typeface="Arial" pitchFamily="34" charset="-122"/>
                <a:cs typeface="Arial" pitchFamily="34" charset="-120"/>
              </a:rPr>
              <a:t>Happy-path tests prove the code does what I meant. They say nothing about what I didn't think of.</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731520"/>
          </a:xfrm>
          <a:prstGeom prst="rect">
            <a:avLst/>
          </a:prstGeom>
          <a:noFill/>
          <a:ln/>
        </p:spPr>
        <p:txBody>
          <a:bodyPr wrap="square" lIns="0" tIns="0" rIns="0" bIns="0" rtlCol="0" anchor="t"/>
          <a:lstStyle/>
          <a:p>
            <a:pPr indent="0" marL="0">
              <a:buNone/>
            </a:pPr>
            <a:r>
              <a:rPr lang="en-US" sz="4000" b="1" dirty="0">
                <a:solidFill>
                  <a:srgbClr val="1C1F26"/>
                </a:solidFill>
                <a:latin typeface="Arial" pitchFamily="34" charset="0"/>
                <a:ea typeface="Arial" pitchFamily="34" charset="-122"/>
                <a:cs typeface="Arial" pitchFamily="34" charset="-120"/>
              </a:rPr>
              <a:t>ConfBadge: a small ticket shop</a:t>
            </a:r>
            <a:endParaRPr lang="en-US" sz="4000" dirty="0"/>
          </a:p>
        </p:txBody>
      </p:sp>
      <p:sp>
        <p:nvSpPr>
          <p:cNvPr id="3" name="Text 1"/>
          <p:cNvSpPr txBox="1"/>
          <p:nvPr/>
        </p:nvSpPr>
        <p:spPr>
          <a:xfrm>
            <a:off x="548640" y="1417320"/>
            <a:ext cx="4572000" cy="365760"/>
          </a:xfrm>
          <a:prstGeom prst="rect">
            <a:avLst/>
          </a:prstGeom>
          <a:noFill/>
          <a:ln/>
        </p:spPr>
        <p:txBody>
          <a:bodyPr wrap="square" lIns="0" tIns="0" rIns="0" bIns="0" rtlCol="0" anchor="t"/>
          <a:lstStyle/>
          <a:p>
            <a:pPr indent="0" marL="0">
              <a:buNone/>
            </a:pPr>
            <a:r>
              <a:rPr lang="en-US" sz="2000" b="1" dirty="0">
                <a:solidFill>
                  <a:srgbClr val="5B616E"/>
                </a:solidFill>
                <a:latin typeface="Arial" pitchFamily="34" charset="0"/>
                <a:ea typeface="Arial" pitchFamily="34" charset="-122"/>
                <a:cs typeface="Arial" pitchFamily="34" charset="-120"/>
              </a:rPr>
              <a:t>4 endpoints</a:t>
            </a:r>
            <a:endParaRPr lang="en-US" sz="2000" dirty="0"/>
          </a:p>
        </p:txBody>
      </p:sp>
      <p:sp>
        <p:nvSpPr>
          <p:cNvPr id="4" name="Shape 2"/>
          <p:cNvSpPr/>
          <p:nvPr/>
        </p:nvSpPr>
        <p:spPr>
          <a:xfrm>
            <a:off x="548640" y="2011680"/>
            <a:ext cx="777240" cy="329184"/>
          </a:xfrm>
          <a:prstGeom prst="roundRect">
            <a:avLst>
              <a:gd name="adj" fmla="val 50000"/>
            </a:avLst>
          </a:prstGeom>
          <a:solidFill>
            <a:srgbClr val="E8A13A"/>
          </a:solidFill>
          <a:ln w="12700">
            <a:solidFill>
              <a:srgbClr val="E8A13A"/>
            </a:solidFill>
            <a:prstDash val="solid"/>
          </a:ln>
        </p:spPr>
      </p:sp>
      <p:sp>
        <p:nvSpPr>
          <p:cNvPr id="5" name="Text 3"/>
          <p:cNvSpPr txBox="1"/>
          <p:nvPr/>
        </p:nvSpPr>
        <p:spPr>
          <a:xfrm>
            <a:off x="548640" y="2011680"/>
            <a:ext cx="777240" cy="329184"/>
          </a:xfrm>
          <a:prstGeom prst="rect">
            <a:avLst/>
          </a:prstGeom>
          <a:noFill/>
          <a:ln/>
        </p:spPr>
        <p:txBody>
          <a:bodyPr wrap="square" lIns="0" tIns="0" rIns="0" bIns="0" rtlCol="0" anchor="ctr"/>
          <a:lstStyle/>
          <a:p>
            <a:pPr algn="ctr" indent="0" marL="0">
              <a:buNone/>
            </a:pPr>
            <a:r>
              <a:rPr lang="en-US" sz="1200" b="1" dirty="0">
                <a:solidFill>
                  <a:srgbClr val="14161B"/>
                </a:solidFill>
                <a:latin typeface="Courier New" pitchFamily="34" charset="0"/>
                <a:ea typeface="Courier New" pitchFamily="34" charset="-122"/>
                <a:cs typeface="Courier New" pitchFamily="34" charset="-120"/>
              </a:rPr>
              <a:t>POST</a:t>
            </a:r>
            <a:endParaRPr lang="en-US" sz="1200" dirty="0"/>
          </a:p>
        </p:txBody>
      </p:sp>
      <p:sp>
        <p:nvSpPr>
          <p:cNvPr id="6" name="Text 4"/>
          <p:cNvSpPr txBox="1"/>
          <p:nvPr/>
        </p:nvSpPr>
        <p:spPr>
          <a:xfrm>
            <a:off x="1508760" y="1965960"/>
            <a:ext cx="4206240" cy="365760"/>
          </a:xfrm>
          <a:prstGeom prst="rect">
            <a:avLst/>
          </a:prstGeom>
          <a:noFill/>
          <a:ln/>
        </p:spPr>
        <p:txBody>
          <a:bodyPr wrap="square" lIns="0" tIns="0" rIns="0" bIns="0" rtlCol="0" anchor="t"/>
          <a:lstStyle/>
          <a:p>
            <a:pPr indent="0" marL="0">
              <a:buNone/>
            </a:pPr>
            <a:r>
              <a:rPr lang="en-US" sz="1800" b="1" dirty="0">
                <a:solidFill>
                  <a:srgbClr val="1C1F26"/>
                </a:solidFill>
                <a:latin typeface="Courier New" pitchFamily="34" charset="0"/>
                <a:ea typeface="Courier New" pitchFamily="34" charset="-122"/>
                <a:cs typeface="Courier New" pitchFamily="34" charset="-120"/>
              </a:rPr>
              <a:t>/auth/login</a:t>
            </a:r>
            <a:endParaRPr lang="en-US" sz="1800" dirty="0"/>
          </a:p>
        </p:txBody>
      </p:sp>
      <p:sp>
        <p:nvSpPr>
          <p:cNvPr id="7" name="Text 5"/>
          <p:cNvSpPr txBox="1"/>
          <p:nvPr/>
        </p:nvSpPr>
        <p:spPr>
          <a:xfrm>
            <a:off x="1508760" y="2331720"/>
            <a:ext cx="4206240" cy="320040"/>
          </a:xfrm>
          <a:prstGeom prst="rect">
            <a:avLst/>
          </a:prstGeom>
          <a:noFill/>
          <a:ln/>
        </p:spPr>
        <p:txBody>
          <a:bodyPr wrap="square" lIns="0" tIns="0" rIns="0" bIns="0" rtlCol="0" anchor="t"/>
          <a:lstStyle/>
          <a:p>
            <a:pPr indent="0" marL="0">
              <a:buNone/>
            </a:pPr>
            <a:r>
              <a:rPr lang="en-US" sz="1400" dirty="0">
                <a:solidFill>
                  <a:srgbClr val="5B616E"/>
                </a:solidFill>
                <a:latin typeface="Arial" pitchFamily="34" charset="0"/>
                <a:ea typeface="Arial" pitchFamily="34" charset="-122"/>
                <a:cs typeface="Arial" pitchFamily="34" charset="-120"/>
              </a:rPr>
              <a:t>email + password to token</a:t>
            </a:r>
            <a:endParaRPr lang="en-US" sz="1400" dirty="0"/>
          </a:p>
        </p:txBody>
      </p:sp>
      <p:sp>
        <p:nvSpPr>
          <p:cNvPr id="8" name="Shape 6"/>
          <p:cNvSpPr/>
          <p:nvPr/>
        </p:nvSpPr>
        <p:spPr>
          <a:xfrm>
            <a:off x="548640" y="2880360"/>
            <a:ext cx="777240" cy="329184"/>
          </a:xfrm>
          <a:prstGeom prst="roundRect">
            <a:avLst>
              <a:gd name="adj" fmla="val 50000"/>
            </a:avLst>
          </a:prstGeom>
          <a:solidFill>
            <a:srgbClr val="D9DCE1"/>
          </a:solidFill>
          <a:ln w="12700">
            <a:solidFill>
              <a:srgbClr val="D9DCE1"/>
            </a:solidFill>
            <a:prstDash val="solid"/>
          </a:ln>
        </p:spPr>
      </p:sp>
      <p:sp>
        <p:nvSpPr>
          <p:cNvPr id="9" name="Text 7"/>
          <p:cNvSpPr txBox="1"/>
          <p:nvPr/>
        </p:nvSpPr>
        <p:spPr>
          <a:xfrm>
            <a:off x="548640" y="2880360"/>
            <a:ext cx="777240" cy="329184"/>
          </a:xfrm>
          <a:prstGeom prst="rect">
            <a:avLst/>
          </a:prstGeom>
          <a:noFill/>
          <a:ln/>
        </p:spPr>
        <p:txBody>
          <a:bodyPr wrap="square" lIns="0" tIns="0" rIns="0" bIns="0" rtlCol="0" anchor="ctr"/>
          <a:lstStyle/>
          <a:p>
            <a:pPr algn="ctr" indent="0" marL="0">
              <a:buNone/>
            </a:pPr>
            <a:r>
              <a:rPr lang="en-US" sz="1200" b="1" dirty="0">
                <a:solidFill>
                  <a:srgbClr val="1C1F26"/>
                </a:solidFill>
                <a:latin typeface="Courier New" pitchFamily="34" charset="0"/>
                <a:ea typeface="Courier New" pitchFamily="34" charset="-122"/>
                <a:cs typeface="Courier New" pitchFamily="34" charset="-120"/>
              </a:rPr>
              <a:t>GET</a:t>
            </a:r>
            <a:endParaRPr lang="en-US" sz="1200" dirty="0"/>
          </a:p>
        </p:txBody>
      </p:sp>
      <p:sp>
        <p:nvSpPr>
          <p:cNvPr id="10" name="Text 8"/>
          <p:cNvSpPr txBox="1"/>
          <p:nvPr/>
        </p:nvSpPr>
        <p:spPr>
          <a:xfrm>
            <a:off x="1508760" y="2834640"/>
            <a:ext cx="4206240" cy="365760"/>
          </a:xfrm>
          <a:prstGeom prst="rect">
            <a:avLst/>
          </a:prstGeom>
          <a:noFill/>
          <a:ln/>
        </p:spPr>
        <p:txBody>
          <a:bodyPr wrap="square" lIns="0" tIns="0" rIns="0" bIns="0" rtlCol="0" anchor="t"/>
          <a:lstStyle/>
          <a:p>
            <a:pPr indent="0" marL="0">
              <a:buNone/>
            </a:pPr>
            <a:r>
              <a:rPr lang="en-US" sz="1800" b="1" dirty="0">
                <a:solidFill>
                  <a:srgbClr val="1C1F26"/>
                </a:solidFill>
                <a:latin typeface="Courier New" pitchFamily="34" charset="0"/>
                <a:ea typeface="Courier New" pitchFamily="34" charset="-122"/>
                <a:cs typeface="Courier New" pitchFamily="34" charset="-120"/>
              </a:rPr>
              <a:t>/tickets?q=</a:t>
            </a:r>
            <a:endParaRPr lang="en-US" sz="1800" dirty="0"/>
          </a:p>
        </p:txBody>
      </p:sp>
      <p:sp>
        <p:nvSpPr>
          <p:cNvPr id="11" name="Text 9"/>
          <p:cNvSpPr txBox="1"/>
          <p:nvPr/>
        </p:nvSpPr>
        <p:spPr>
          <a:xfrm>
            <a:off x="1508760" y="3200400"/>
            <a:ext cx="4206240" cy="320040"/>
          </a:xfrm>
          <a:prstGeom prst="rect">
            <a:avLst/>
          </a:prstGeom>
          <a:noFill/>
          <a:ln/>
        </p:spPr>
        <p:txBody>
          <a:bodyPr wrap="square" lIns="0" tIns="0" rIns="0" bIns="0" rtlCol="0" anchor="t"/>
          <a:lstStyle/>
          <a:p>
            <a:pPr indent="0" marL="0">
              <a:buNone/>
            </a:pPr>
            <a:r>
              <a:rPr lang="en-US" sz="1400" dirty="0">
                <a:solidFill>
                  <a:srgbClr val="5B616E"/>
                </a:solidFill>
                <a:latin typeface="Arial" pitchFamily="34" charset="0"/>
                <a:ea typeface="Arial" pitchFamily="34" charset="-122"/>
                <a:cs typeface="Arial" pitchFamily="34" charset="-120"/>
              </a:rPr>
              <a:t>search published tickets</a:t>
            </a:r>
            <a:endParaRPr lang="en-US" sz="1400" dirty="0"/>
          </a:p>
        </p:txBody>
      </p:sp>
      <p:sp>
        <p:nvSpPr>
          <p:cNvPr id="12" name="Shape 10"/>
          <p:cNvSpPr/>
          <p:nvPr/>
        </p:nvSpPr>
        <p:spPr>
          <a:xfrm>
            <a:off x="548640" y="3749040"/>
            <a:ext cx="777240" cy="329184"/>
          </a:xfrm>
          <a:prstGeom prst="roundRect">
            <a:avLst>
              <a:gd name="adj" fmla="val 50000"/>
            </a:avLst>
          </a:prstGeom>
          <a:solidFill>
            <a:srgbClr val="E8A13A"/>
          </a:solidFill>
          <a:ln w="12700">
            <a:solidFill>
              <a:srgbClr val="E8A13A"/>
            </a:solidFill>
            <a:prstDash val="solid"/>
          </a:ln>
        </p:spPr>
      </p:sp>
      <p:sp>
        <p:nvSpPr>
          <p:cNvPr id="13" name="Text 11"/>
          <p:cNvSpPr txBox="1"/>
          <p:nvPr/>
        </p:nvSpPr>
        <p:spPr>
          <a:xfrm>
            <a:off x="548640" y="3749040"/>
            <a:ext cx="777240" cy="329184"/>
          </a:xfrm>
          <a:prstGeom prst="rect">
            <a:avLst/>
          </a:prstGeom>
          <a:noFill/>
          <a:ln/>
        </p:spPr>
        <p:txBody>
          <a:bodyPr wrap="square" lIns="0" tIns="0" rIns="0" bIns="0" rtlCol="0" anchor="ctr"/>
          <a:lstStyle/>
          <a:p>
            <a:pPr algn="ctr" indent="0" marL="0">
              <a:buNone/>
            </a:pPr>
            <a:r>
              <a:rPr lang="en-US" sz="1200" b="1" dirty="0">
                <a:solidFill>
                  <a:srgbClr val="14161B"/>
                </a:solidFill>
                <a:latin typeface="Courier New" pitchFamily="34" charset="0"/>
                <a:ea typeface="Courier New" pitchFamily="34" charset="-122"/>
                <a:cs typeface="Courier New" pitchFamily="34" charset="-120"/>
              </a:rPr>
              <a:t>POST</a:t>
            </a:r>
            <a:endParaRPr lang="en-US" sz="1200" dirty="0"/>
          </a:p>
        </p:txBody>
      </p:sp>
      <p:sp>
        <p:nvSpPr>
          <p:cNvPr id="14" name="Text 12"/>
          <p:cNvSpPr txBox="1"/>
          <p:nvPr/>
        </p:nvSpPr>
        <p:spPr>
          <a:xfrm>
            <a:off x="1508760" y="3703320"/>
            <a:ext cx="4206240" cy="365760"/>
          </a:xfrm>
          <a:prstGeom prst="rect">
            <a:avLst/>
          </a:prstGeom>
          <a:noFill/>
          <a:ln/>
        </p:spPr>
        <p:txBody>
          <a:bodyPr wrap="square" lIns="0" tIns="0" rIns="0" bIns="0" rtlCol="0" anchor="t"/>
          <a:lstStyle/>
          <a:p>
            <a:pPr indent="0" marL="0">
              <a:buNone/>
            </a:pPr>
            <a:r>
              <a:rPr lang="en-US" sz="1800" b="1" dirty="0">
                <a:solidFill>
                  <a:srgbClr val="1C1F26"/>
                </a:solidFill>
                <a:latin typeface="Courier New" pitchFamily="34" charset="0"/>
                <a:ea typeface="Courier New" pitchFamily="34" charset="-122"/>
                <a:cs typeface="Courier New" pitchFamily="34" charset="-120"/>
              </a:rPr>
              <a:t>/orders</a:t>
            </a:r>
            <a:endParaRPr lang="en-US" sz="1800" dirty="0"/>
          </a:p>
        </p:txBody>
      </p:sp>
      <p:sp>
        <p:nvSpPr>
          <p:cNvPr id="15" name="Text 13"/>
          <p:cNvSpPr txBox="1"/>
          <p:nvPr/>
        </p:nvSpPr>
        <p:spPr>
          <a:xfrm>
            <a:off x="1508760" y="4069080"/>
            <a:ext cx="4206240" cy="320040"/>
          </a:xfrm>
          <a:prstGeom prst="rect">
            <a:avLst/>
          </a:prstGeom>
          <a:noFill/>
          <a:ln/>
        </p:spPr>
        <p:txBody>
          <a:bodyPr wrap="square" lIns="0" tIns="0" rIns="0" bIns="0" rtlCol="0" anchor="t"/>
          <a:lstStyle/>
          <a:p>
            <a:pPr indent="0" marL="0">
              <a:buNone/>
            </a:pPr>
            <a:r>
              <a:rPr lang="en-US" sz="1400" dirty="0">
                <a:solidFill>
                  <a:srgbClr val="5B616E"/>
                </a:solidFill>
                <a:latin typeface="Arial" pitchFamily="34" charset="0"/>
                <a:ea typeface="Arial" pitchFamily="34" charset="-122"/>
                <a:cs typeface="Arial" pitchFamily="34" charset="-120"/>
              </a:rPr>
              <a:t>buy from your credit balance</a:t>
            </a:r>
            <a:endParaRPr lang="en-US" sz="1400" dirty="0"/>
          </a:p>
        </p:txBody>
      </p:sp>
      <p:sp>
        <p:nvSpPr>
          <p:cNvPr id="16" name="Shape 14"/>
          <p:cNvSpPr/>
          <p:nvPr/>
        </p:nvSpPr>
        <p:spPr>
          <a:xfrm>
            <a:off x="548640" y="4617720"/>
            <a:ext cx="777240" cy="329184"/>
          </a:xfrm>
          <a:prstGeom prst="roundRect">
            <a:avLst>
              <a:gd name="adj" fmla="val 50000"/>
            </a:avLst>
          </a:prstGeom>
          <a:solidFill>
            <a:srgbClr val="D9DCE1"/>
          </a:solidFill>
          <a:ln w="12700">
            <a:solidFill>
              <a:srgbClr val="D9DCE1"/>
            </a:solidFill>
            <a:prstDash val="solid"/>
          </a:ln>
        </p:spPr>
      </p:sp>
      <p:sp>
        <p:nvSpPr>
          <p:cNvPr id="17" name="Text 15"/>
          <p:cNvSpPr txBox="1"/>
          <p:nvPr/>
        </p:nvSpPr>
        <p:spPr>
          <a:xfrm>
            <a:off x="548640" y="4617720"/>
            <a:ext cx="777240" cy="329184"/>
          </a:xfrm>
          <a:prstGeom prst="rect">
            <a:avLst/>
          </a:prstGeom>
          <a:noFill/>
          <a:ln/>
        </p:spPr>
        <p:txBody>
          <a:bodyPr wrap="square" lIns="0" tIns="0" rIns="0" bIns="0" rtlCol="0" anchor="ctr"/>
          <a:lstStyle/>
          <a:p>
            <a:pPr algn="ctr" indent="0" marL="0">
              <a:buNone/>
            </a:pPr>
            <a:r>
              <a:rPr lang="en-US" sz="1200" b="1" dirty="0">
                <a:solidFill>
                  <a:srgbClr val="1C1F26"/>
                </a:solidFill>
                <a:latin typeface="Courier New" pitchFamily="34" charset="0"/>
                <a:ea typeface="Courier New" pitchFamily="34" charset="-122"/>
                <a:cs typeface="Courier New" pitchFamily="34" charset="-120"/>
              </a:rPr>
              <a:t>GET</a:t>
            </a:r>
            <a:endParaRPr lang="en-US" sz="1200" dirty="0"/>
          </a:p>
        </p:txBody>
      </p:sp>
      <p:sp>
        <p:nvSpPr>
          <p:cNvPr id="18" name="Text 16"/>
          <p:cNvSpPr txBox="1"/>
          <p:nvPr/>
        </p:nvSpPr>
        <p:spPr>
          <a:xfrm>
            <a:off x="1508760" y="4572000"/>
            <a:ext cx="4206240" cy="365760"/>
          </a:xfrm>
          <a:prstGeom prst="rect">
            <a:avLst/>
          </a:prstGeom>
          <a:noFill/>
          <a:ln/>
        </p:spPr>
        <p:txBody>
          <a:bodyPr wrap="square" lIns="0" tIns="0" rIns="0" bIns="0" rtlCol="0" anchor="t"/>
          <a:lstStyle/>
          <a:p>
            <a:pPr indent="0" marL="0">
              <a:buNone/>
            </a:pPr>
            <a:r>
              <a:rPr lang="en-US" sz="1800" b="1" dirty="0">
                <a:solidFill>
                  <a:srgbClr val="1C1F26"/>
                </a:solidFill>
                <a:latin typeface="Courier New" pitchFamily="34" charset="0"/>
                <a:ea typeface="Courier New" pitchFamily="34" charset="-122"/>
                <a:cs typeface="Courier New" pitchFamily="34" charset="-120"/>
              </a:rPr>
              <a:t>/orders/{id}</a:t>
            </a:r>
            <a:endParaRPr lang="en-US" sz="1800" dirty="0"/>
          </a:p>
        </p:txBody>
      </p:sp>
      <p:sp>
        <p:nvSpPr>
          <p:cNvPr id="19" name="Text 17"/>
          <p:cNvSpPr txBox="1"/>
          <p:nvPr/>
        </p:nvSpPr>
        <p:spPr>
          <a:xfrm>
            <a:off x="1508760" y="4937760"/>
            <a:ext cx="4206240" cy="320040"/>
          </a:xfrm>
          <a:prstGeom prst="rect">
            <a:avLst/>
          </a:prstGeom>
          <a:noFill/>
          <a:ln/>
        </p:spPr>
        <p:txBody>
          <a:bodyPr wrap="square" lIns="0" tIns="0" rIns="0" bIns="0" rtlCol="0" anchor="t"/>
          <a:lstStyle/>
          <a:p>
            <a:pPr indent="0" marL="0">
              <a:buNone/>
            </a:pPr>
            <a:r>
              <a:rPr lang="en-US" sz="1400" dirty="0">
                <a:solidFill>
                  <a:srgbClr val="5B616E"/>
                </a:solidFill>
                <a:latin typeface="Arial" pitchFamily="34" charset="0"/>
                <a:ea typeface="Arial" pitchFamily="34" charset="-122"/>
                <a:cs typeface="Arial" pitchFamily="34" charset="-120"/>
              </a:rPr>
              <a:t>read one order</a:t>
            </a:r>
            <a:endParaRPr lang="en-US" sz="1400" dirty="0"/>
          </a:p>
        </p:txBody>
      </p:sp>
      <p:sp>
        <p:nvSpPr>
          <p:cNvPr id="20" name="Text 18"/>
          <p:cNvSpPr txBox="1"/>
          <p:nvPr/>
        </p:nvSpPr>
        <p:spPr>
          <a:xfrm>
            <a:off x="5989320" y="1417320"/>
            <a:ext cx="4572000" cy="365760"/>
          </a:xfrm>
          <a:prstGeom prst="rect">
            <a:avLst/>
          </a:prstGeom>
          <a:noFill/>
          <a:ln/>
        </p:spPr>
        <p:txBody>
          <a:bodyPr wrap="square" lIns="0" tIns="0" rIns="0" bIns="0" rtlCol="0" anchor="t"/>
          <a:lstStyle/>
          <a:p>
            <a:pPr indent="0" marL="0">
              <a:buNone/>
            </a:pPr>
            <a:r>
              <a:rPr lang="en-US" sz="2000" b="1" dirty="0">
                <a:solidFill>
                  <a:srgbClr val="5B616E"/>
                </a:solidFill>
                <a:latin typeface="Arial" pitchFamily="34" charset="0"/>
                <a:ea typeface="Arial" pitchFamily="34" charset="-122"/>
                <a:cs typeface="Arial" pitchFamily="34" charset="-120"/>
              </a:rPr>
              <a:t>5 rules</a:t>
            </a:r>
            <a:endParaRPr lang="en-US" sz="2000" dirty="0"/>
          </a:p>
        </p:txBody>
      </p:sp>
      <p:sp>
        <p:nvSpPr>
          <p:cNvPr id="21" name="Shape 19"/>
          <p:cNvSpPr/>
          <p:nvPr/>
        </p:nvSpPr>
        <p:spPr>
          <a:xfrm>
            <a:off x="5989320" y="1920240"/>
            <a:ext cx="5669280" cy="566928"/>
          </a:xfrm>
          <a:prstGeom prst="roundRect">
            <a:avLst>
              <a:gd name="adj" fmla="val 16129"/>
            </a:avLst>
          </a:prstGeom>
          <a:solidFill>
            <a:srgbClr val="F1F2F4"/>
          </a:solidFill>
          <a:ln w="12700">
            <a:solidFill>
              <a:srgbClr val="F1F2F4"/>
            </a:solidFill>
            <a:prstDash val="solid"/>
          </a:ln>
        </p:spPr>
      </p:sp>
      <p:sp>
        <p:nvSpPr>
          <p:cNvPr id="22" name="Shape 20"/>
          <p:cNvSpPr/>
          <p:nvPr/>
        </p:nvSpPr>
        <p:spPr>
          <a:xfrm>
            <a:off x="6126480" y="2020824"/>
            <a:ext cx="365760" cy="365760"/>
          </a:xfrm>
          <a:prstGeom prst="ellipse">
            <a:avLst/>
          </a:prstGeom>
          <a:solidFill>
            <a:srgbClr val="1C1F26"/>
          </a:solidFill>
          <a:ln w="12700">
            <a:solidFill>
              <a:srgbClr val="1C1F26"/>
            </a:solidFill>
            <a:prstDash val="solid"/>
          </a:ln>
        </p:spPr>
      </p:sp>
      <p:sp>
        <p:nvSpPr>
          <p:cNvPr id="23" name="Text 21"/>
          <p:cNvSpPr txBox="1"/>
          <p:nvPr/>
        </p:nvSpPr>
        <p:spPr>
          <a:xfrm>
            <a:off x="6126480" y="20208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4" name="Text 22"/>
          <p:cNvSpPr txBox="1"/>
          <p:nvPr/>
        </p:nvSpPr>
        <p:spPr>
          <a:xfrm>
            <a:off x="6675120" y="1920240"/>
            <a:ext cx="4846320" cy="566928"/>
          </a:xfrm>
          <a:prstGeom prst="rect">
            <a:avLst/>
          </a:prstGeom>
          <a:noFill/>
          <a:ln/>
        </p:spPr>
        <p:txBody>
          <a:bodyPr wrap="square" lIns="0" tIns="0" rIns="0" bIns="0" rtlCol="0" anchor="ctr"/>
          <a:lstStyle/>
          <a:p>
            <a:pPr indent="0" marL="0">
              <a:buNone/>
            </a:pPr>
            <a:r>
              <a:rPr lang="en-US" sz="1600" dirty="0">
                <a:solidFill>
                  <a:srgbClr val="1C1F26"/>
                </a:solidFill>
                <a:latin typeface="Arial" pitchFamily="34" charset="0"/>
                <a:ea typeface="Arial" pitchFamily="34" charset="-122"/>
                <a:cs typeface="Arial" pitchFamily="34" charset="-120"/>
              </a:rPr>
              <a:t>Everyone holds a prepaid credit balance</a:t>
            </a:r>
            <a:endParaRPr lang="en-US" sz="1600" dirty="0"/>
          </a:p>
        </p:txBody>
      </p:sp>
      <p:sp>
        <p:nvSpPr>
          <p:cNvPr id="25" name="Shape 23"/>
          <p:cNvSpPr/>
          <p:nvPr/>
        </p:nvSpPr>
        <p:spPr>
          <a:xfrm>
            <a:off x="5989320" y="2633472"/>
            <a:ext cx="5669280" cy="566928"/>
          </a:xfrm>
          <a:prstGeom prst="roundRect">
            <a:avLst>
              <a:gd name="adj" fmla="val 16129"/>
            </a:avLst>
          </a:prstGeom>
          <a:solidFill>
            <a:srgbClr val="F1F2F4"/>
          </a:solidFill>
          <a:ln w="12700">
            <a:solidFill>
              <a:srgbClr val="F1F2F4"/>
            </a:solidFill>
            <a:prstDash val="solid"/>
          </a:ln>
        </p:spPr>
      </p:sp>
      <p:sp>
        <p:nvSpPr>
          <p:cNvPr id="26" name="Shape 24"/>
          <p:cNvSpPr/>
          <p:nvPr/>
        </p:nvSpPr>
        <p:spPr>
          <a:xfrm>
            <a:off x="6126480" y="2734056"/>
            <a:ext cx="365760" cy="365760"/>
          </a:xfrm>
          <a:prstGeom prst="ellipse">
            <a:avLst/>
          </a:prstGeom>
          <a:solidFill>
            <a:srgbClr val="1C1F26"/>
          </a:solidFill>
          <a:ln w="12700">
            <a:solidFill>
              <a:srgbClr val="1C1F26"/>
            </a:solidFill>
            <a:prstDash val="solid"/>
          </a:ln>
        </p:spPr>
      </p:sp>
      <p:sp>
        <p:nvSpPr>
          <p:cNvPr id="27" name="Text 25"/>
          <p:cNvSpPr txBox="1"/>
          <p:nvPr/>
        </p:nvSpPr>
        <p:spPr>
          <a:xfrm>
            <a:off x="6126480" y="273405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6"/>
          <p:cNvSpPr txBox="1"/>
          <p:nvPr/>
        </p:nvSpPr>
        <p:spPr>
          <a:xfrm>
            <a:off x="6675120" y="2633472"/>
            <a:ext cx="4846320" cy="566928"/>
          </a:xfrm>
          <a:prstGeom prst="rect">
            <a:avLst/>
          </a:prstGeom>
          <a:noFill/>
          <a:ln/>
        </p:spPr>
        <p:txBody>
          <a:bodyPr wrap="square" lIns="0" tIns="0" rIns="0" bIns="0" rtlCol="0" anchor="ctr"/>
          <a:lstStyle/>
          <a:p>
            <a:pPr indent="0" marL="0">
              <a:buNone/>
            </a:pPr>
            <a:r>
              <a:rPr lang="en-US" sz="1600" dirty="0">
                <a:solidFill>
                  <a:srgbClr val="1C1F26"/>
                </a:solidFill>
                <a:latin typeface="Arial" pitchFamily="34" charset="0"/>
                <a:ea typeface="Arial" pitchFamily="34" charset="-122"/>
                <a:cs typeface="Arial" pitchFamily="34" charset="-120"/>
              </a:rPr>
              <a:t>Each purchase earns 10% of the price back as credits</a:t>
            </a:r>
            <a:endParaRPr lang="en-US" sz="1600" dirty="0"/>
          </a:p>
        </p:txBody>
      </p:sp>
      <p:sp>
        <p:nvSpPr>
          <p:cNvPr id="29" name="Shape 27"/>
          <p:cNvSpPr/>
          <p:nvPr/>
        </p:nvSpPr>
        <p:spPr>
          <a:xfrm>
            <a:off x="5989320" y="3346704"/>
            <a:ext cx="5669280" cy="566928"/>
          </a:xfrm>
          <a:prstGeom prst="roundRect">
            <a:avLst>
              <a:gd name="adj" fmla="val 16129"/>
            </a:avLst>
          </a:prstGeom>
          <a:solidFill>
            <a:srgbClr val="FDECEC"/>
          </a:solidFill>
          <a:ln w="12700">
            <a:solidFill>
              <a:srgbClr val="FDECEC"/>
            </a:solidFill>
            <a:prstDash val="solid"/>
          </a:ln>
        </p:spPr>
      </p:sp>
      <p:sp>
        <p:nvSpPr>
          <p:cNvPr id="30" name="Shape 28"/>
          <p:cNvSpPr/>
          <p:nvPr/>
        </p:nvSpPr>
        <p:spPr>
          <a:xfrm>
            <a:off x="6126480" y="3447288"/>
            <a:ext cx="365760" cy="365760"/>
          </a:xfrm>
          <a:prstGeom prst="ellipse">
            <a:avLst/>
          </a:prstGeom>
          <a:solidFill>
            <a:srgbClr val="E5484D"/>
          </a:solidFill>
          <a:ln w="12700">
            <a:solidFill>
              <a:srgbClr val="E5484D"/>
            </a:solidFill>
            <a:prstDash val="solid"/>
          </a:ln>
        </p:spPr>
      </p:sp>
      <p:sp>
        <p:nvSpPr>
          <p:cNvPr id="31" name="Text 29"/>
          <p:cNvSpPr txBox="1"/>
          <p:nvPr/>
        </p:nvSpPr>
        <p:spPr>
          <a:xfrm>
            <a:off x="6126480" y="344728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2" name="Text 30"/>
          <p:cNvSpPr txBox="1"/>
          <p:nvPr/>
        </p:nvSpPr>
        <p:spPr>
          <a:xfrm>
            <a:off x="6675120" y="3346704"/>
            <a:ext cx="4846320" cy="566928"/>
          </a:xfrm>
          <a:prstGeom prst="rect">
            <a:avLst/>
          </a:prstGeom>
          <a:noFill/>
          <a:ln/>
        </p:spPr>
        <p:txBody>
          <a:bodyPr wrap="square" lIns="0" tIns="0" rIns="0" bIns="0" rtlCol="0" anchor="ctr"/>
          <a:lstStyle/>
          <a:p>
            <a:pPr indent="0" marL="0">
              <a:buNone/>
            </a:pPr>
            <a:r>
              <a:rPr lang="en-US" sz="1600" b="1" dirty="0">
                <a:solidFill>
                  <a:srgbClr val="B4232A"/>
                </a:solidFill>
                <a:latin typeface="Arial" pitchFamily="34" charset="0"/>
                <a:ea typeface="Arial" pitchFamily="34" charset="-122"/>
                <a:cs typeface="Arial" pitchFamily="34" charset="-120"/>
              </a:rPr>
              <a:t>Credits are spendable. Credits are money.</a:t>
            </a:r>
            <a:endParaRPr lang="en-US" sz="1600" dirty="0"/>
          </a:p>
        </p:txBody>
      </p:sp>
      <p:sp>
        <p:nvSpPr>
          <p:cNvPr id="33" name="Shape 31"/>
          <p:cNvSpPr/>
          <p:nvPr/>
        </p:nvSpPr>
        <p:spPr>
          <a:xfrm>
            <a:off x="5989320" y="4059936"/>
            <a:ext cx="5669280" cy="566928"/>
          </a:xfrm>
          <a:prstGeom prst="roundRect">
            <a:avLst>
              <a:gd name="adj" fmla="val 16129"/>
            </a:avLst>
          </a:prstGeom>
          <a:solidFill>
            <a:srgbClr val="F1F2F4"/>
          </a:solidFill>
          <a:ln w="12700">
            <a:solidFill>
              <a:srgbClr val="F1F2F4"/>
            </a:solidFill>
            <a:prstDash val="solid"/>
          </a:ln>
        </p:spPr>
      </p:sp>
      <p:sp>
        <p:nvSpPr>
          <p:cNvPr id="34" name="Shape 32"/>
          <p:cNvSpPr/>
          <p:nvPr/>
        </p:nvSpPr>
        <p:spPr>
          <a:xfrm>
            <a:off x="6126480" y="4160520"/>
            <a:ext cx="365760" cy="365760"/>
          </a:xfrm>
          <a:prstGeom prst="ellipse">
            <a:avLst/>
          </a:prstGeom>
          <a:solidFill>
            <a:srgbClr val="1C1F26"/>
          </a:solidFill>
          <a:ln w="12700">
            <a:solidFill>
              <a:srgbClr val="1C1F26"/>
            </a:solidFill>
            <a:prstDash val="solid"/>
          </a:ln>
        </p:spPr>
      </p:sp>
      <p:sp>
        <p:nvSpPr>
          <p:cNvPr id="35" name="Text 33"/>
          <p:cNvSpPr txBox="1"/>
          <p:nvPr/>
        </p:nvSpPr>
        <p:spPr>
          <a:xfrm>
            <a:off x="6126480" y="41605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6" name="Text 34"/>
          <p:cNvSpPr txBox="1"/>
          <p:nvPr/>
        </p:nvSpPr>
        <p:spPr>
          <a:xfrm>
            <a:off x="6675120" y="4059936"/>
            <a:ext cx="4846320" cy="566928"/>
          </a:xfrm>
          <a:prstGeom prst="rect">
            <a:avLst/>
          </a:prstGeom>
          <a:noFill/>
          <a:ln/>
        </p:spPr>
        <p:txBody>
          <a:bodyPr wrap="square" lIns="0" tIns="0" rIns="0" bIns="0" rtlCol="0" anchor="ctr"/>
          <a:lstStyle/>
          <a:p>
            <a:pPr indent="0" marL="0">
              <a:buNone/>
            </a:pPr>
            <a:r>
              <a:rPr lang="en-US" sz="1600" dirty="0">
                <a:solidFill>
                  <a:srgbClr val="1C1F26"/>
                </a:solidFill>
                <a:latin typeface="Arial" pitchFamily="34" charset="0"/>
                <a:ea typeface="Arial" pitchFamily="34" charset="-122"/>
                <a:cs typeface="Arial" pitchFamily="34" charset="-120"/>
              </a:rPr>
              <a:t>SPEAKER100 is 100% off and single use</a:t>
            </a:r>
            <a:endParaRPr lang="en-US" sz="1600" dirty="0"/>
          </a:p>
        </p:txBody>
      </p:sp>
      <p:sp>
        <p:nvSpPr>
          <p:cNvPr id="37" name="Shape 35"/>
          <p:cNvSpPr/>
          <p:nvPr/>
        </p:nvSpPr>
        <p:spPr>
          <a:xfrm>
            <a:off x="5989320" y="4773168"/>
            <a:ext cx="5669280" cy="566928"/>
          </a:xfrm>
          <a:prstGeom prst="roundRect">
            <a:avLst>
              <a:gd name="adj" fmla="val 16129"/>
            </a:avLst>
          </a:prstGeom>
          <a:solidFill>
            <a:srgbClr val="F1F2F4"/>
          </a:solidFill>
          <a:ln w="12700">
            <a:solidFill>
              <a:srgbClr val="F1F2F4"/>
            </a:solidFill>
            <a:prstDash val="solid"/>
          </a:ln>
        </p:spPr>
      </p:sp>
      <p:sp>
        <p:nvSpPr>
          <p:cNvPr id="38" name="Shape 36"/>
          <p:cNvSpPr/>
          <p:nvPr/>
        </p:nvSpPr>
        <p:spPr>
          <a:xfrm>
            <a:off x="6126480" y="4873752"/>
            <a:ext cx="365760" cy="365760"/>
          </a:xfrm>
          <a:prstGeom prst="ellipse">
            <a:avLst/>
          </a:prstGeom>
          <a:solidFill>
            <a:srgbClr val="1C1F26"/>
          </a:solidFill>
          <a:ln w="12700">
            <a:solidFill>
              <a:srgbClr val="1C1F26"/>
            </a:solidFill>
            <a:prstDash val="solid"/>
          </a:ln>
        </p:spPr>
      </p:sp>
      <p:sp>
        <p:nvSpPr>
          <p:cNvPr id="39" name="Text 37"/>
          <p:cNvSpPr txBox="1"/>
          <p:nvPr/>
        </p:nvSpPr>
        <p:spPr>
          <a:xfrm>
            <a:off x="6126480" y="487375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40" name="Text 38"/>
          <p:cNvSpPr txBox="1"/>
          <p:nvPr/>
        </p:nvSpPr>
        <p:spPr>
          <a:xfrm>
            <a:off x="6675120" y="4773168"/>
            <a:ext cx="4846320" cy="566928"/>
          </a:xfrm>
          <a:prstGeom prst="rect">
            <a:avLst/>
          </a:prstGeom>
          <a:noFill/>
          <a:ln/>
        </p:spPr>
        <p:txBody>
          <a:bodyPr wrap="square" lIns="0" tIns="0" rIns="0" bIns="0" rtlCol="0" anchor="ctr"/>
          <a:lstStyle/>
          <a:p>
            <a:pPr indent="0" marL="0">
              <a:buNone/>
            </a:pPr>
            <a:r>
              <a:rPr lang="en-US" sz="1600" dirty="0">
                <a:solidFill>
                  <a:srgbClr val="1C1F26"/>
                </a:solidFill>
                <a:latin typeface="Arial" pitchFamily="34" charset="0"/>
                <a:ea typeface="Arial" pitchFamily="34" charset="-122"/>
                <a:cs typeface="Arial" pitchFamily="34" charset="-120"/>
              </a:rPr>
              <a:t>Maximum 10 tickets per order</a:t>
            </a:r>
            <a:endParaRPr lang="en-US" sz="1600" dirty="0"/>
          </a:p>
        </p:txBody>
      </p:sp>
      <p:sp>
        <p:nvSpPr>
          <p:cNvPr id="41" name="Text 39"/>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300" dirty="0">
                <a:solidFill>
                  <a:srgbClr val="5B616E"/>
                </a:solidFill>
                <a:latin typeface="Courier New" pitchFamily="34" charset="0"/>
                <a:ea typeface="Courier New" pitchFamily="34" charset="-122"/>
                <a:cs typeface="Courier New" pitchFamily="34" charset="-120"/>
              </a:rPr>
              <a:t>GENERAL 2000  ·  STUDENT 500  ·  WORKSHOP 3500 (5 seats)  ·  STAFF (unpublished)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61B"/>
        </a:solidFill>
      </p:bgPr>
    </p:bg>
    <p:spTree>
      <p:nvGrpSpPr>
        <p:cNvPr id="1" name=""/>
        <p:cNvGrpSpPr/>
        <p:nvPr/>
      </p:nvGrpSpPr>
      <p:grpSpPr>
        <a:xfrm>
          <a:off x="0" y="0"/>
          <a:ext cx="0" cy="0"/>
          <a:chOff x="0" y="0"/>
          <a:chExt cx="0" cy="0"/>
        </a:xfrm>
      </p:grpSpPr>
      <p:sp>
        <p:nvSpPr>
          <p:cNvPr id="2" name="Text 0"/>
          <p:cNvSpPr txBox="1"/>
          <p:nvPr/>
        </p:nvSpPr>
        <p:spPr>
          <a:xfrm>
            <a:off x="548640" y="457200"/>
            <a:ext cx="11155680" cy="7315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Don't ask it to write tests. Ask it to break things.</a:t>
            </a:r>
            <a:endParaRPr lang="en-US" sz="3400" dirty="0"/>
          </a:p>
        </p:txBody>
      </p:sp>
      <p:sp>
        <p:nvSpPr>
          <p:cNvPr id="3" name="Shape 1"/>
          <p:cNvSpPr/>
          <p:nvPr/>
        </p:nvSpPr>
        <p:spPr>
          <a:xfrm>
            <a:off x="548640" y="1463040"/>
            <a:ext cx="7223760" cy="4663440"/>
          </a:xfrm>
          <a:prstGeom prst="roundRect">
            <a:avLst>
              <a:gd name="adj" fmla="val 2353"/>
            </a:avLst>
          </a:prstGeom>
          <a:solidFill>
            <a:srgbClr val="20242C"/>
          </a:solidFill>
          <a:ln w="12700">
            <a:solidFill>
              <a:srgbClr val="20242C"/>
            </a:solidFill>
            <a:prstDash val="solid"/>
          </a:ln>
        </p:spPr>
      </p:sp>
      <p:sp>
        <p:nvSpPr>
          <p:cNvPr id="4" name="Text 2"/>
          <p:cNvSpPr txBox="1"/>
          <p:nvPr/>
        </p:nvSpPr>
        <p:spPr>
          <a:xfrm>
            <a:off x="914400" y="1783080"/>
            <a:ext cx="6217920" cy="329184"/>
          </a:xfrm>
          <a:prstGeom prst="rect">
            <a:avLst/>
          </a:prstGeom>
          <a:noFill/>
          <a:ln/>
        </p:spPr>
        <p:txBody>
          <a:bodyPr wrap="square" lIns="0" tIns="0" rIns="0" bIns="0" rtlCol="0" anchor="ctr"/>
          <a:lstStyle/>
          <a:p>
            <a:pPr indent="0" marL="0">
              <a:buNone/>
            </a:pPr>
            <a:r>
              <a:rPr lang="en-US" sz="1500" dirty="0">
                <a:solidFill>
                  <a:srgbClr val="C9CED6"/>
                </a:solidFill>
                <a:latin typeface="Courier New" pitchFamily="34" charset="0"/>
                <a:ea typeface="Courier New" pitchFamily="34" charset="-122"/>
                <a:cs typeface="Courier New" pitchFamily="34" charset="-120"/>
              </a:rPr>
              <a:t>You are a senior security engineer doing a</a:t>
            </a:r>
            <a:endParaRPr lang="en-US" sz="1500" dirty="0"/>
          </a:p>
        </p:txBody>
      </p:sp>
      <p:sp>
        <p:nvSpPr>
          <p:cNvPr id="5" name="Text 3"/>
          <p:cNvSpPr txBox="1"/>
          <p:nvPr/>
        </p:nvSpPr>
        <p:spPr>
          <a:xfrm>
            <a:off x="914400" y="2112264"/>
            <a:ext cx="6217920" cy="329184"/>
          </a:xfrm>
          <a:prstGeom prst="rect">
            <a:avLst/>
          </a:prstGeom>
          <a:noFill/>
          <a:ln/>
        </p:spPr>
        <p:txBody>
          <a:bodyPr wrap="square" lIns="0" tIns="0" rIns="0" bIns="0" rtlCol="0" anchor="ctr"/>
          <a:lstStyle/>
          <a:p>
            <a:pPr indent="0" marL="0">
              <a:buNone/>
            </a:pPr>
            <a:r>
              <a:rPr lang="en-US" sz="1500" dirty="0">
                <a:solidFill>
                  <a:srgbClr val="C9CED6"/>
                </a:solidFill>
                <a:latin typeface="Courier New" pitchFamily="34" charset="0"/>
                <a:ea typeface="Courier New" pitchFamily="34" charset="-122"/>
                <a:cs typeface="Courier New" pitchFamily="34" charset="-120"/>
              </a:rPr>
              <a:t>black-box review of an internal API.</a:t>
            </a:r>
            <a:endParaRPr lang="en-US" sz="1500" dirty="0"/>
          </a:p>
        </p:txBody>
      </p:sp>
      <p:sp>
        <p:nvSpPr>
          <p:cNvPr id="6" name="Shape 4"/>
          <p:cNvSpPr/>
          <p:nvPr/>
        </p:nvSpPr>
        <p:spPr>
          <a:xfrm>
            <a:off x="731520" y="2743200"/>
            <a:ext cx="6858000" cy="1042416"/>
          </a:xfrm>
          <a:prstGeom prst="roundRect">
            <a:avLst>
              <a:gd name="adj" fmla="val 5263"/>
            </a:avLst>
          </a:prstGeom>
          <a:solidFill>
            <a:srgbClr val="3A2226"/>
          </a:solidFill>
          <a:ln w="12700">
            <a:solidFill>
              <a:srgbClr val="3A2226"/>
            </a:solidFill>
            <a:prstDash val="solid"/>
          </a:ln>
        </p:spPr>
      </p:sp>
      <p:sp>
        <p:nvSpPr>
          <p:cNvPr id="7" name="Shape 5"/>
          <p:cNvSpPr/>
          <p:nvPr/>
        </p:nvSpPr>
        <p:spPr>
          <a:xfrm>
            <a:off x="7205472" y="3108960"/>
            <a:ext cx="310896" cy="310896"/>
          </a:xfrm>
          <a:prstGeom prst="ellipse">
            <a:avLst/>
          </a:prstGeom>
          <a:solidFill>
            <a:srgbClr val="E5484D"/>
          </a:solidFill>
          <a:ln w="12700">
            <a:solidFill>
              <a:srgbClr val="E5484D"/>
            </a:solidFill>
            <a:prstDash val="solid"/>
          </a:ln>
        </p:spPr>
      </p:sp>
      <p:sp>
        <p:nvSpPr>
          <p:cNvPr id="8" name="Text 6"/>
          <p:cNvSpPr txBox="1"/>
          <p:nvPr/>
        </p:nvSpPr>
        <p:spPr>
          <a:xfrm>
            <a:off x="7205472" y="31089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914400" y="2770632"/>
            <a:ext cx="6217920" cy="329184"/>
          </a:xfrm>
          <a:prstGeom prst="rect">
            <a:avLst/>
          </a:prstGeom>
          <a:noFill/>
          <a:ln/>
        </p:spPr>
        <p:txBody>
          <a:bodyPr wrap="square" lIns="0" tIns="0" rIns="0" bIns="0" rtlCol="0" anchor="ctr"/>
          <a:lstStyle/>
          <a:p>
            <a:pPr indent="0" marL="0">
              <a:buNone/>
            </a:pPr>
            <a:r>
              <a:rPr lang="en-US" sz="1500" b="1" dirty="0">
                <a:solidFill>
                  <a:srgbClr val="FFFFFF"/>
                </a:solidFill>
                <a:latin typeface="Courier New" pitchFamily="34" charset="0"/>
                <a:ea typeface="Courier New" pitchFamily="34" charset="-122"/>
                <a:cs typeface="Courier New" pitchFamily="34" charset="-120"/>
              </a:rPr>
              <a:t>Assume the developer was competent but rushed.</a:t>
            </a:r>
            <a:endParaRPr lang="en-US" sz="1500" dirty="0"/>
          </a:p>
        </p:txBody>
      </p:sp>
      <p:sp>
        <p:nvSpPr>
          <p:cNvPr id="10" name="Text 8"/>
          <p:cNvSpPr txBox="1"/>
          <p:nvPr/>
        </p:nvSpPr>
        <p:spPr>
          <a:xfrm>
            <a:off x="914400" y="3099816"/>
            <a:ext cx="6217920" cy="329184"/>
          </a:xfrm>
          <a:prstGeom prst="rect">
            <a:avLst/>
          </a:prstGeom>
          <a:noFill/>
          <a:ln/>
        </p:spPr>
        <p:txBody>
          <a:bodyPr wrap="square" lIns="0" tIns="0" rIns="0" bIns="0" rtlCol="0" anchor="ctr"/>
          <a:lstStyle/>
          <a:p>
            <a:pPr indent="0" marL="0">
              <a:buNone/>
            </a:pPr>
            <a:r>
              <a:rPr lang="en-US" sz="1500" b="1" dirty="0">
                <a:solidFill>
                  <a:srgbClr val="FFFFFF"/>
                </a:solidFill>
                <a:latin typeface="Courier New" pitchFamily="34" charset="0"/>
                <a:ea typeface="Courier New" pitchFamily="34" charset="-122"/>
                <a:cs typeface="Courier New" pitchFamily="34" charset="-120"/>
              </a:rPr>
              <a:t>Assume the obvious validation is present and</a:t>
            </a:r>
            <a:endParaRPr lang="en-US" sz="1500" dirty="0"/>
          </a:p>
        </p:txBody>
      </p:sp>
      <p:sp>
        <p:nvSpPr>
          <p:cNvPr id="11" name="Text 9"/>
          <p:cNvSpPr txBox="1"/>
          <p:nvPr/>
        </p:nvSpPr>
        <p:spPr>
          <a:xfrm>
            <a:off x="914400" y="3429000"/>
            <a:ext cx="6217920" cy="329184"/>
          </a:xfrm>
          <a:prstGeom prst="rect">
            <a:avLst/>
          </a:prstGeom>
          <a:noFill/>
          <a:ln/>
        </p:spPr>
        <p:txBody>
          <a:bodyPr wrap="square" lIns="0" tIns="0" rIns="0" bIns="0" rtlCol="0" anchor="ctr"/>
          <a:lstStyle/>
          <a:p>
            <a:pPr indent="0" marL="0">
              <a:buNone/>
            </a:pPr>
            <a:r>
              <a:rPr lang="en-US" sz="1500" b="1" dirty="0">
                <a:solidFill>
                  <a:srgbClr val="FFFFFF"/>
                </a:solidFill>
                <a:latin typeface="Courier New" pitchFamily="34" charset="0"/>
                <a:ea typeface="Courier New" pitchFamily="34" charset="-122"/>
                <a:cs typeface="Courier New" pitchFamily="34" charset="-120"/>
              </a:rPr>
              <a:t>the non-obvious validation is missing.</a:t>
            </a:r>
            <a:endParaRPr lang="en-US" sz="1500" dirty="0"/>
          </a:p>
        </p:txBody>
      </p:sp>
      <p:sp>
        <p:nvSpPr>
          <p:cNvPr id="12" name="Text 10"/>
          <p:cNvSpPr txBox="1"/>
          <p:nvPr/>
        </p:nvSpPr>
        <p:spPr>
          <a:xfrm>
            <a:off x="914400" y="4087368"/>
            <a:ext cx="6217920" cy="329184"/>
          </a:xfrm>
          <a:prstGeom prst="rect">
            <a:avLst/>
          </a:prstGeom>
          <a:noFill/>
          <a:ln/>
        </p:spPr>
        <p:txBody>
          <a:bodyPr wrap="square" lIns="0" tIns="0" rIns="0" bIns="0" rtlCol="0" anchor="ctr"/>
          <a:lstStyle/>
          <a:p>
            <a:pPr indent="0" marL="0">
              <a:buNone/>
            </a:pPr>
            <a:r>
              <a:rPr lang="en-US" sz="1500" dirty="0">
                <a:solidFill>
                  <a:srgbClr val="C9CED6"/>
                </a:solidFill>
                <a:latin typeface="Courier New" pitchFamily="34" charset="0"/>
                <a:ea typeface="Courier New" pitchFamily="34" charset="-122"/>
                <a:cs typeface="Courier New" pitchFamily="34" charset="-120"/>
              </a:rPr>
              <a:t>List five assumptions this API makes about its</a:t>
            </a:r>
            <a:endParaRPr lang="en-US" sz="1500" dirty="0"/>
          </a:p>
        </p:txBody>
      </p:sp>
      <p:sp>
        <p:nvSpPr>
          <p:cNvPr id="13" name="Text 11"/>
          <p:cNvSpPr txBox="1"/>
          <p:nvPr/>
        </p:nvSpPr>
        <p:spPr>
          <a:xfrm>
            <a:off x="914400" y="4416552"/>
            <a:ext cx="6217920" cy="329184"/>
          </a:xfrm>
          <a:prstGeom prst="rect">
            <a:avLst/>
          </a:prstGeom>
          <a:noFill/>
          <a:ln/>
        </p:spPr>
        <p:txBody>
          <a:bodyPr wrap="square" lIns="0" tIns="0" rIns="0" bIns="0" rtlCol="0" anchor="ctr"/>
          <a:lstStyle/>
          <a:p>
            <a:pPr indent="0" marL="0">
              <a:buNone/>
            </a:pPr>
            <a:r>
              <a:rPr lang="en-US" sz="1500" dirty="0">
                <a:solidFill>
                  <a:srgbClr val="C9CED6"/>
                </a:solidFill>
                <a:latin typeface="Courier New" pitchFamily="34" charset="0"/>
                <a:ea typeface="Courier New" pitchFamily="34" charset="-122"/>
                <a:cs typeface="Courier New" pitchFamily="34" charset="-120"/>
              </a:rPr>
              <a:t>callers. Then write cases that violate each one.</a:t>
            </a:r>
            <a:endParaRPr lang="en-US" sz="1500" dirty="0"/>
          </a:p>
        </p:txBody>
      </p:sp>
      <p:sp>
        <p:nvSpPr>
          <p:cNvPr id="14" name="Shape 12"/>
          <p:cNvSpPr/>
          <p:nvPr/>
        </p:nvSpPr>
        <p:spPr>
          <a:xfrm>
            <a:off x="731520" y="5047488"/>
            <a:ext cx="6858000" cy="713232"/>
          </a:xfrm>
          <a:prstGeom prst="roundRect">
            <a:avLst>
              <a:gd name="adj" fmla="val 7692"/>
            </a:avLst>
          </a:prstGeom>
          <a:solidFill>
            <a:srgbClr val="3A2226"/>
          </a:solidFill>
          <a:ln w="12700">
            <a:solidFill>
              <a:srgbClr val="3A2226"/>
            </a:solidFill>
            <a:prstDash val="solid"/>
          </a:ln>
        </p:spPr>
      </p:sp>
      <p:sp>
        <p:nvSpPr>
          <p:cNvPr id="15" name="Shape 13"/>
          <p:cNvSpPr/>
          <p:nvPr/>
        </p:nvSpPr>
        <p:spPr>
          <a:xfrm>
            <a:off x="7205472" y="5248656"/>
            <a:ext cx="310896" cy="310896"/>
          </a:xfrm>
          <a:prstGeom prst="ellipse">
            <a:avLst/>
          </a:prstGeom>
          <a:solidFill>
            <a:srgbClr val="E5484D"/>
          </a:solidFill>
          <a:ln w="12700">
            <a:solidFill>
              <a:srgbClr val="E5484D"/>
            </a:solidFill>
            <a:prstDash val="solid"/>
          </a:ln>
        </p:spPr>
      </p:sp>
      <p:sp>
        <p:nvSpPr>
          <p:cNvPr id="16" name="Text 14"/>
          <p:cNvSpPr txBox="1"/>
          <p:nvPr/>
        </p:nvSpPr>
        <p:spPr>
          <a:xfrm>
            <a:off x="7205472" y="52486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5"/>
          <p:cNvSpPr txBox="1"/>
          <p:nvPr/>
        </p:nvSpPr>
        <p:spPr>
          <a:xfrm>
            <a:off x="914400" y="5074920"/>
            <a:ext cx="6217920" cy="329184"/>
          </a:xfrm>
          <a:prstGeom prst="rect">
            <a:avLst/>
          </a:prstGeom>
          <a:noFill/>
          <a:ln/>
        </p:spPr>
        <p:txBody>
          <a:bodyPr wrap="square" lIns="0" tIns="0" rIns="0" bIns="0" rtlCol="0" anchor="ctr"/>
          <a:lstStyle/>
          <a:p>
            <a:pPr indent="0" marL="0">
              <a:buNone/>
            </a:pPr>
            <a:r>
              <a:rPr lang="en-US" sz="1500" b="1" dirty="0">
                <a:solidFill>
                  <a:srgbClr val="FFFFFF"/>
                </a:solidFill>
                <a:latin typeface="Courier New" pitchFamily="34" charset="0"/>
                <a:ea typeface="Courier New" pitchFamily="34" charset="-122"/>
                <a:cs typeface="Courier New" pitchFamily="34" charset="-120"/>
              </a:rPr>
              <a:t>expect_status = what a CORRECT implementation</a:t>
            </a:r>
            <a:endParaRPr lang="en-US" sz="1500" dirty="0"/>
          </a:p>
        </p:txBody>
      </p:sp>
      <p:sp>
        <p:nvSpPr>
          <p:cNvPr id="18" name="Text 16"/>
          <p:cNvSpPr txBox="1"/>
          <p:nvPr/>
        </p:nvSpPr>
        <p:spPr>
          <a:xfrm>
            <a:off x="914400" y="5404104"/>
            <a:ext cx="6217920" cy="329184"/>
          </a:xfrm>
          <a:prstGeom prst="rect">
            <a:avLst/>
          </a:prstGeom>
          <a:noFill/>
          <a:ln/>
        </p:spPr>
        <p:txBody>
          <a:bodyPr wrap="square" lIns="0" tIns="0" rIns="0" bIns="0" rtlCol="0" anchor="ctr"/>
          <a:lstStyle/>
          <a:p>
            <a:pPr indent="0" marL="0">
              <a:buNone/>
            </a:pPr>
            <a:r>
              <a:rPr lang="en-US" sz="1500" b="1" dirty="0">
                <a:solidFill>
                  <a:srgbClr val="FFFFFF"/>
                </a:solidFill>
                <a:latin typeface="Courier New" pitchFamily="34" charset="0"/>
                <a:ea typeface="Courier New" pitchFamily="34" charset="-122"/>
                <a:cs typeface="Courier New" pitchFamily="34" charset="-120"/>
              </a:rPr>
              <a:t>returns, not what you predict this one returns.</a:t>
            </a:r>
            <a:endParaRPr lang="en-US" sz="1500" dirty="0"/>
          </a:p>
        </p:txBody>
      </p:sp>
      <p:sp>
        <p:nvSpPr>
          <p:cNvPr id="19" name="Shape 17"/>
          <p:cNvSpPr/>
          <p:nvPr/>
        </p:nvSpPr>
        <p:spPr>
          <a:xfrm>
            <a:off x="8229600" y="1463040"/>
            <a:ext cx="457200" cy="457200"/>
          </a:xfrm>
          <a:prstGeom prst="ellipse">
            <a:avLst/>
          </a:prstGeom>
          <a:solidFill>
            <a:srgbClr val="E5484D"/>
          </a:solidFill>
          <a:ln w="12700">
            <a:solidFill>
              <a:srgbClr val="E5484D"/>
            </a:solidFill>
            <a:prstDash val="solid"/>
          </a:ln>
        </p:spPr>
      </p:sp>
      <p:sp>
        <p:nvSpPr>
          <p:cNvPr id="20" name="Text 18"/>
          <p:cNvSpPr txBox="1"/>
          <p:nvPr/>
        </p:nvSpPr>
        <p:spPr>
          <a:xfrm>
            <a:off x="8229600" y="1463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21" name="Text 19"/>
          <p:cNvSpPr txBox="1"/>
          <p:nvPr/>
        </p:nvSpPr>
        <p:spPr>
          <a:xfrm>
            <a:off x="8229600" y="2103120"/>
            <a:ext cx="3413455"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Attacker framing</a:t>
            </a:r>
            <a:endParaRPr lang="en-US" sz="2000" dirty="0"/>
          </a:p>
        </p:txBody>
      </p:sp>
      <p:sp>
        <p:nvSpPr>
          <p:cNvPr id="22" name="Text 20"/>
          <p:cNvSpPr txBox="1"/>
          <p:nvPr/>
        </p:nvSpPr>
        <p:spPr>
          <a:xfrm>
            <a:off x="8229600" y="2560320"/>
            <a:ext cx="3413455" cy="1097280"/>
          </a:xfrm>
          <a:prstGeom prst="rect">
            <a:avLst/>
          </a:prstGeom>
          <a:noFill/>
          <a:ln/>
        </p:spPr>
        <p:txBody>
          <a:bodyPr wrap="square" lIns="0" tIns="0" rIns="0" bIns="0" rtlCol="0" anchor="t"/>
          <a:lstStyle/>
          <a:p>
            <a:pPr indent="0" marL="0">
              <a:buNone/>
            </a:pPr>
            <a:r>
              <a:rPr lang="en-US" sz="1500" dirty="0">
                <a:solidFill>
                  <a:srgbClr val="C9CED6"/>
                </a:solidFill>
                <a:latin typeface="Arial" pitchFamily="34" charset="0"/>
                <a:ea typeface="Arial" pitchFamily="34" charset="-122"/>
                <a:cs typeface="Arial" pitchFamily="34" charset="-120"/>
              </a:rPr>
              <a:t>"Write tests for this" gets you the happy path, because that's what most test files look like.</a:t>
            </a:r>
            <a:endParaRPr lang="en-US" sz="1500" dirty="0"/>
          </a:p>
        </p:txBody>
      </p:sp>
      <p:sp>
        <p:nvSpPr>
          <p:cNvPr id="23" name="Shape 21"/>
          <p:cNvSpPr/>
          <p:nvPr/>
        </p:nvSpPr>
        <p:spPr>
          <a:xfrm>
            <a:off x="8229600" y="3840480"/>
            <a:ext cx="457200" cy="457200"/>
          </a:xfrm>
          <a:prstGeom prst="ellipse">
            <a:avLst/>
          </a:prstGeom>
          <a:solidFill>
            <a:srgbClr val="E5484D"/>
          </a:solidFill>
          <a:ln w="12700">
            <a:solidFill>
              <a:srgbClr val="E5484D"/>
            </a:solidFill>
            <a:prstDash val="solid"/>
          </a:ln>
        </p:spPr>
      </p:sp>
      <p:sp>
        <p:nvSpPr>
          <p:cNvPr id="24" name="Text 22"/>
          <p:cNvSpPr txBox="1"/>
          <p:nvPr/>
        </p:nvSpPr>
        <p:spPr>
          <a:xfrm>
            <a:off x="8229600" y="3840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25" name="Text 23"/>
          <p:cNvSpPr txBox="1"/>
          <p:nvPr/>
        </p:nvSpPr>
        <p:spPr>
          <a:xfrm>
            <a:off x="8229600" y="4480560"/>
            <a:ext cx="3413455"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An oracle, not a mirror</a:t>
            </a:r>
            <a:endParaRPr lang="en-US" sz="2000" dirty="0"/>
          </a:p>
        </p:txBody>
      </p:sp>
      <p:sp>
        <p:nvSpPr>
          <p:cNvPr id="26" name="Text 24"/>
          <p:cNvSpPr txBox="1"/>
          <p:nvPr/>
        </p:nvSpPr>
        <p:spPr>
          <a:xfrm>
            <a:off x="8229600" y="4937760"/>
            <a:ext cx="3413455" cy="1097280"/>
          </a:xfrm>
          <a:prstGeom prst="rect">
            <a:avLst/>
          </a:prstGeom>
          <a:noFill/>
          <a:ln/>
        </p:spPr>
        <p:txBody>
          <a:bodyPr wrap="square" lIns="0" tIns="0" rIns="0" bIns="0" rtlCol="0" anchor="t"/>
          <a:lstStyle/>
          <a:p>
            <a:pPr indent="0" marL="0">
              <a:buNone/>
            </a:pPr>
            <a:r>
              <a:rPr lang="en-US" sz="1500" dirty="0">
                <a:solidFill>
                  <a:srgbClr val="C9CED6"/>
                </a:solidFill>
                <a:latin typeface="Arial" pitchFamily="34" charset="0"/>
                <a:ea typeface="Arial" pitchFamily="34" charset="-122"/>
                <a:cs typeface="Arial" pitchFamily="34" charset="-120"/>
              </a:rPr>
              <a:t>Without this line the model writes down what the API does, and every test passes.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731520"/>
          </a:xfrm>
          <a:prstGeom prst="rect">
            <a:avLst/>
          </a:prstGeom>
          <a:noFill/>
          <a:ln/>
        </p:spPr>
        <p:txBody>
          <a:bodyPr wrap="square" lIns="0" tIns="0" rIns="0" bIns="0" rtlCol="0" anchor="t"/>
          <a:lstStyle/>
          <a:p>
            <a:pPr indent="0" marL="0">
              <a:buNone/>
            </a:pPr>
            <a:r>
              <a:rPr lang="en-US" sz="4000" b="1" dirty="0">
                <a:solidFill>
                  <a:srgbClr val="1C1F26"/>
                </a:solidFill>
                <a:latin typeface="Arial" pitchFamily="34" charset="0"/>
                <a:ea typeface="Arial" pitchFamily="34" charset="-122"/>
                <a:cs typeface="Arial" pitchFamily="34" charset="-120"/>
              </a:rPr>
              <a:t>Three jobs, three different ways to fail</a:t>
            </a:r>
            <a:endParaRPr lang="en-US" sz="4000" dirty="0"/>
          </a:p>
        </p:txBody>
      </p:sp>
      <p:sp>
        <p:nvSpPr>
          <p:cNvPr id="3" name="Shape 1"/>
          <p:cNvSpPr/>
          <p:nvPr/>
        </p:nvSpPr>
        <p:spPr>
          <a:xfrm>
            <a:off x="548640" y="1554480"/>
            <a:ext cx="3246120" cy="2240280"/>
          </a:xfrm>
          <a:prstGeom prst="roundRect">
            <a:avLst>
              <a:gd name="adj" fmla="val 4898"/>
            </a:avLst>
          </a:prstGeom>
          <a:solidFill>
            <a:srgbClr val="F1F2F4"/>
          </a:solidFill>
          <a:ln w="12700">
            <a:solidFill>
              <a:srgbClr val="F1F2F4"/>
            </a:solidFill>
            <a:prstDash val="solid"/>
          </a:ln>
        </p:spPr>
      </p:sp>
      <p:sp>
        <p:nvSpPr>
          <p:cNvPr id="4" name="Text 2"/>
          <p:cNvSpPr txBox="1"/>
          <p:nvPr/>
        </p:nvSpPr>
        <p:spPr>
          <a:xfrm>
            <a:off x="822960" y="1810512"/>
            <a:ext cx="2697480" cy="457200"/>
          </a:xfrm>
          <a:prstGeom prst="rect">
            <a:avLst/>
          </a:prstGeom>
          <a:noFill/>
          <a:ln/>
        </p:spPr>
        <p:txBody>
          <a:bodyPr wrap="square" lIns="0" tIns="0" rIns="0" bIns="0" rtlCol="0" anchor="t"/>
          <a:lstStyle/>
          <a:p>
            <a:pPr indent="0" marL="0">
              <a:buNone/>
            </a:pPr>
            <a:r>
              <a:rPr lang="en-US" sz="2600" b="1" dirty="0">
                <a:solidFill>
                  <a:srgbClr val="1C1F26"/>
                </a:solidFill>
                <a:latin typeface="Arial" pitchFamily="34" charset="0"/>
                <a:ea typeface="Arial" pitchFamily="34" charset="-122"/>
                <a:cs typeface="Arial" pitchFamily="34" charset="-120"/>
              </a:rPr>
              <a:t>Model</a:t>
            </a:r>
            <a:endParaRPr lang="en-US" sz="2600" dirty="0"/>
          </a:p>
        </p:txBody>
      </p:sp>
      <p:sp>
        <p:nvSpPr>
          <p:cNvPr id="5" name="Text 3"/>
          <p:cNvSpPr txBox="1"/>
          <p:nvPr/>
        </p:nvSpPr>
        <p:spPr>
          <a:xfrm>
            <a:off x="822960" y="2286000"/>
            <a:ext cx="2697480" cy="320040"/>
          </a:xfrm>
          <a:prstGeom prst="rect">
            <a:avLst/>
          </a:prstGeom>
          <a:noFill/>
          <a:ln/>
        </p:spPr>
        <p:txBody>
          <a:bodyPr wrap="square" lIns="0" tIns="0" rIns="0" bIns="0" rtlCol="0" anchor="t"/>
          <a:lstStyle/>
          <a:p>
            <a:pPr indent="0" marL="0">
              <a:buNone/>
            </a:pPr>
            <a:r>
              <a:rPr lang="en-US" sz="1500" dirty="0">
                <a:solidFill>
                  <a:srgbClr val="5B616E"/>
                </a:solidFill>
                <a:latin typeface="Courier New" pitchFamily="34" charset="0"/>
                <a:ea typeface="Courier New" pitchFamily="34" charset="-122"/>
                <a:cs typeface="Courier New" pitchFamily="34" charset="-120"/>
              </a:rPr>
              <a:t>guesses</a:t>
            </a:r>
            <a:endParaRPr lang="en-US" sz="1500" dirty="0"/>
          </a:p>
        </p:txBody>
      </p:sp>
      <p:sp>
        <p:nvSpPr>
          <p:cNvPr id="6" name="Text 4"/>
          <p:cNvSpPr txBox="1"/>
          <p:nvPr/>
        </p:nvSpPr>
        <p:spPr>
          <a:xfrm>
            <a:off x="822960" y="2743200"/>
            <a:ext cx="2697480" cy="914400"/>
          </a:xfrm>
          <a:prstGeom prst="rect">
            <a:avLst/>
          </a:prstGeom>
          <a:noFill/>
          <a:ln/>
        </p:spPr>
        <p:txBody>
          <a:bodyPr wrap="square" lIns="0" tIns="0" rIns="0" bIns="0" rtlCol="0" anchor="t"/>
          <a:lstStyle/>
          <a:p>
            <a:pPr indent="0" marL="0">
              <a:buNone/>
            </a:pPr>
            <a:r>
              <a:rPr lang="en-US" sz="1500" dirty="0">
                <a:solidFill>
                  <a:srgbClr val="1C1F26"/>
                </a:solidFill>
                <a:latin typeface="Arial" pitchFamily="34" charset="0"/>
                <a:ea typeface="Arial" pitchFamily="34" charset="-122"/>
                <a:cs typeface="Arial" pitchFamily="34" charset="-120"/>
              </a:rPr>
              <a:t>Writes test cases as JSON. Fast, cheap, and sometimes wrong.</a:t>
            </a:r>
            <a:endParaRPr lang="en-US" sz="1500" dirty="0"/>
          </a:p>
        </p:txBody>
      </p:sp>
      <p:sp>
        <p:nvSpPr>
          <p:cNvPr id="7" name="Shape 5"/>
          <p:cNvSpPr/>
          <p:nvPr/>
        </p:nvSpPr>
        <p:spPr>
          <a:xfrm>
            <a:off x="3886200" y="2674620"/>
            <a:ext cx="475488" cy="0"/>
          </a:xfrm>
          <a:prstGeom prst="line">
            <a:avLst/>
          </a:prstGeom>
          <a:noFill/>
          <a:ln w="31750">
            <a:solidFill>
              <a:srgbClr val="5B616E"/>
            </a:solidFill>
            <a:prstDash val="solid"/>
            <a:tailEnd type="triangle"/>
          </a:ln>
        </p:spPr>
      </p:sp>
      <p:sp>
        <p:nvSpPr>
          <p:cNvPr id="8" name="Shape 6"/>
          <p:cNvSpPr/>
          <p:nvPr/>
        </p:nvSpPr>
        <p:spPr>
          <a:xfrm>
            <a:off x="4453128" y="1554480"/>
            <a:ext cx="3246120" cy="2240280"/>
          </a:xfrm>
          <a:prstGeom prst="roundRect">
            <a:avLst>
              <a:gd name="adj" fmla="val 4898"/>
            </a:avLst>
          </a:prstGeom>
          <a:solidFill>
            <a:srgbClr val="F1F2F4"/>
          </a:solidFill>
          <a:ln w="12700">
            <a:solidFill>
              <a:srgbClr val="F1F2F4"/>
            </a:solidFill>
            <a:prstDash val="solid"/>
          </a:ln>
        </p:spPr>
      </p:sp>
      <p:sp>
        <p:nvSpPr>
          <p:cNvPr id="9" name="Text 7"/>
          <p:cNvSpPr txBox="1"/>
          <p:nvPr/>
        </p:nvSpPr>
        <p:spPr>
          <a:xfrm>
            <a:off x="4727448" y="1810512"/>
            <a:ext cx="2697480" cy="457200"/>
          </a:xfrm>
          <a:prstGeom prst="rect">
            <a:avLst/>
          </a:prstGeom>
          <a:noFill/>
          <a:ln/>
        </p:spPr>
        <p:txBody>
          <a:bodyPr wrap="square" lIns="0" tIns="0" rIns="0" bIns="0" rtlCol="0" anchor="t"/>
          <a:lstStyle/>
          <a:p>
            <a:pPr indent="0" marL="0">
              <a:buNone/>
            </a:pPr>
            <a:r>
              <a:rPr lang="en-US" sz="2600" b="1" dirty="0">
                <a:solidFill>
                  <a:srgbClr val="1C1F26"/>
                </a:solidFill>
                <a:latin typeface="Arial" pitchFamily="34" charset="0"/>
                <a:ea typeface="Arial" pitchFamily="34" charset="-122"/>
                <a:cs typeface="Arial" pitchFamily="34" charset="-120"/>
              </a:rPr>
              <a:t>Runner</a:t>
            </a:r>
            <a:endParaRPr lang="en-US" sz="2600" dirty="0"/>
          </a:p>
        </p:txBody>
      </p:sp>
      <p:sp>
        <p:nvSpPr>
          <p:cNvPr id="10" name="Text 8"/>
          <p:cNvSpPr txBox="1"/>
          <p:nvPr/>
        </p:nvSpPr>
        <p:spPr>
          <a:xfrm>
            <a:off x="4727448" y="2286000"/>
            <a:ext cx="2697480" cy="320040"/>
          </a:xfrm>
          <a:prstGeom prst="rect">
            <a:avLst/>
          </a:prstGeom>
          <a:noFill/>
          <a:ln/>
        </p:spPr>
        <p:txBody>
          <a:bodyPr wrap="square" lIns="0" tIns="0" rIns="0" bIns="0" rtlCol="0" anchor="t"/>
          <a:lstStyle/>
          <a:p>
            <a:pPr indent="0" marL="0">
              <a:buNone/>
            </a:pPr>
            <a:r>
              <a:rPr lang="en-US" sz="1500" dirty="0">
                <a:solidFill>
                  <a:srgbClr val="5B616E"/>
                </a:solidFill>
                <a:latin typeface="Courier New" pitchFamily="34" charset="0"/>
                <a:ea typeface="Courier New" pitchFamily="34" charset="-122"/>
                <a:cs typeface="Courier New" pitchFamily="34" charset="-120"/>
              </a:rPr>
              <a:t>measures</a:t>
            </a:r>
            <a:endParaRPr lang="en-US" sz="1500" dirty="0"/>
          </a:p>
        </p:txBody>
      </p:sp>
      <p:sp>
        <p:nvSpPr>
          <p:cNvPr id="11" name="Text 9"/>
          <p:cNvSpPr txBox="1"/>
          <p:nvPr/>
        </p:nvSpPr>
        <p:spPr>
          <a:xfrm>
            <a:off x="4727448" y="2743200"/>
            <a:ext cx="2697480" cy="914400"/>
          </a:xfrm>
          <a:prstGeom prst="rect">
            <a:avLst/>
          </a:prstGeom>
          <a:noFill/>
          <a:ln/>
        </p:spPr>
        <p:txBody>
          <a:bodyPr wrap="square" lIns="0" tIns="0" rIns="0" bIns="0" rtlCol="0" anchor="t"/>
          <a:lstStyle/>
          <a:p>
            <a:pPr indent="0" marL="0">
              <a:buNone/>
            </a:pPr>
            <a:r>
              <a:rPr lang="en-US" sz="1500" dirty="0">
                <a:solidFill>
                  <a:srgbClr val="1C1F26"/>
                </a:solidFill>
                <a:latin typeface="Arial" pitchFamily="34" charset="0"/>
                <a:ea typeface="Arial" pitchFamily="34" charset="-122"/>
                <a:cs typeface="Arial" pitchFamily="34" charset="-120"/>
              </a:rPr>
              <a:t>Sends each request, compares the status. Dumb on purpose.</a:t>
            </a:r>
            <a:endParaRPr lang="en-US" sz="1500" dirty="0"/>
          </a:p>
        </p:txBody>
      </p:sp>
      <p:sp>
        <p:nvSpPr>
          <p:cNvPr id="12" name="Shape 10"/>
          <p:cNvSpPr/>
          <p:nvPr/>
        </p:nvSpPr>
        <p:spPr>
          <a:xfrm>
            <a:off x="7790688" y="2674620"/>
            <a:ext cx="475488" cy="0"/>
          </a:xfrm>
          <a:prstGeom prst="line">
            <a:avLst/>
          </a:prstGeom>
          <a:noFill/>
          <a:ln w="31750">
            <a:solidFill>
              <a:srgbClr val="5B616E"/>
            </a:solidFill>
            <a:prstDash val="solid"/>
            <a:tailEnd type="triangle"/>
          </a:ln>
        </p:spPr>
      </p:sp>
      <p:sp>
        <p:nvSpPr>
          <p:cNvPr id="13" name="Shape 11"/>
          <p:cNvSpPr/>
          <p:nvPr/>
        </p:nvSpPr>
        <p:spPr>
          <a:xfrm>
            <a:off x="8357616" y="1554480"/>
            <a:ext cx="3246120" cy="2240280"/>
          </a:xfrm>
          <a:prstGeom prst="roundRect">
            <a:avLst>
              <a:gd name="adj" fmla="val 4898"/>
            </a:avLst>
          </a:prstGeom>
          <a:solidFill>
            <a:srgbClr val="F1F2F4"/>
          </a:solidFill>
          <a:ln w="12700">
            <a:solidFill>
              <a:srgbClr val="F1F2F4"/>
            </a:solidFill>
            <a:prstDash val="solid"/>
          </a:ln>
        </p:spPr>
      </p:sp>
      <p:sp>
        <p:nvSpPr>
          <p:cNvPr id="14" name="Text 12"/>
          <p:cNvSpPr txBox="1"/>
          <p:nvPr/>
        </p:nvSpPr>
        <p:spPr>
          <a:xfrm>
            <a:off x="8631936" y="1810512"/>
            <a:ext cx="2697480" cy="457200"/>
          </a:xfrm>
          <a:prstGeom prst="rect">
            <a:avLst/>
          </a:prstGeom>
          <a:noFill/>
          <a:ln/>
        </p:spPr>
        <p:txBody>
          <a:bodyPr wrap="square" lIns="0" tIns="0" rIns="0" bIns="0" rtlCol="0" anchor="t"/>
          <a:lstStyle/>
          <a:p>
            <a:pPr indent="0" marL="0">
              <a:buNone/>
            </a:pPr>
            <a:r>
              <a:rPr lang="en-US" sz="2600" b="1" dirty="0">
                <a:solidFill>
                  <a:srgbClr val="E5484D"/>
                </a:solidFill>
                <a:latin typeface="Arial" pitchFamily="34" charset="0"/>
                <a:ea typeface="Arial" pitchFamily="34" charset="-122"/>
                <a:cs typeface="Arial" pitchFamily="34" charset="-120"/>
              </a:rPr>
              <a:t>Human</a:t>
            </a:r>
            <a:endParaRPr lang="en-US" sz="2600" dirty="0"/>
          </a:p>
        </p:txBody>
      </p:sp>
      <p:sp>
        <p:nvSpPr>
          <p:cNvPr id="15" name="Text 13"/>
          <p:cNvSpPr txBox="1"/>
          <p:nvPr/>
        </p:nvSpPr>
        <p:spPr>
          <a:xfrm>
            <a:off x="8631936" y="2286000"/>
            <a:ext cx="2697480" cy="320040"/>
          </a:xfrm>
          <a:prstGeom prst="rect">
            <a:avLst/>
          </a:prstGeom>
          <a:noFill/>
          <a:ln/>
        </p:spPr>
        <p:txBody>
          <a:bodyPr wrap="square" lIns="0" tIns="0" rIns="0" bIns="0" rtlCol="0" anchor="t"/>
          <a:lstStyle/>
          <a:p>
            <a:pPr indent="0" marL="0">
              <a:buNone/>
            </a:pPr>
            <a:r>
              <a:rPr lang="en-US" sz="1500" dirty="0">
                <a:solidFill>
                  <a:srgbClr val="5B616E"/>
                </a:solidFill>
                <a:latin typeface="Courier New" pitchFamily="34" charset="0"/>
                <a:ea typeface="Courier New" pitchFamily="34" charset="-122"/>
                <a:cs typeface="Courier New" pitchFamily="34" charset="-120"/>
              </a:rPr>
              <a:t>decides</a:t>
            </a:r>
            <a:endParaRPr lang="en-US" sz="1500" dirty="0"/>
          </a:p>
        </p:txBody>
      </p:sp>
      <p:sp>
        <p:nvSpPr>
          <p:cNvPr id="16" name="Text 14"/>
          <p:cNvSpPr txBox="1"/>
          <p:nvPr/>
        </p:nvSpPr>
        <p:spPr>
          <a:xfrm>
            <a:off x="8631936" y="2743200"/>
            <a:ext cx="2697480" cy="914400"/>
          </a:xfrm>
          <a:prstGeom prst="rect">
            <a:avLst/>
          </a:prstGeom>
          <a:noFill/>
          <a:ln/>
        </p:spPr>
        <p:txBody>
          <a:bodyPr wrap="square" lIns="0" tIns="0" rIns="0" bIns="0" rtlCol="0" anchor="t"/>
          <a:lstStyle/>
          <a:p>
            <a:pPr indent="0" marL="0">
              <a:buNone/>
            </a:pPr>
            <a:r>
              <a:rPr lang="en-US" sz="1500" dirty="0">
                <a:solidFill>
                  <a:srgbClr val="1C1F26"/>
                </a:solidFill>
                <a:latin typeface="Arial" pitchFamily="34" charset="0"/>
                <a:ea typeface="Arial" pitchFamily="34" charset="-122"/>
                <a:cs typeface="Arial" pitchFamily="34" charset="-120"/>
              </a:rPr>
              <a:t>Triages every red line. Knows the rules and the priorities.</a:t>
            </a:r>
            <a:endParaRPr lang="en-US" sz="1500" dirty="0"/>
          </a:p>
        </p:txBody>
      </p:sp>
      <p:sp>
        <p:nvSpPr>
          <p:cNvPr id="17" name="Shape 15"/>
          <p:cNvSpPr/>
          <p:nvPr/>
        </p:nvSpPr>
        <p:spPr>
          <a:xfrm>
            <a:off x="548640" y="4114800"/>
            <a:ext cx="7406640" cy="2194560"/>
          </a:xfrm>
          <a:prstGeom prst="roundRect">
            <a:avLst>
              <a:gd name="adj" fmla="val 5000"/>
            </a:avLst>
          </a:prstGeom>
          <a:solidFill>
            <a:srgbClr val="14161B"/>
          </a:solidFill>
          <a:ln w="12700">
            <a:solidFill>
              <a:srgbClr val="14161B"/>
            </a:solidFill>
            <a:prstDash val="solid"/>
          </a:ln>
        </p:spPr>
      </p:sp>
      <p:sp>
        <p:nvSpPr>
          <p:cNvPr id="18" name="Text 16"/>
          <p:cNvSpPr txBox="1"/>
          <p:nvPr/>
        </p:nvSpPr>
        <p:spPr>
          <a:xfrm>
            <a:off x="868680" y="4389120"/>
            <a:ext cx="6949440" cy="347472"/>
          </a:xfrm>
          <a:prstGeom prst="rect">
            <a:avLst/>
          </a:prstGeom>
          <a:noFill/>
          <a:ln/>
        </p:spPr>
        <p:txBody>
          <a:bodyPr wrap="square" lIns="0" tIns="0" rIns="0" bIns="0" rtlCol="0" anchor="ctr"/>
          <a:lstStyle/>
          <a:p>
            <a:pPr indent="0" marL="0">
              <a:buNone/>
            </a:pPr>
            <a:r>
              <a:rPr lang="en-US" sz="1400" dirty="0">
                <a:solidFill>
                  <a:srgbClr val="7D8591"/>
                </a:solidFill>
                <a:latin typeface="Courier New" pitchFamily="34" charset="0"/>
                <a:ea typeface="Courier New" pitchFamily="34" charset="-122"/>
                <a:cs typeface="Courier New" pitchFamily="34" charset="-120"/>
              </a:rPr>
              <a:t>{ "id": "TC-011",</a:t>
            </a:r>
            <a:endParaRPr lang="en-US" sz="1400" dirty="0"/>
          </a:p>
        </p:txBody>
      </p:sp>
      <p:sp>
        <p:nvSpPr>
          <p:cNvPr id="19" name="Text 17"/>
          <p:cNvSpPr txBox="1"/>
          <p:nvPr/>
        </p:nvSpPr>
        <p:spPr>
          <a:xfrm>
            <a:off x="868680" y="4736592"/>
            <a:ext cx="6949440" cy="347472"/>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  "method": "GET",  "endpoint": "/me",</a:t>
            </a:r>
            <a:endParaRPr lang="en-US" sz="1400" dirty="0"/>
          </a:p>
        </p:txBody>
      </p:sp>
      <p:sp>
        <p:nvSpPr>
          <p:cNvPr id="20" name="Text 18"/>
          <p:cNvSpPr txBox="1"/>
          <p:nvPr/>
        </p:nvSpPr>
        <p:spPr>
          <a:xfrm>
            <a:off x="868680" y="5084064"/>
            <a:ext cx="6949440" cy="347472"/>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  "auth": "forged_admin",</a:t>
            </a:r>
            <a:endParaRPr lang="en-US" sz="1400" dirty="0"/>
          </a:p>
        </p:txBody>
      </p:sp>
      <p:sp>
        <p:nvSpPr>
          <p:cNvPr id="21" name="Text 19"/>
          <p:cNvSpPr txBox="1"/>
          <p:nvPr/>
        </p:nvSpPr>
        <p:spPr>
          <a:xfrm>
            <a:off x="868680" y="5431536"/>
            <a:ext cx="6949440" cy="347472"/>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  "expect_status": [401],</a:t>
            </a:r>
            <a:endParaRPr lang="en-US" sz="1400" dirty="0"/>
          </a:p>
        </p:txBody>
      </p:sp>
      <p:sp>
        <p:nvSpPr>
          <p:cNvPr id="22" name="Text 20"/>
          <p:cNvSpPr txBox="1"/>
          <p:nvPr/>
        </p:nvSpPr>
        <p:spPr>
          <a:xfrm>
            <a:off x="868680" y="5779008"/>
            <a:ext cx="6949440" cy="347472"/>
          </a:xfrm>
          <a:prstGeom prst="rect">
            <a:avLst/>
          </a:prstGeom>
          <a:noFill/>
          <a:ln/>
        </p:spPr>
        <p:txBody>
          <a:bodyPr wrap="square" lIns="0" tIns="0" rIns="0" bIns="0" rtlCol="0" anchor="ctr"/>
          <a:lstStyle/>
          <a:p>
            <a:pPr indent="0" marL="0">
              <a:buNone/>
            </a:pPr>
            <a:r>
              <a:rPr lang="en-US" sz="1400" dirty="0">
                <a:solidFill>
                  <a:srgbClr val="7D8591"/>
                </a:solidFill>
                <a:latin typeface="Courier New" pitchFamily="34" charset="0"/>
                <a:ea typeface="Courier New" pitchFamily="34" charset="-122"/>
                <a:cs typeface="Courier New" pitchFamily="34" charset="-120"/>
              </a:rPr>
              <a:t>  "reason": "token looks like base64, not a signature" }</a:t>
            </a:r>
            <a:endParaRPr lang="en-US" sz="1400" dirty="0"/>
          </a:p>
        </p:txBody>
      </p:sp>
      <p:sp>
        <p:nvSpPr>
          <p:cNvPr id="23" name="Text 21"/>
          <p:cNvSpPr txBox="1"/>
          <p:nvPr/>
        </p:nvSpPr>
        <p:spPr>
          <a:xfrm>
            <a:off x="8321040" y="4251960"/>
            <a:ext cx="3322015" cy="2011680"/>
          </a:xfrm>
          <a:prstGeom prst="rect">
            <a:avLst/>
          </a:prstGeom>
          <a:noFill/>
          <a:ln/>
        </p:spPr>
        <p:txBody>
          <a:bodyPr wrap="square" lIns="0" tIns="0" rIns="0" bIns="0" rtlCol="0" anchor="t"/>
          <a:lstStyle/>
          <a:p>
            <a:pPr indent="0" marL="0">
              <a:spcAft>
                <a:spcPts val="800"/>
              </a:spcAft>
              <a:buNone/>
            </a:pPr>
            <a:r>
              <a:rPr lang="en-US" sz="1600" b="1" dirty="0">
                <a:solidFill>
                  <a:srgbClr val="1C1F26"/>
                </a:solidFill>
                <a:latin typeface="Arial" pitchFamily="34" charset="0"/>
                <a:ea typeface="Arial" pitchFamily="34" charset="-122"/>
                <a:cs typeface="Arial" pitchFamily="34" charset="-120"/>
              </a:rPr>
              <a:t>Only the bright lines ever execute.</a:t>
            </a:r>
            <a:endParaRPr lang="en-US" sz="1600" dirty="0"/>
          </a:p>
          <a:p>
            <a:pPr indent="0" marL="0">
              <a:spcAft>
                <a:spcPts val="800"/>
              </a:spcAft>
              <a:buNone/>
            </a:pPr>
            <a:r>
              <a:rPr lang="en-US" sz="1600" dirty="0">
                <a:solidFill>
                  <a:srgbClr val="1C1F26"/>
                </a:solidFill>
                <a:latin typeface="Arial" pitchFamily="34" charset="0"/>
                <a:ea typeface="Arial" pitchFamily="34" charset="-122"/>
                <a:cs typeface="Arial" pitchFamily="34" charset="-120"/>
              </a:rPr>
              <a:t>A hallucinated endpoint fails loudly with 404. A hallucinated reason never touches the wire: it's there for triage.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61B"/>
        </a:solidFill>
      </p:bgPr>
    </p:bg>
    <p:spTree>
      <p:nvGrpSpPr>
        <p:cNvPr id="1" name=""/>
        <p:cNvGrpSpPr/>
        <p:nvPr/>
      </p:nvGrpSpPr>
      <p:grpSpPr>
        <a:xfrm>
          <a:off x="0" y="0"/>
          <a:ext cx="0" cy="0"/>
          <a:chOff x="0" y="0"/>
          <a:chExt cx="0" cy="0"/>
        </a:xfrm>
      </p:grpSpPr>
      <p:sp>
        <p:nvSpPr>
          <p:cNvPr id="2" name="Text 0"/>
          <p:cNvSpPr txBox="1"/>
          <p:nvPr/>
        </p:nvSpPr>
        <p:spPr>
          <a:xfrm>
            <a:off x="548640" y="548640"/>
            <a:ext cx="3657600" cy="365760"/>
          </a:xfrm>
          <a:prstGeom prst="rect">
            <a:avLst/>
          </a:prstGeom>
          <a:noFill/>
          <a:ln/>
        </p:spPr>
        <p:txBody>
          <a:bodyPr wrap="square" lIns="0" tIns="0" rIns="0" bIns="0" rtlCol="0" anchor="t"/>
          <a:lstStyle/>
          <a:p>
            <a:pPr indent="0" marL="0">
              <a:buNone/>
            </a:pPr>
            <a:r>
              <a:rPr lang="en-US" sz="1600" b="1" dirty="0">
                <a:solidFill>
                  <a:srgbClr val="E5484D"/>
                </a:solidFill>
                <a:latin typeface="Courier New" pitchFamily="34" charset="0"/>
                <a:ea typeface="Courier New" pitchFamily="34" charset="-122"/>
                <a:cs typeface="Courier New" pitchFamily="34" charset="-120"/>
              </a:rPr>
              <a:t>DEMO 1 / 4</a:t>
            </a:r>
            <a:endParaRPr lang="en-US" sz="1600" dirty="0"/>
          </a:p>
        </p:txBody>
      </p:sp>
      <p:sp>
        <p:nvSpPr>
          <p:cNvPr id="3" name="Text 1"/>
          <p:cNvSpPr txBox="1"/>
          <p:nvPr/>
        </p:nvSpPr>
        <p:spPr>
          <a:xfrm>
            <a:off x="548640" y="1097280"/>
            <a:ext cx="10972800" cy="914400"/>
          </a:xfrm>
          <a:prstGeom prst="rect">
            <a:avLst/>
          </a:prstGeom>
          <a:noFill/>
          <a:ln/>
        </p:spPr>
        <p:txBody>
          <a:bodyPr wrap="square" lIns="0" tIns="0" rIns="0" bIns="0" rtlCol="0" anchor="t"/>
          <a:lstStyle/>
          <a:p>
            <a:pPr indent="0" marL="0">
              <a:buNone/>
            </a:pPr>
            <a:r>
              <a:rPr lang="en-US" sz="4800" b="1" dirty="0">
                <a:solidFill>
                  <a:srgbClr val="FFFFFF"/>
                </a:solidFill>
                <a:latin typeface="Arial" pitchFamily="34" charset="0"/>
                <a:ea typeface="Arial" pitchFamily="34" charset="-122"/>
                <a:cs typeface="Arial" pitchFamily="34" charset="-120"/>
              </a:rPr>
              <a:t>What the model wrote</a:t>
            </a:r>
            <a:endParaRPr lang="en-US" sz="4800" dirty="0"/>
          </a:p>
        </p:txBody>
      </p:sp>
      <p:sp>
        <p:nvSpPr>
          <p:cNvPr id="4" name="Shape 2"/>
          <p:cNvSpPr/>
          <p:nvPr/>
        </p:nvSpPr>
        <p:spPr>
          <a:xfrm>
            <a:off x="548640" y="2423160"/>
            <a:ext cx="11091672" cy="960120"/>
          </a:xfrm>
          <a:prstGeom prst="roundRect">
            <a:avLst>
              <a:gd name="adj" fmla="val 11429"/>
            </a:avLst>
          </a:prstGeom>
          <a:solidFill>
            <a:srgbClr val="20242C"/>
          </a:solidFill>
          <a:ln w="12700">
            <a:solidFill>
              <a:srgbClr val="20242C"/>
            </a:solidFill>
            <a:prstDash val="solid"/>
          </a:ln>
        </p:spPr>
      </p:sp>
      <p:sp>
        <p:nvSpPr>
          <p:cNvPr id="5" name="Text 3"/>
          <p:cNvSpPr txBox="1"/>
          <p:nvPr/>
        </p:nvSpPr>
        <p:spPr>
          <a:xfrm>
            <a:off x="914400" y="2423160"/>
            <a:ext cx="10424160" cy="960120"/>
          </a:xfrm>
          <a:prstGeom prst="rect">
            <a:avLst/>
          </a:prstGeom>
          <a:noFill/>
          <a:ln/>
        </p:spPr>
        <p:txBody>
          <a:bodyPr wrap="square" lIns="0" tIns="0" rIns="0" bIns="0" rtlCol="0" anchor="ctr"/>
          <a:lstStyle/>
          <a:p>
            <a:pPr indent="0" marL="0">
              <a:buNone/>
            </a:pPr>
            <a:r>
              <a:rPr lang="en-US" sz="2400" b="1" dirty="0">
                <a:solidFill>
                  <a:srgbClr val="30A46C"/>
                </a:solidFill>
                <a:latin typeface="Courier New" pitchFamily="34" charset="0"/>
                <a:ea typeface="Courier New" pitchFamily="34" charset="-122"/>
                <a:cs typeface="Courier New" pitchFamily="34" charset="-120"/>
              </a:rPr>
              <a:t>$ </a:t>
            </a:r>
            <a:pPr indent="0" marL="0">
              <a:buNone/>
            </a:pPr>
            <a:r>
              <a:rPr lang="en-US" sz="2400" dirty="0">
                <a:solidFill>
                  <a:srgbClr val="FFFFFF"/>
                </a:solidFill>
                <a:latin typeface="Courier New" pitchFamily="34" charset="0"/>
                <a:ea typeface="Courier New" pitchFamily="34" charset="-122"/>
                <a:cs typeface="Courier New" pitchFamily="34" charset="-120"/>
              </a:rPr>
              <a:t>python -m json.tool ai/run_prompt2.json | head -40</a:t>
            </a:r>
            <a:endParaRPr lang="en-US" sz="2400" dirty="0"/>
          </a:p>
        </p:txBody>
      </p:sp>
      <p:sp>
        <p:nvSpPr>
          <p:cNvPr id="6" name="Text 4"/>
          <p:cNvSpPr txBox="1"/>
          <p:nvPr/>
        </p:nvSpPr>
        <p:spPr>
          <a:xfrm>
            <a:off x="548640" y="3886200"/>
            <a:ext cx="3657600" cy="320040"/>
          </a:xfrm>
          <a:prstGeom prst="rect">
            <a:avLst/>
          </a:prstGeom>
          <a:noFill/>
          <a:ln/>
        </p:spPr>
        <p:txBody>
          <a:bodyPr wrap="square" lIns="0" tIns="0" rIns="0" bIns="0" rtlCol="0" anchor="t"/>
          <a:lstStyle/>
          <a:p>
            <a:pPr indent="0" marL="0">
              <a:buNone/>
            </a:pPr>
            <a:r>
              <a:rPr lang="en-US" sz="1300" b="1" dirty="0">
                <a:solidFill>
                  <a:srgbClr val="9AA1AD"/>
                </a:solidFill>
                <a:latin typeface="Courier New" pitchFamily="34" charset="0"/>
                <a:ea typeface="Courier New" pitchFamily="34" charset="-122"/>
                <a:cs typeface="Courier New" pitchFamily="34" charset="-120"/>
              </a:rPr>
              <a:t>WATCH FOR</a:t>
            </a:r>
            <a:endParaRPr lang="en-US" sz="1300" dirty="0"/>
          </a:p>
        </p:txBody>
      </p:sp>
      <p:sp>
        <p:nvSpPr>
          <p:cNvPr id="7" name="Shape 5"/>
          <p:cNvSpPr/>
          <p:nvPr/>
        </p:nvSpPr>
        <p:spPr>
          <a:xfrm>
            <a:off x="548640" y="4480560"/>
            <a:ext cx="164592" cy="164592"/>
          </a:xfrm>
          <a:prstGeom prst="ellipse">
            <a:avLst/>
          </a:prstGeom>
          <a:solidFill>
            <a:srgbClr val="E5484D"/>
          </a:solidFill>
          <a:ln w="12700">
            <a:solidFill>
              <a:srgbClr val="E5484D"/>
            </a:solidFill>
            <a:prstDash val="solid"/>
          </a:ln>
        </p:spPr>
      </p:sp>
      <p:sp>
        <p:nvSpPr>
          <p:cNvPr id="8" name="Text 6"/>
          <p:cNvSpPr txBox="1"/>
          <p:nvPr/>
        </p:nvSpPr>
        <p:spPr>
          <a:xfrm>
            <a:off x="914400" y="4389120"/>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Its five assumptions: valid tokens, permissions, clean input, ranges, use-once state</a:t>
            </a:r>
            <a:endParaRPr lang="en-US" sz="2000" dirty="0"/>
          </a:p>
        </p:txBody>
      </p:sp>
      <p:sp>
        <p:nvSpPr>
          <p:cNvPr id="9" name="Shape 7"/>
          <p:cNvSpPr/>
          <p:nvPr/>
        </p:nvSpPr>
        <p:spPr>
          <a:xfrm>
            <a:off x="548640" y="5047488"/>
            <a:ext cx="164592" cy="164592"/>
          </a:xfrm>
          <a:prstGeom prst="ellipse">
            <a:avLst/>
          </a:prstGeom>
          <a:solidFill>
            <a:srgbClr val="E5484D"/>
          </a:solidFill>
          <a:ln w="12700">
            <a:solidFill>
              <a:srgbClr val="E5484D"/>
            </a:solidFill>
            <a:prstDash val="solid"/>
          </a:ln>
        </p:spPr>
      </p:sp>
      <p:sp>
        <p:nvSpPr>
          <p:cNvPr id="10" name="Text 8"/>
          <p:cNvSpPr txBox="1"/>
          <p:nvPr/>
        </p:nvSpPr>
        <p:spPr>
          <a:xfrm>
            <a:off x="914400" y="4956048"/>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One full case: auth, payload, and what it says a correct API returns</a:t>
            </a:r>
            <a:endParaRPr lang="en-US" sz="2000" dirty="0"/>
          </a:p>
        </p:txBody>
      </p:sp>
      <p:sp>
        <p:nvSpPr>
          <p:cNvPr id="11" name="Shape 9"/>
          <p:cNvSpPr/>
          <p:nvPr/>
        </p:nvSpPr>
        <p:spPr>
          <a:xfrm>
            <a:off x="548640" y="5614416"/>
            <a:ext cx="164592" cy="164592"/>
          </a:xfrm>
          <a:prstGeom prst="ellipse">
            <a:avLst/>
          </a:prstGeom>
          <a:solidFill>
            <a:srgbClr val="E5484D"/>
          </a:solidFill>
          <a:ln w="12700">
            <a:solidFill>
              <a:srgbClr val="E5484D"/>
            </a:solidFill>
            <a:prstDash val="solid"/>
          </a:ln>
        </p:spPr>
      </p:sp>
      <p:sp>
        <p:nvSpPr>
          <p:cNvPr id="12" name="Text 10"/>
          <p:cNvSpPr txBox="1"/>
          <p:nvPr/>
        </p:nvSpPr>
        <p:spPr>
          <a:xfrm>
            <a:off x="914400" y="5522976"/>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Generated last night: 91 seconds on a laptop, output unedited</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61B"/>
        </a:solidFill>
      </p:bgPr>
    </p:bg>
    <p:spTree>
      <p:nvGrpSpPr>
        <p:cNvPr id="1" name=""/>
        <p:cNvGrpSpPr/>
        <p:nvPr/>
      </p:nvGrpSpPr>
      <p:grpSpPr>
        <a:xfrm>
          <a:off x="0" y="0"/>
          <a:ext cx="0" cy="0"/>
          <a:chOff x="0" y="0"/>
          <a:chExt cx="0" cy="0"/>
        </a:xfrm>
      </p:grpSpPr>
      <p:sp>
        <p:nvSpPr>
          <p:cNvPr id="2" name="Text 0"/>
          <p:cNvSpPr txBox="1"/>
          <p:nvPr/>
        </p:nvSpPr>
        <p:spPr>
          <a:xfrm>
            <a:off x="548640" y="548640"/>
            <a:ext cx="3657600" cy="365760"/>
          </a:xfrm>
          <a:prstGeom prst="rect">
            <a:avLst/>
          </a:prstGeom>
          <a:noFill/>
          <a:ln/>
        </p:spPr>
        <p:txBody>
          <a:bodyPr wrap="square" lIns="0" tIns="0" rIns="0" bIns="0" rtlCol="0" anchor="t"/>
          <a:lstStyle/>
          <a:p>
            <a:pPr indent="0" marL="0">
              <a:buNone/>
            </a:pPr>
            <a:r>
              <a:rPr lang="en-US" sz="1600" b="1" dirty="0">
                <a:solidFill>
                  <a:srgbClr val="E5484D"/>
                </a:solidFill>
                <a:latin typeface="Courier New" pitchFamily="34" charset="0"/>
                <a:ea typeface="Courier New" pitchFamily="34" charset="-122"/>
                <a:cs typeface="Courier New" pitchFamily="34" charset="-120"/>
              </a:rPr>
              <a:t>DEMO 2 / 4</a:t>
            </a:r>
            <a:endParaRPr lang="en-US" sz="1600" dirty="0"/>
          </a:p>
        </p:txBody>
      </p:sp>
      <p:sp>
        <p:nvSpPr>
          <p:cNvPr id="3" name="Text 1"/>
          <p:cNvSpPr txBox="1"/>
          <p:nvPr/>
        </p:nvSpPr>
        <p:spPr>
          <a:xfrm>
            <a:off x="548640" y="1097280"/>
            <a:ext cx="10972800" cy="914400"/>
          </a:xfrm>
          <a:prstGeom prst="rect">
            <a:avLst/>
          </a:prstGeom>
          <a:noFill/>
          <a:ln/>
        </p:spPr>
        <p:txBody>
          <a:bodyPr wrap="square" lIns="0" tIns="0" rIns="0" bIns="0" rtlCol="0" anchor="t"/>
          <a:lstStyle/>
          <a:p>
            <a:pPr indent="0" marL="0">
              <a:buNone/>
            </a:pPr>
            <a:r>
              <a:rPr lang="en-US" sz="4800" b="1" dirty="0">
                <a:solidFill>
                  <a:srgbClr val="FFFFFF"/>
                </a:solidFill>
                <a:latin typeface="Arial" pitchFamily="34" charset="0"/>
                <a:ea typeface="Arial" pitchFamily="34" charset="-122"/>
                <a:cs typeface="Arial" pitchFamily="34" charset="-120"/>
              </a:rPr>
              <a:t>Run every guess</a:t>
            </a:r>
            <a:endParaRPr lang="en-US" sz="4800" dirty="0"/>
          </a:p>
        </p:txBody>
      </p:sp>
      <p:sp>
        <p:nvSpPr>
          <p:cNvPr id="4" name="Shape 2"/>
          <p:cNvSpPr/>
          <p:nvPr/>
        </p:nvSpPr>
        <p:spPr>
          <a:xfrm>
            <a:off x="548640" y="2423160"/>
            <a:ext cx="11091672" cy="960120"/>
          </a:xfrm>
          <a:prstGeom prst="roundRect">
            <a:avLst>
              <a:gd name="adj" fmla="val 11429"/>
            </a:avLst>
          </a:prstGeom>
          <a:solidFill>
            <a:srgbClr val="20242C"/>
          </a:solidFill>
          <a:ln w="12700">
            <a:solidFill>
              <a:srgbClr val="20242C"/>
            </a:solidFill>
            <a:prstDash val="solid"/>
          </a:ln>
        </p:spPr>
      </p:sp>
      <p:sp>
        <p:nvSpPr>
          <p:cNvPr id="5" name="Text 3"/>
          <p:cNvSpPr txBox="1"/>
          <p:nvPr/>
        </p:nvSpPr>
        <p:spPr>
          <a:xfrm>
            <a:off x="914400" y="2423160"/>
            <a:ext cx="10424160" cy="960120"/>
          </a:xfrm>
          <a:prstGeom prst="rect">
            <a:avLst/>
          </a:prstGeom>
          <a:noFill/>
          <a:ln/>
        </p:spPr>
        <p:txBody>
          <a:bodyPr wrap="square" lIns="0" tIns="0" rIns="0" bIns="0" rtlCol="0" anchor="ctr"/>
          <a:lstStyle/>
          <a:p>
            <a:pPr indent="0" marL="0">
              <a:buNone/>
            </a:pPr>
            <a:r>
              <a:rPr lang="en-US" sz="2400" b="1" dirty="0">
                <a:solidFill>
                  <a:srgbClr val="30A46C"/>
                </a:solidFill>
                <a:latin typeface="Courier New" pitchFamily="34" charset="0"/>
                <a:ea typeface="Courier New" pitchFamily="34" charset="-122"/>
                <a:cs typeface="Courier New" pitchFamily="34" charset="-120"/>
              </a:rPr>
              <a:t>$ </a:t>
            </a:r>
            <a:pPr indent="0" marL="0">
              <a:buNone/>
            </a:pPr>
            <a:r>
              <a:rPr lang="en-US" sz="2400" dirty="0">
                <a:solidFill>
                  <a:srgbClr val="FFFFFF"/>
                </a:solidFill>
                <a:latin typeface="Courier New" pitchFamily="34" charset="0"/>
                <a:ea typeface="Courier New" pitchFamily="34" charset="-122"/>
                <a:cs typeface="Courier New" pitchFamily="34" charset="-120"/>
              </a:rPr>
              <a:t>python -m tests.runner --cases ai/run_prompt2.json</a:t>
            </a:r>
            <a:endParaRPr lang="en-US" sz="2400" dirty="0"/>
          </a:p>
        </p:txBody>
      </p:sp>
      <p:sp>
        <p:nvSpPr>
          <p:cNvPr id="6" name="Text 4"/>
          <p:cNvSpPr txBox="1"/>
          <p:nvPr/>
        </p:nvSpPr>
        <p:spPr>
          <a:xfrm>
            <a:off x="548640" y="3886200"/>
            <a:ext cx="3657600" cy="320040"/>
          </a:xfrm>
          <a:prstGeom prst="rect">
            <a:avLst/>
          </a:prstGeom>
          <a:noFill/>
          <a:ln/>
        </p:spPr>
        <p:txBody>
          <a:bodyPr wrap="square" lIns="0" tIns="0" rIns="0" bIns="0" rtlCol="0" anchor="t"/>
          <a:lstStyle/>
          <a:p>
            <a:pPr indent="0" marL="0">
              <a:buNone/>
            </a:pPr>
            <a:r>
              <a:rPr lang="en-US" sz="1300" b="1" dirty="0">
                <a:solidFill>
                  <a:srgbClr val="9AA1AD"/>
                </a:solidFill>
                <a:latin typeface="Courier New" pitchFamily="34" charset="0"/>
                <a:ea typeface="Courier New" pitchFamily="34" charset="-122"/>
                <a:cs typeface="Courier New" pitchFamily="34" charset="-120"/>
              </a:rPr>
              <a:t>WATCH FOR</a:t>
            </a:r>
            <a:endParaRPr lang="en-US" sz="1300" dirty="0"/>
          </a:p>
        </p:txBody>
      </p:sp>
      <p:sp>
        <p:nvSpPr>
          <p:cNvPr id="7" name="Shape 5"/>
          <p:cNvSpPr/>
          <p:nvPr/>
        </p:nvSpPr>
        <p:spPr>
          <a:xfrm>
            <a:off x="548640" y="4480560"/>
            <a:ext cx="164592" cy="164592"/>
          </a:xfrm>
          <a:prstGeom prst="ellipse">
            <a:avLst/>
          </a:prstGeom>
          <a:solidFill>
            <a:srgbClr val="E5484D"/>
          </a:solidFill>
          <a:ln w="12700">
            <a:solidFill>
              <a:srgbClr val="E5484D"/>
            </a:solidFill>
            <a:prstDash val="solid"/>
          </a:ln>
        </p:spPr>
      </p:sp>
      <p:sp>
        <p:nvSpPr>
          <p:cNvPr id="8" name="Text 6"/>
          <p:cNvSpPr txBox="1"/>
          <p:nvPr/>
        </p:nvSpPr>
        <p:spPr>
          <a:xfrm>
            <a:off x="914400" y="4389120"/>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Real bugs: TC-002 bad token → 500 · TC-004 forged admin · TC-005 IDOR</a:t>
            </a:r>
            <a:endParaRPr lang="en-US" sz="2000" dirty="0"/>
          </a:p>
        </p:txBody>
      </p:sp>
      <p:sp>
        <p:nvSpPr>
          <p:cNvPr id="9" name="Shape 7"/>
          <p:cNvSpPr/>
          <p:nvPr/>
        </p:nvSpPr>
        <p:spPr>
          <a:xfrm>
            <a:off x="548640" y="5047488"/>
            <a:ext cx="164592" cy="164592"/>
          </a:xfrm>
          <a:prstGeom prst="ellipse">
            <a:avLst/>
          </a:prstGeom>
          <a:solidFill>
            <a:srgbClr val="E5484D"/>
          </a:solidFill>
          <a:ln w="12700">
            <a:solidFill>
              <a:srgbClr val="E5484D"/>
            </a:solidFill>
            <a:prstDash val="solid"/>
          </a:ln>
        </p:spPr>
      </p:sp>
      <p:sp>
        <p:nvSpPr>
          <p:cNvPr id="10" name="Text 8"/>
          <p:cNvSpPr txBox="1"/>
          <p:nvPr/>
        </p:nvSpPr>
        <p:spPr>
          <a:xfrm>
            <a:off x="914400" y="4956048"/>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False alarm: TC-006 expects a 500 as the correct answer to SQL injection</a:t>
            </a:r>
            <a:endParaRPr lang="en-US" sz="2000" dirty="0"/>
          </a:p>
        </p:txBody>
      </p:sp>
      <p:sp>
        <p:nvSpPr>
          <p:cNvPr id="11" name="Shape 9"/>
          <p:cNvSpPr/>
          <p:nvPr/>
        </p:nvSpPr>
        <p:spPr>
          <a:xfrm>
            <a:off x="548640" y="5614416"/>
            <a:ext cx="164592" cy="164592"/>
          </a:xfrm>
          <a:prstGeom prst="ellipse">
            <a:avLst/>
          </a:prstGeom>
          <a:solidFill>
            <a:srgbClr val="E5484D"/>
          </a:solidFill>
          <a:ln w="12700">
            <a:solidFill>
              <a:srgbClr val="E5484D"/>
            </a:solidFill>
            <a:prstDash val="solid"/>
          </a:ln>
        </p:spPr>
      </p:sp>
      <p:sp>
        <p:nvSpPr>
          <p:cNvPr id="12" name="Text 10"/>
          <p:cNvSpPr txBox="1"/>
          <p:nvPr/>
        </p:nvSpPr>
        <p:spPr>
          <a:xfrm>
            <a:off x="914400" y="5522976"/>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False alarm: TC-009 treats the unlimited EARLYBIRD coupon as single-use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61B"/>
        </a:solidFill>
      </p:bgPr>
    </p:bg>
    <p:spTree>
      <p:nvGrpSpPr>
        <p:cNvPr id="1" name=""/>
        <p:cNvGrpSpPr/>
        <p:nvPr/>
      </p:nvGrpSpPr>
      <p:grpSpPr>
        <a:xfrm>
          <a:off x="0" y="0"/>
          <a:ext cx="0" cy="0"/>
          <a:chOff x="0" y="0"/>
          <a:chExt cx="0" cy="0"/>
        </a:xfrm>
      </p:grpSpPr>
      <p:sp>
        <p:nvSpPr>
          <p:cNvPr id="2" name="Text 0"/>
          <p:cNvSpPr txBox="1"/>
          <p:nvPr/>
        </p:nvSpPr>
        <p:spPr>
          <a:xfrm>
            <a:off x="548640" y="548640"/>
            <a:ext cx="3657600" cy="365760"/>
          </a:xfrm>
          <a:prstGeom prst="rect">
            <a:avLst/>
          </a:prstGeom>
          <a:noFill/>
          <a:ln/>
        </p:spPr>
        <p:txBody>
          <a:bodyPr wrap="square" lIns="0" tIns="0" rIns="0" bIns="0" rtlCol="0" anchor="t"/>
          <a:lstStyle/>
          <a:p>
            <a:pPr indent="0" marL="0">
              <a:buNone/>
            </a:pPr>
            <a:r>
              <a:rPr lang="en-US" sz="1600" b="1" dirty="0">
                <a:solidFill>
                  <a:srgbClr val="E5484D"/>
                </a:solidFill>
                <a:latin typeface="Courier New" pitchFamily="34" charset="0"/>
                <a:ea typeface="Courier New" pitchFamily="34" charset="-122"/>
                <a:cs typeface="Courier New" pitchFamily="34" charset="-120"/>
              </a:rPr>
              <a:t>DEMO 3 / 4</a:t>
            </a:r>
            <a:endParaRPr lang="en-US" sz="1600" dirty="0"/>
          </a:p>
        </p:txBody>
      </p:sp>
      <p:sp>
        <p:nvSpPr>
          <p:cNvPr id="3" name="Text 1"/>
          <p:cNvSpPr txBox="1"/>
          <p:nvPr/>
        </p:nvSpPr>
        <p:spPr>
          <a:xfrm>
            <a:off x="548640" y="1097280"/>
            <a:ext cx="10972800" cy="914400"/>
          </a:xfrm>
          <a:prstGeom prst="rect">
            <a:avLst/>
          </a:prstGeom>
          <a:noFill/>
          <a:ln/>
        </p:spPr>
        <p:txBody>
          <a:bodyPr wrap="square" lIns="0" tIns="0" rIns="0" bIns="0" rtlCol="0" anchor="t"/>
          <a:lstStyle/>
          <a:p>
            <a:pPr indent="0" marL="0">
              <a:buNone/>
            </a:pPr>
            <a:r>
              <a:rPr lang="en-US" sz="4800" b="1" dirty="0">
                <a:solidFill>
                  <a:srgbClr val="FFFFFF"/>
                </a:solidFill>
                <a:latin typeface="Arial" pitchFamily="34" charset="0"/>
                <a:ea typeface="Arial" pitchFamily="34" charset="-122"/>
                <a:cs typeface="Arial" pitchFamily="34" charset="-120"/>
              </a:rPr>
              <a:t>Chain two small bugs</a:t>
            </a:r>
            <a:endParaRPr lang="en-US" sz="4800" dirty="0"/>
          </a:p>
        </p:txBody>
      </p:sp>
      <p:sp>
        <p:nvSpPr>
          <p:cNvPr id="4" name="Shape 2"/>
          <p:cNvSpPr/>
          <p:nvPr/>
        </p:nvSpPr>
        <p:spPr>
          <a:xfrm>
            <a:off x="548640" y="2423160"/>
            <a:ext cx="11091672" cy="960120"/>
          </a:xfrm>
          <a:prstGeom prst="roundRect">
            <a:avLst>
              <a:gd name="adj" fmla="val 11429"/>
            </a:avLst>
          </a:prstGeom>
          <a:solidFill>
            <a:srgbClr val="20242C"/>
          </a:solidFill>
          <a:ln w="12700">
            <a:solidFill>
              <a:srgbClr val="20242C"/>
            </a:solidFill>
            <a:prstDash val="solid"/>
          </a:ln>
        </p:spPr>
      </p:sp>
      <p:sp>
        <p:nvSpPr>
          <p:cNvPr id="5" name="Text 3"/>
          <p:cNvSpPr txBox="1"/>
          <p:nvPr/>
        </p:nvSpPr>
        <p:spPr>
          <a:xfrm>
            <a:off x="914400" y="2423160"/>
            <a:ext cx="10424160" cy="960120"/>
          </a:xfrm>
          <a:prstGeom prst="rect">
            <a:avLst/>
          </a:prstGeom>
          <a:noFill/>
          <a:ln/>
        </p:spPr>
        <p:txBody>
          <a:bodyPr wrap="square" lIns="0" tIns="0" rIns="0" bIns="0" rtlCol="0" anchor="ctr"/>
          <a:lstStyle/>
          <a:p>
            <a:pPr indent="0" marL="0">
              <a:buNone/>
            </a:pPr>
            <a:r>
              <a:rPr lang="en-US" sz="2400" b="1" dirty="0">
                <a:solidFill>
                  <a:srgbClr val="30A46C"/>
                </a:solidFill>
                <a:latin typeface="Courier New" pitchFamily="34" charset="0"/>
                <a:ea typeface="Courier New" pitchFamily="34" charset="-122"/>
                <a:cs typeface="Courier New" pitchFamily="34" charset="-120"/>
              </a:rPr>
              <a:t>$ </a:t>
            </a:r>
            <a:pPr indent="0" marL="0">
              <a:buNone/>
            </a:pPr>
            <a:r>
              <a:rPr lang="en-US" sz="2400" dirty="0">
                <a:solidFill>
                  <a:srgbClr val="FFFFFF"/>
                </a:solidFill>
                <a:latin typeface="Courier New" pitchFamily="34" charset="0"/>
                <a:ea typeface="Courier New" pitchFamily="34" charset="-122"/>
                <a:cs typeface="Courier New" pitchFamily="34" charset="-120"/>
              </a:rPr>
              <a:t>python demo/money_loop.py</a:t>
            </a:r>
            <a:endParaRPr lang="en-US" sz="2400" dirty="0"/>
          </a:p>
        </p:txBody>
      </p:sp>
      <p:sp>
        <p:nvSpPr>
          <p:cNvPr id="6" name="Text 4"/>
          <p:cNvSpPr txBox="1"/>
          <p:nvPr/>
        </p:nvSpPr>
        <p:spPr>
          <a:xfrm>
            <a:off x="548640" y="3886200"/>
            <a:ext cx="3657600" cy="320040"/>
          </a:xfrm>
          <a:prstGeom prst="rect">
            <a:avLst/>
          </a:prstGeom>
          <a:noFill/>
          <a:ln/>
        </p:spPr>
        <p:txBody>
          <a:bodyPr wrap="square" lIns="0" tIns="0" rIns="0" bIns="0" rtlCol="0" anchor="t"/>
          <a:lstStyle/>
          <a:p>
            <a:pPr indent="0" marL="0">
              <a:buNone/>
            </a:pPr>
            <a:r>
              <a:rPr lang="en-US" sz="1300" b="1" dirty="0">
                <a:solidFill>
                  <a:srgbClr val="9AA1AD"/>
                </a:solidFill>
                <a:latin typeface="Courier New" pitchFamily="34" charset="0"/>
                <a:ea typeface="Courier New" pitchFamily="34" charset="-122"/>
                <a:cs typeface="Courier New" pitchFamily="34" charset="-120"/>
              </a:rPr>
              <a:t>WATCH FOR</a:t>
            </a:r>
            <a:endParaRPr lang="en-US" sz="1300" dirty="0"/>
          </a:p>
        </p:txBody>
      </p:sp>
      <p:sp>
        <p:nvSpPr>
          <p:cNvPr id="7" name="Shape 5"/>
          <p:cNvSpPr/>
          <p:nvPr/>
        </p:nvSpPr>
        <p:spPr>
          <a:xfrm>
            <a:off x="548640" y="4480560"/>
            <a:ext cx="164592" cy="164592"/>
          </a:xfrm>
          <a:prstGeom prst="ellipse">
            <a:avLst/>
          </a:prstGeom>
          <a:solidFill>
            <a:srgbClr val="E5484D"/>
          </a:solidFill>
          <a:ln w="12700">
            <a:solidFill>
              <a:srgbClr val="E5484D"/>
            </a:solidFill>
            <a:prstDash val="solid"/>
          </a:ln>
        </p:spPr>
      </p:sp>
      <p:sp>
        <p:nvSpPr>
          <p:cNvPr id="8" name="Text 6"/>
          <p:cNvSpPr txBox="1"/>
          <p:nvPr/>
        </p:nvSpPr>
        <p:spPr>
          <a:xfrm>
            <a:off x="914400" y="4389120"/>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TC-012: the single-use coupon accepted twice</a:t>
            </a:r>
            <a:endParaRPr lang="en-US" sz="2000" dirty="0"/>
          </a:p>
        </p:txBody>
      </p:sp>
      <p:sp>
        <p:nvSpPr>
          <p:cNvPr id="9" name="Shape 7"/>
          <p:cNvSpPr/>
          <p:nvPr/>
        </p:nvSpPr>
        <p:spPr>
          <a:xfrm>
            <a:off x="548640" y="5047488"/>
            <a:ext cx="164592" cy="164592"/>
          </a:xfrm>
          <a:prstGeom prst="ellipse">
            <a:avLst/>
          </a:prstGeom>
          <a:solidFill>
            <a:srgbClr val="E5484D"/>
          </a:solidFill>
          <a:ln w="12700">
            <a:solidFill>
              <a:srgbClr val="E5484D"/>
            </a:solidFill>
            <a:prstDash val="solid"/>
          </a:ln>
        </p:spPr>
      </p:sp>
      <p:sp>
        <p:nvSpPr>
          <p:cNvPr id="10" name="Text 8"/>
          <p:cNvSpPr txBox="1"/>
          <p:nvPr/>
        </p:nvSpPr>
        <p:spPr>
          <a:xfrm>
            <a:off x="914400" y="4956048"/>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credits_earned uses the list price, not the amount paid</a:t>
            </a:r>
            <a:endParaRPr lang="en-US" sz="2000" dirty="0"/>
          </a:p>
        </p:txBody>
      </p:sp>
      <p:sp>
        <p:nvSpPr>
          <p:cNvPr id="11" name="Shape 9"/>
          <p:cNvSpPr/>
          <p:nvPr/>
        </p:nvSpPr>
        <p:spPr>
          <a:xfrm>
            <a:off x="548640" y="5614416"/>
            <a:ext cx="164592" cy="164592"/>
          </a:xfrm>
          <a:prstGeom prst="ellipse">
            <a:avLst/>
          </a:prstGeom>
          <a:solidFill>
            <a:srgbClr val="E5484D"/>
          </a:solidFill>
          <a:ln w="12700">
            <a:solidFill>
              <a:srgbClr val="E5484D"/>
            </a:solidFill>
            <a:prstDash val="solid"/>
          </a:ln>
        </p:spPr>
      </p:sp>
      <p:sp>
        <p:nvSpPr>
          <p:cNvPr id="12" name="Text 10"/>
          <p:cNvSpPr txBox="1"/>
          <p:nvPr/>
        </p:nvSpPr>
        <p:spPr>
          <a:xfrm>
            <a:off x="914400" y="5522976"/>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Ask the room to guess the final balance first</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155680" cy="731520"/>
          </a:xfrm>
          <a:prstGeom prst="rect">
            <a:avLst/>
          </a:prstGeom>
          <a:noFill/>
          <a:ln/>
        </p:spPr>
        <p:txBody>
          <a:bodyPr wrap="square" lIns="0" tIns="0" rIns="0" bIns="0" rtlCol="0" anchor="t"/>
          <a:lstStyle/>
          <a:p>
            <a:pPr indent="0" marL="0">
              <a:buNone/>
            </a:pPr>
            <a:r>
              <a:rPr lang="en-US" sz="3800" b="1" dirty="0">
                <a:solidFill>
                  <a:srgbClr val="1C1F26"/>
                </a:solidFill>
                <a:latin typeface="Arial" pitchFamily="34" charset="0"/>
                <a:ea typeface="Arial" pitchFamily="34" charset="-122"/>
                <a:cs typeface="Arial" pitchFamily="34" charset="-120"/>
              </a:rPr>
              <a:t>Nothing was invalid. The balance still grew.</a:t>
            </a:r>
            <a:endParaRPr lang="en-US" sz="3800" dirty="0"/>
          </a:p>
        </p:txBody>
      </p:sp>
      <p:graphicFrame>
        <p:nvGraphicFramePr>
          <p:cNvPr id="3" name="Chart 0" descr=""/>
          <p:cNvGraphicFramePr/>
          <p:nvPr/>
        </p:nvGraphicFramePr>
        <p:xfrm>
          <a:off x="548640" y="141732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0" y="1554480"/>
            <a:ext cx="3413455" cy="868680"/>
          </a:xfrm>
          <a:prstGeom prst="rect">
            <a:avLst/>
          </a:prstGeom>
          <a:noFill/>
          <a:ln/>
        </p:spPr>
        <p:txBody>
          <a:bodyPr wrap="square" lIns="0" tIns="0" rIns="0" bIns="0" rtlCol="0" anchor="t"/>
          <a:lstStyle/>
          <a:p>
            <a:pPr indent="0" marL="0">
              <a:buNone/>
            </a:pPr>
            <a:r>
              <a:rPr lang="en-US" sz="5400" b="1" dirty="0">
                <a:solidFill>
                  <a:srgbClr val="1C1F26"/>
                </a:solidFill>
                <a:latin typeface="Arial" pitchFamily="34" charset="0"/>
                <a:ea typeface="Arial" pitchFamily="34" charset="-122"/>
                <a:cs typeface="Arial" pitchFamily="34" charset="-120"/>
              </a:rPr>
              <a:t>0.00</a:t>
            </a:r>
            <a:endParaRPr lang="en-US" sz="5400" dirty="0"/>
          </a:p>
        </p:txBody>
      </p:sp>
      <p:sp>
        <p:nvSpPr>
          <p:cNvPr id="5" name="Text 2"/>
          <p:cNvSpPr txBox="1"/>
          <p:nvPr/>
        </p:nvSpPr>
        <p:spPr>
          <a:xfrm>
            <a:off x="8229600" y="2423160"/>
            <a:ext cx="3413455" cy="365760"/>
          </a:xfrm>
          <a:prstGeom prst="rect">
            <a:avLst/>
          </a:prstGeom>
          <a:noFill/>
          <a:ln/>
        </p:spPr>
        <p:txBody>
          <a:bodyPr wrap="square" lIns="0" tIns="0" rIns="0" bIns="0" rtlCol="0" anchor="t"/>
          <a:lstStyle/>
          <a:p>
            <a:pPr indent="0" marL="0">
              <a:buNone/>
            </a:pPr>
            <a:r>
              <a:rPr lang="en-US" sz="1600" dirty="0">
                <a:solidFill>
                  <a:srgbClr val="5B616E"/>
                </a:solidFill>
                <a:latin typeface="Arial" pitchFamily="34" charset="0"/>
                <a:ea typeface="Arial" pitchFamily="34" charset="-122"/>
                <a:cs typeface="Arial" pitchFamily="34" charset="-120"/>
              </a:rPr>
              <a:t>paid on every order</a:t>
            </a:r>
            <a:endParaRPr lang="en-US" sz="1600" dirty="0"/>
          </a:p>
        </p:txBody>
      </p:sp>
      <p:sp>
        <p:nvSpPr>
          <p:cNvPr id="6" name="Text 3"/>
          <p:cNvSpPr txBox="1"/>
          <p:nvPr/>
        </p:nvSpPr>
        <p:spPr>
          <a:xfrm>
            <a:off x="8229600" y="3154680"/>
            <a:ext cx="3413455" cy="868680"/>
          </a:xfrm>
          <a:prstGeom prst="rect">
            <a:avLst/>
          </a:prstGeom>
          <a:noFill/>
          <a:ln/>
        </p:spPr>
        <p:txBody>
          <a:bodyPr wrap="square" lIns="0" tIns="0" rIns="0" bIns="0" rtlCol="0" anchor="t"/>
          <a:lstStyle/>
          <a:p>
            <a:pPr indent="0" marL="0">
              <a:buNone/>
            </a:pPr>
            <a:r>
              <a:rPr lang="en-US" sz="5400" b="1" dirty="0">
                <a:solidFill>
                  <a:srgbClr val="30A46C"/>
                </a:solidFill>
                <a:latin typeface="Arial" pitchFamily="34" charset="0"/>
                <a:ea typeface="Arial" pitchFamily="34" charset="-122"/>
                <a:cs typeface="Arial" pitchFamily="34" charset="-120"/>
              </a:rPr>
              <a:t>5 × 201</a:t>
            </a:r>
            <a:endParaRPr lang="en-US" sz="5400" dirty="0"/>
          </a:p>
        </p:txBody>
      </p:sp>
      <p:sp>
        <p:nvSpPr>
          <p:cNvPr id="7" name="Text 4"/>
          <p:cNvSpPr txBox="1"/>
          <p:nvPr/>
        </p:nvSpPr>
        <p:spPr>
          <a:xfrm>
            <a:off x="8229600" y="4023360"/>
            <a:ext cx="3413455" cy="365760"/>
          </a:xfrm>
          <a:prstGeom prst="rect">
            <a:avLst/>
          </a:prstGeom>
          <a:noFill/>
          <a:ln/>
        </p:spPr>
        <p:txBody>
          <a:bodyPr wrap="square" lIns="0" tIns="0" rIns="0" bIns="0" rtlCol="0" anchor="t"/>
          <a:lstStyle/>
          <a:p>
            <a:pPr indent="0" marL="0">
              <a:buNone/>
            </a:pPr>
            <a:r>
              <a:rPr lang="en-US" sz="1600" dirty="0">
                <a:solidFill>
                  <a:srgbClr val="5B616E"/>
                </a:solidFill>
                <a:latin typeface="Arial" pitchFamily="34" charset="0"/>
                <a:ea typeface="Arial" pitchFamily="34" charset="-122"/>
                <a:cs typeface="Arial" pitchFamily="34" charset="-120"/>
              </a:rPr>
              <a:t>every request accepted</a:t>
            </a:r>
            <a:endParaRPr lang="en-US" sz="1600" dirty="0"/>
          </a:p>
        </p:txBody>
      </p:sp>
      <p:sp>
        <p:nvSpPr>
          <p:cNvPr id="8" name="Text 5"/>
          <p:cNvSpPr txBox="1"/>
          <p:nvPr/>
        </p:nvSpPr>
        <p:spPr>
          <a:xfrm>
            <a:off x="8229600" y="4754880"/>
            <a:ext cx="3413455" cy="868680"/>
          </a:xfrm>
          <a:prstGeom prst="rect">
            <a:avLst/>
          </a:prstGeom>
          <a:noFill/>
          <a:ln/>
        </p:spPr>
        <p:txBody>
          <a:bodyPr wrap="square" lIns="0" tIns="0" rIns="0" bIns="0" rtlCol="0" anchor="t"/>
          <a:lstStyle/>
          <a:p>
            <a:pPr indent="0" marL="0">
              <a:buNone/>
            </a:pPr>
            <a:r>
              <a:rPr lang="en-US" sz="5400" b="1" dirty="0">
                <a:solidFill>
                  <a:srgbClr val="E5484D"/>
                </a:solidFill>
                <a:latin typeface="Arial" pitchFamily="34" charset="0"/>
                <a:ea typeface="Arial" pitchFamily="34" charset="-122"/>
                <a:cs typeface="Arial" pitchFamily="34" charset="-120"/>
              </a:rPr>
              <a:t>+9,000</a:t>
            </a:r>
            <a:endParaRPr lang="en-US" sz="5400" dirty="0"/>
          </a:p>
        </p:txBody>
      </p:sp>
      <p:sp>
        <p:nvSpPr>
          <p:cNvPr id="9" name="Text 6"/>
          <p:cNvSpPr txBox="1"/>
          <p:nvPr/>
        </p:nvSpPr>
        <p:spPr>
          <a:xfrm>
            <a:off x="8229600" y="5623560"/>
            <a:ext cx="3413455" cy="365760"/>
          </a:xfrm>
          <a:prstGeom prst="rect">
            <a:avLst/>
          </a:prstGeom>
          <a:noFill/>
          <a:ln/>
        </p:spPr>
        <p:txBody>
          <a:bodyPr wrap="square" lIns="0" tIns="0" rIns="0" bIns="0" rtlCol="0" anchor="t"/>
          <a:lstStyle/>
          <a:p>
            <a:pPr indent="0" marL="0">
              <a:buNone/>
            </a:pPr>
            <a:r>
              <a:rPr lang="en-US" sz="1600" dirty="0">
                <a:solidFill>
                  <a:srgbClr val="5B616E"/>
                </a:solidFill>
                <a:latin typeface="Arial" pitchFamily="34" charset="0"/>
                <a:ea typeface="Arial" pitchFamily="34" charset="-122"/>
                <a:cs typeface="Arial" pitchFamily="34" charset="-120"/>
              </a:rPr>
              <a:t>credits created from nothing</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61B"/>
        </a:solidFill>
      </p:bgPr>
    </p:bg>
    <p:spTree>
      <p:nvGrpSpPr>
        <p:cNvPr id="1" name=""/>
        <p:cNvGrpSpPr/>
        <p:nvPr/>
      </p:nvGrpSpPr>
      <p:grpSpPr>
        <a:xfrm>
          <a:off x="0" y="0"/>
          <a:ext cx="0" cy="0"/>
          <a:chOff x="0" y="0"/>
          <a:chExt cx="0" cy="0"/>
        </a:xfrm>
      </p:grpSpPr>
      <p:sp>
        <p:nvSpPr>
          <p:cNvPr id="2" name="Text 0"/>
          <p:cNvSpPr txBox="1"/>
          <p:nvPr/>
        </p:nvSpPr>
        <p:spPr>
          <a:xfrm>
            <a:off x="548640" y="548640"/>
            <a:ext cx="3657600" cy="365760"/>
          </a:xfrm>
          <a:prstGeom prst="rect">
            <a:avLst/>
          </a:prstGeom>
          <a:noFill/>
          <a:ln/>
        </p:spPr>
        <p:txBody>
          <a:bodyPr wrap="square" lIns="0" tIns="0" rIns="0" bIns="0" rtlCol="0" anchor="t"/>
          <a:lstStyle/>
          <a:p>
            <a:pPr indent="0" marL="0">
              <a:buNone/>
            </a:pPr>
            <a:r>
              <a:rPr lang="en-US" sz="1600" b="1" dirty="0">
                <a:solidFill>
                  <a:srgbClr val="E5484D"/>
                </a:solidFill>
                <a:latin typeface="Courier New" pitchFamily="34" charset="0"/>
                <a:ea typeface="Courier New" pitchFamily="34" charset="-122"/>
                <a:cs typeface="Courier New" pitchFamily="34" charset="-120"/>
              </a:rPr>
              <a:t>DEMO 4 / 4</a:t>
            </a:r>
            <a:endParaRPr lang="en-US" sz="1600" dirty="0"/>
          </a:p>
        </p:txBody>
      </p:sp>
      <p:sp>
        <p:nvSpPr>
          <p:cNvPr id="3" name="Text 1"/>
          <p:cNvSpPr txBox="1"/>
          <p:nvPr/>
        </p:nvSpPr>
        <p:spPr>
          <a:xfrm>
            <a:off x="548640" y="1097280"/>
            <a:ext cx="10972800" cy="914400"/>
          </a:xfrm>
          <a:prstGeom prst="rect">
            <a:avLst/>
          </a:prstGeom>
          <a:noFill/>
          <a:ln/>
        </p:spPr>
        <p:txBody>
          <a:bodyPr wrap="square" lIns="0" tIns="0" rIns="0" bIns="0" rtlCol="0" anchor="t"/>
          <a:lstStyle/>
          <a:p>
            <a:pPr indent="0" marL="0">
              <a:buNone/>
            </a:pPr>
            <a:r>
              <a:rPr lang="en-US" sz="4800" b="1" dirty="0">
                <a:solidFill>
                  <a:srgbClr val="FFFFFF"/>
                </a:solidFill>
                <a:latin typeface="Arial" pitchFamily="34" charset="0"/>
                <a:ea typeface="Arial" pitchFamily="34" charset="-122"/>
                <a:cs typeface="Arial" pitchFamily="34" charset="-120"/>
              </a:rPr>
              <a:t>Outside the case set</a:t>
            </a:r>
            <a:endParaRPr lang="en-US" sz="4800" dirty="0"/>
          </a:p>
        </p:txBody>
      </p:sp>
      <p:sp>
        <p:nvSpPr>
          <p:cNvPr id="4" name="Shape 2"/>
          <p:cNvSpPr/>
          <p:nvPr/>
        </p:nvSpPr>
        <p:spPr>
          <a:xfrm>
            <a:off x="548640" y="2423160"/>
            <a:ext cx="11091672" cy="960120"/>
          </a:xfrm>
          <a:prstGeom prst="roundRect">
            <a:avLst>
              <a:gd name="adj" fmla="val 11429"/>
            </a:avLst>
          </a:prstGeom>
          <a:solidFill>
            <a:srgbClr val="20242C"/>
          </a:solidFill>
          <a:ln w="12700">
            <a:solidFill>
              <a:srgbClr val="20242C"/>
            </a:solidFill>
            <a:prstDash val="solid"/>
          </a:ln>
        </p:spPr>
      </p:sp>
      <p:sp>
        <p:nvSpPr>
          <p:cNvPr id="5" name="Text 3"/>
          <p:cNvSpPr txBox="1"/>
          <p:nvPr/>
        </p:nvSpPr>
        <p:spPr>
          <a:xfrm>
            <a:off x="914400" y="2423160"/>
            <a:ext cx="10424160" cy="960120"/>
          </a:xfrm>
          <a:prstGeom prst="rect">
            <a:avLst/>
          </a:prstGeom>
          <a:noFill/>
          <a:ln/>
        </p:spPr>
        <p:txBody>
          <a:bodyPr wrap="square" lIns="0" tIns="0" rIns="0" bIns="0" rtlCol="0" anchor="ctr"/>
          <a:lstStyle/>
          <a:p>
            <a:pPr indent="0" marL="0">
              <a:buNone/>
            </a:pPr>
            <a:r>
              <a:rPr lang="en-US" sz="2400" b="1" dirty="0">
                <a:solidFill>
                  <a:srgbClr val="30A46C"/>
                </a:solidFill>
                <a:latin typeface="Courier New" pitchFamily="34" charset="0"/>
                <a:ea typeface="Courier New" pitchFamily="34" charset="-122"/>
                <a:cs typeface="Courier New" pitchFamily="34" charset="-120"/>
              </a:rPr>
              <a:t>$ </a:t>
            </a:r>
            <a:pPr indent="0" marL="0">
              <a:buNone/>
            </a:pPr>
            <a:r>
              <a:rPr lang="en-US" sz="2400" dirty="0">
                <a:solidFill>
                  <a:srgbClr val="FFFFFF"/>
                </a:solidFill>
                <a:latin typeface="Courier New" pitchFamily="34" charset="0"/>
                <a:ea typeface="Courier New" pitchFamily="34" charset="-122"/>
                <a:cs typeface="Courier New" pitchFamily="34" charset="-120"/>
              </a:rPr>
              <a:t>python demo/race.py</a:t>
            </a:r>
            <a:endParaRPr lang="en-US" sz="2400" dirty="0"/>
          </a:p>
        </p:txBody>
      </p:sp>
      <p:sp>
        <p:nvSpPr>
          <p:cNvPr id="6" name="Text 4"/>
          <p:cNvSpPr txBox="1"/>
          <p:nvPr/>
        </p:nvSpPr>
        <p:spPr>
          <a:xfrm>
            <a:off x="548640" y="3886200"/>
            <a:ext cx="3657600" cy="320040"/>
          </a:xfrm>
          <a:prstGeom prst="rect">
            <a:avLst/>
          </a:prstGeom>
          <a:noFill/>
          <a:ln/>
        </p:spPr>
        <p:txBody>
          <a:bodyPr wrap="square" lIns="0" tIns="0" rIns="0" bIns="0" rtlCol="0" anchor="t"/>
          <a:lstStyle/>
          <a:p>
            <a:pPr indent="0" marL="0">
              <a:buNone/>
            </a:pPr>
            <a:r>
              <a:rPr lang="en-US" sz="1300" b="1" dirty="0">
                <a:solidFill>
                  <a:srgbClr val="9AA1AD"/>
                </a:solidFill>
                <a:latin typeface="Courier New" pitchFamily="34" charset="0"/>
                <a:ea typeface="Courier New" pitchFamily="34" charset="-122"/>
                <a:cs typeface="Courier New" pitchFamily="34" charset="-120"/>
              </a:rPr>
              <a:t>WATCH FOR</a:t>
            </a:r>
            <a:endParaRPr lang="en-US" sz="1300" dirty="0"/>
          </a:p>
        </p:txBody>
      </p:sp>
      <p:sp>
        <p:nvSpPr>
          <p:cNvPr id="7" name="Shape 5"/>
          <p:cNvSpPr/>
          <p:nvPr/>
        </p:nvSpPr>
        <p:spPr>
          <a:xfrm>
            <a:off x="548640" y="4480560"/>
            <a:ext cx="164592" cy="164592"/>
          </a:xfrm>
          <a:prstGeom prst="ellipse">
            <a:avLst/>
          </a:prstGeom>
          <a:solidFill>
            <a:srgbClr val="E5484D"/>
          </a:solidFill>
          <a:ln w="12700">
            <a:solidFill>
              <a:srgbClr val="E5484D"/>
            </a:solidFill>
            <a:prstDash val="solid"/>
          </a:ln>
        </p:spPr>
      </p:sp>
      <p:sp>
        <p:nvSpPr>
          <p:cNvPr id="8" name="Text 6"/>
          <p:cNvSpPr txBox="1"/>
          <p:nvPr/>
        </p:nvSpPr>
        <p:spPr>
          <a:xfrm>
            <a:off x="914400" y="4389120"/>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20 buyers, 5 seats, all 20 orders accepted</a:t>
            </a:r>
            <a:endParaRPr lang="en-US" sz="2000" dirty="0"/>
          </a:p>
        </p:txBody>
      </p:sp>
      <p:sp>
        <p:nvSpPr>
          <p:cNvPr id="9" name="Shape 7"/>
          <p:cNvSpPr/>
          <p:nvPr/>
        </p:nvSpPr>
        <p:spPr>
          <a:xfrm>
            <a:off x="548640" y="5047488"/>
            <a:ext cx="164592" cy="164592"/>
          </a:xfrm>
          <a:prstGeom prst="ellipse">
            <a:avLst/>
          </a:prstGeom>
          <a:solidFill>
            <a:srgbClr val="E5484D"/>
          </a:solidFill>
          <a:ln w="12700">
            <a:solidFill>
              <a:srgbClr val="E5484D"/>
            </a:solidFill>
            <a:prstDash val="solid"/>
          </a:ln>
        </p:spPr>
      </p:sp>
      <p:sp>
        <p:nvSpPr>
          <p:cNvPr id="10" name="Text 8"/>
          <p:cNvSpPr txBox="1"/>
          <p:nvPr/>
        </p:nvSpPr>
        <p:spPr>
          <a:xfrm>
            <a:off x="914400" y="4956048"/>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A couple of seats still 'remaining': arithmetically impossible</a:t>
            </a:r>
            <a:endParaRPr lang="en-US" sz="2000" dirty="0"/>
          </a:p>
        </p:txBody>
      </p:sp>
      <p:sp>
        <p:nvSpPr>
          <p:cNvPr id="11" name="Shape 9"/>
          <p:cNvSpPr/>
          <p:nvPr/>
        </p:nvSpPr>
        <p:spPr>
          <a:xfrm>
            <a:off x="548640" y="5614416"/>
            <a:ext cx="164592" cy="164592"/>
          </a:xfrm>
          <a:prstGeom prst="ellipse">
            <a:avLst/>
          </a:prstGeom>
          <a:solidFill>
            <a:srgbClr val="E5484D"/>
          </a:solidFill>
          <a:ln w="12700">
            <a:solidFill>
              <a:srgbClr val="E5484D"/>
            </a:solidFill>
            <a:prstDash val="solid"/>
          </a:ln>
        </p:spPr>
      </p:sp>
      <p:sp>
        <p:nvSpPr>
          <p:cNvPr id="12" name="Text 10"/>
          <p:cNvSpPr txBox="1"/>
          <p:nvPr/>
        </p:nvSpPr>
        <p:spPr>
          <a:xfrm>
            <a:off x="914400" y="5522976"/>
            <a:ext cx="10515600" cy="365760"/>
          </a:xfrm>
          <a:prstGeom prst="rect">
            <a:avLst/>
          </a:prstGeom>
          <a:noFill/>
          <a:ln/>
        </p:spPr>
        <p:txBody>
          <a:bodyPr wrap="square" lIns="0" tIns="0" rIns="0" bIns="0" rtlCol="0" anchor="ctr"/>
          <a:lstStyle/>
          <a:p>
            <a:pPr indent="0" marL="0">
              <a:buNone/>
            </a:pPr>
            <a:r>
              <a:rPr lang="en-US" sz="2000" dirty="0">
                <a:solidFill>
                  <a:srgbClr val="D6DAE1"/>
                </a:solidFill>
                <a:latin typeface="Arial" pitchFamily="34" charset="0"/>
                <a:ea typeface="Arial" pitchFamily="34" charset="-122"/>
                <a:cs typeface="Arial" pitchFamily="34" charset="-120"/>
              </a:rPr>
              <a:t>Then: buy the student ticket as alice@corp.example</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731520"/>
          </a:xfrm>
          <a:prstGeom prst="rect">
            <a:avLst/>
          </a:prstGeom>
          <a:noFill/>
          <a:ln/>
        </p:spPr>
        <p:txBody>
          <a:bodyPr wrap="square" lIns="0" tIns="0" rIns="0" bIns="0" rtlCol="0" anchor="t"/>
          <a:lstStyle/>
          <a:p>
            <a:pPr indent="0" marL="0">
              <a:buNone/>
            </a:pPr>
            <a:r>
              <a:rPr lang="en-US" sz="4000" b="1" dirty="0">
                <a:solidFill>
                  <a:srgbClr val="1C1F26"/>
                </a:solidFill>
                <a:latin typeface="Arial" pitchFamily="34" charset="0"/>
                <a:ea typeface="Arial" pitchFamily="34" charset="-122"/>
                <a:cs typeface="Arial" pitchFamily="34" charset="-120"/>
              </a:rPr>
              <a:t>Where the model stopped</a:t>
            </a:r>
            <a:endParaRPr lang="en-US" sz="4000" dirty="0"/>
          </a:p>
        </p:txBody>
      </p:sp>
      <p:sp>
        <p:nvSpPr>
          <p:cNvPr id="3" name="Shape 1"/>
          <p:cNvSpPr/>
          <p:nvPr/>
        </p:nvSpPr>
        <p:spPr>
          <a:xfrm>
            <a:off x="548640" y="1554480"/>
            <a:ext cx="3429000" cy="3566160"/>
          </a:xfrm>
          <a:prstGeom prst="roundRect">
            <a:avLst>
              <a:gd name="adj" fmla="val 3200"/>
            </a:avLst>
          </a:prstGeom>
          <a:solidFill>
            <a:srgbClr val="F1F2F4"/>
          </a:solidFill>
          <a:ln w="12700">
            <a:solidFill>
              <a:srgbClr val="F1F2F4"/>
            </a:solidFill>
            <a:prstDash val="solid"/>
          </a:ln>
        </p:spPr>
      </p:sp>
      <p:sp>
        <p:nvSpPr>
          <p:cNvPr id="4" name="Shape 2"/>
          <p:cNvSpPr/>
          <p:nvPr/>
        </p:nvSpPr>
        <p:spPr>
          <a:xfrm>
            <a:off x="822960" y="1828800"/>
            <a:ext cx="946404" cy="329184"/>
          </a:xfrm>
          <a:prstGeom prst="roundRect">
            <a:avLst>
              <a:gd name="adj" fmla="val 50000"/>
            </a:avLst>
          </a:prstGeom>
          <a:solidFill>
            <a:srgbClr val="E5484D"/>
          </a:solidFill>
          <a:ln w="12700">
            <a:solidFill>
              <a:srgbClr val="E5484D"/>
            </a:solidFill>
            <a:prstDash val="solid"/>
          </a:ln>
        </p:spPr>
      </p:sp>
      <p:sp>
        <p:nvSpPr>
          <p:cNvPr id="5" name="Text 3"/>
          <p:cNvSpPr txBox="1"/>
          <p:nvPr/>
        </p:nvSpPr>
        <p:spPr>
          <a:xfrm>
            <a:off x="822960" y="1828800"/>
            <a:ext cx="94640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race.py</a:t>
            </a:r>
            <a:endParaRPr lang="en-US" sz="1200" dirty="0"/>
          </a:p>
        </p:txBody>
      </p:sp>
      <p:sp>
        <p:nvSpPr>
          <p:cNvPr id="6" name="Text 4"/>
          <p:cNvSpPr txBox="1"/>
          <p:nvPr/>
        </p:nvSpPr>
        <p:spPr>
          <a:xfrm>
            <a:off x="822960" y="2468880"/>
            <a:ext cx="2880360" cy="457200"/>
          </a:xfrm>
          <a:prstGeom prst="rect">
            <a:avLst/>
          </a:prstGeom>
          <a:noFill/>
          <a:ln/>
        </p:spPr>
        <p:txBody>
          <a:bodyPr wrap="square" lIns="0" tIns="0" rIns="0" bIns="0" rtlCol="0" anchor="t"/>
          <a:lstStyle/>
          <a:p>
            <a:pPr indent="0" marL="0">
              <a:buNone/>
            </a:pPr>
            <a:r>
              <a:rPr lang="en-US" sz="2100" b="1" dirty="0">
                <a:solidFill>
                  <a:srgbClr val="1C1F26"/>
                </a:solidFill>
                <a:latin typeface="Arial" pitchFamily="34" charset="0"/>
                <a:ea typeface="Arial" pitchFamily="34" charset="-122"/>
                <a:cs typeface="Arial" pitchFamily="34" charset="-120"/>
              </a:rPr>
              <a:t>It couldn't express it</a:t>
            </a:r>
            <a:endParaRPr lang="en-US" sz="2100" dirty="0"/>
          </a:p>
        </p:txBody>
      </p:sp>
      <p:sp>
        <p:nvSpPr>
          <p:cNvPr id="7" name="Text 5"/>
          <p:cNvSpPr txBox="1"/>
          <p:nvPr/>
        </p:nvSpPr>
        <p:spPr>
          <a:xfrm>
            <a:off x="822960" y="3063240"/>
            <a:ext cx="2880360" cy="1828800"/>
          </a:xfrm>
          <a:prstGeom prst="rect">
            <a:avLst/>
          </a:prstGeom>
          <a:noFill/>
          <a:ln/>
        </p:spPr>
        <p:txBody>
          <a:bodyPr wrap="square" lIns="0" tIns="0" rIns="0" bIns="0" rtlCol="0" anchor="t"/>
          <a:lstStyle/>
          <a:p>
            <a:pPr indent="0" marL="0">
              <a:buNone/>
            </a:pPr>
            <a:r>
              <a:rPr lang="en-US" sz="1600" dirty="0">
                <a:solidFill>
                  <a:srgbClr val="5B616E"/>
                </a:solidFill>
                <a:latin typeface="Arial" pitchFamily="34" charset="0"/>
                <a:ea typeface="Arial" pitchFamily="34" charset="-122"/>
                <a:cs typeface="Arial" pitchFamily="34" charset="-120"/>
              </a:rPr>
              <a:t>One request and one expected status can't say "twenty at once". That's a limit of the harness, not of intelligence.</a:t>
            </a:r>
            <a:endParaRPr lang="en-US" sz="1600" dirty="0"/>
          </a:p>
        </p:txBody>
      </p:sp>
      <p:sp>
        <p:nvSpPr>
          <p:cNvPr id="8" name="Shape 6"/>
          <p:cNvSpPr/>
          <p:nvPr/>
        </p:nvSpPr>
        <p:spPr>
          <a:xfrm>
            <a:off x="4379976" y="1554480"/>
            <a:ext cx="3429000" cy="3566160"/>
          </a:xfrm>
          <a:prstGeom prst="roundRect">
            <a:avLst>
              <a:gd name="adj" fmla="val 3200"/>
            </a:avLst>
          </a:prstGeom>
          <a:solidFill>
            <a:srgbClr val="F1F2F4"/>
          </a:solidFill>
          <a:ln w="12700">
            <a:solidFill>
              <a:srgbClr val="F1F2F4"/>
            </a:solidFill>
            <a:prstDash val="solid"/>
          </a:ln>
        </p:spPr>
      </p:sp>
      <p:sp>
        <p:nvSpPr>
          <p:cNvPr id="9" name="Shape 7"/>
          <p:cNvSpPr/>
          <p:nvPr/>
        </p:nvSpPr>
        <p:spPr>
          <a:xfrm>
            <a:off x="4654296" y="1828800"/>
            <a:ext cx="1330452" cy="329184"/>
          </a:xfrm>
          <a:prstGeom prst="roundRect">
            <a:avLst>
              <a:gd name="adj" fmla="val 50000"/>
            </a:avLst>
          </a:prstGeom>
          <a:solidFill>
            <a:srgbClr val="E8A13A"/>
          </a:solidFill>
          <a:ln w="12700">
            <a:solidFill>
              <a:srgbClr val="E8A13A"/>
            </a:solidFill>
            <a:prstDash val="solid"/>
          </a:ln>
        </p:spPr>
      </p:sp>
      <p:sp>
        <p:nvSpPr>
          <p:cNvPr id="10" name="Text 8"/>
          <p:cNvSpPr txBox="1"/>
          <p:nvPr/>
        </p:nvSpPr>
        <p:spPr>
          <a:xfrm>
            <a:off x="4654296" y="1828800"/>
            <a:ext cx="1330452" cy="329184"/>
          </a:xfrm>
          <a:prstGeom prst="rect">
            <a:avLst/>
          </a:prstGeom>
          <a:noFill/>
          <a:ln/>
        </p:spPr>
        <p:txBody>
          <a:bodyPr wrap="square" lIns="0" tIns="0" rIns="0" bIns="0" rtlCol="0" anchor="ctr"/>
          <a:lstStyle/>
          <a:p>
            <a:pPr algn="ctr" indent="0" marL="0">
              <a:buNone/>
            </a:pPr>
            <a:r>
              <a:rPr lang="en-US" sz="1200" b="1" dirty="0">
                <a:solidFill>
                  <a:srgbClr val="14161B"/>
                </a:solidFill>
                <a:latin typeface="Courier New" pitchFamily="34" charset="0"/>
                <a:ea typeface="Courier New" pitchFamily="34" charset="-122"/>
                <a:cs typeface="Courier New" pitchFamily="34" charset="-120"/>
              </a:rPr>
              <a:t>STUDENT 201</a:t>
            </a:r>
            <a:endParaRPr lang="en-US" sz="1200" dirty="0"/>
          </a:p>
        </p:txBody>
      </p:sp>
      <p:sp>
        <p:nvSpPr>
          <p:cNvPr id="11" name="Text 9"/>
          <p:cNvSpPr txBox="1"/>
          <p:nvPr/>
        </p:nvSpPr>
        <p:spPr>
          <a:xfrm>
            <a:off x="4654296" y="2468880"/>
            <a:ext cx="2880360" cy="457200"/>
          </a:xfrm>
          <a:prstGeom prst="rect">
            <a:avLst/>
          </a:prstGeom>
          <a:noFill/>
          <a:ln/>
        </p:spPr>
        <p:txBody>
          <a:bodyPr wrap="square" lIns="0" tIns="0" rIns="0" bIns="0" rtlCol="0" anchor="t"/>
          <a:lstStyle/>
          <a:p>
            <a:pPr indent="0" marL="0">
              <a:buNone/>
            </a:pPr>
            <a:r>
              <a:rPr lang="en-US" sz="2100" b="1" dirty="0">
                <a:solidFill>
                  <a:srgbClr val="1C1F26"/>
                </a:solidFill>
                <a:latin typeface="Arial" pitchFamily="34" charset="0"/>
                <a:ea typeface="Arial" pitchFamily="34" charset="-122"/>
                <a:cs typeface="Arial" pitchFamily="34" charset="-120"/>
              </a:rPr>
              <a:t>It couldn't know it</a:t>
            </a:r>
            <a:endParaRPr lang="en-US" sz="2100" dirty="0"/>
          </a:p>
        </p:txBody>
      </p:sp>
      <p:sp>
        <p:nvSpPr>
          <p:cNvPr id="12" name="Text 10"/>
          <p:cNvSpPr txBox="1"/>
          <p:nvPr/>
        </p:nvSpPr>
        <p:spPr>
          <a:xfrm>
            <a:off x="4654296" y="3063240"/>
            <a:ext cx="2880360" cy="1828800"/>
          </a:xfrm>
          <a:prstGeom prst="rect">
            <a:avLst/>
          </a:prstGeom>
          <a:noFill/>
          <a:ln/>
        </p:spPr>
        <p:txBody>
          <a:bodyPr wrap="square" lIns="0" tIns="0" rIns="0" bIns="0" rtlCol="0" anchor="t"/>
          <a:lstStyle/>
          <a:p>
            <a:pPr indent="0" marL="0">
              <a:buNone/>
            </a:pPr>
            <a:r>
              <a:rPr lang="en-US" sz="1600" dirty="0">
                <a:solidFill>
                  <a:srgbClr val="5B616E"/>
                </a:solidFill>
                <a:latin typeface="Arial" pitchFamily="34" charset="0"/>
                <a:ea typeface="Arial" pitchFamily="34" charset="-122"/>
                <a:cs typeface="Arial" pitchFamily="34" charset="-120"/>
              </a:rPr>
              <a:t>Student pricing needs a verified student address. That rule lives in a policy doc, so nobody reading the repo can confirm the 201 is wrong.</a:t>
            </a:r>
            <a:endParaRPr lang="en-US" sz="1600" dirty="0"/>
          </a:p>
        </p:txBody>
      </p:sp>
      <p:sp>
        <p:nvSpPr>
          <p:cNvPr id="13" name="Shape 11"/>
          <p:cNvSpPr/>
          <p:nvPr/>
        </p:nvSpPr>
        <p:spPr>
          <a:xfrm>
            <a:off x="8211312" y="1554480"/>
            <a:ext cx="3429000" cy="3566160"/>
          </a:xfrm>
          <a:prstGeom prst="roundRect">
            <a:avLst>
              <a:gd name="adj" fmla="val 3200"/>
            </a:avLst>
          </a:prstGeom>
          <a:solidFill>
            <a:srgbClr val="F1F2F4"/>
          </a:solidFill>
          <a:ln w="12700">
            <a:solidFill>
              <a:srgbClr val="F1F2F4"/>
            </a:solidFill>
            <a:prstDash val="solid"/>
          </a:ln>
        </p:spPr>
      </p:sp>
      <p:sp>
        <p:nvSpPr>
          <p:cNvPr id="14" name="Shape 12"/>
          <p:cNvSpPr/>
          <p:nvPr/>
        </p:nvSpPr>
        <p:spPr>
          <a:xfrm>
            <a:off x="8485632" y="1828800"/>
            <a:ext cx="1330452" cy="329184"/>
          </a:xfrm>
          <a:prstGeom prst="roundRect">
            <a:avLst>
              <a:gd name="adj" fmla="val 50000"/>
            </a:avLst>
          </a:prstGeom>
          <a:solidFill>
            <a:srgbClr val="30A46C"/>
          </a:solidFill>
          <a:ln w="12700">
            <a:solidFill>
              <a:srgbClr val="30A46C"/>
            </a:solidFill>
            <a:prstDash val="solid"/>
          </a:ln>
        </p:spPr>
      </p:sp>
      <p:sp>
        <p:nvSpPr>
          <p:cNvPr id="15" name="Text 13"/>
          <p:cNvSpPr txBox="1"/>
          <p:nvPr/>
        </p:nvSpPr>
        <p:spPr>
          <a:xfrm>
            <a:off x="8485632" y="1828800"/>
            <a:ext cx="1330452"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TC-006 PASS</a:t>
            </a:r>
            <a:endParaRPr lang="en-US" sz="1200" dirty="0"/>
          </a:p>
        </p:txBody>
      </p:sp>
      <p:sp>
        <p:nvSpPr>
          <p:cNvPr id="16" name="Text 14"/>
          <p:cNvSpPr txBox="1"/>
          <p:nvPr/>
        </p:nvSpPr>
        <p:spPr>
          <a:xfrm>
            <a:off x="8485632" y="2468880"/>
            <a:ext cx="2880360" cy="457200"/>
          </a:xfrm>
          <a:prstGeom prst="rect">
            <a:avLst/>
          </a:prstGeom>
          <a:noFill/>
          <a:ln/>
        </p:spPr>
        <p:txBody>
          <a:bodyPr wrap="square" lIns="0" tIns="0" rIns="0" bIns="0" rtlCol="0" anchor="t"/>
          <a:lstStyle/>
          <a:p>
            <a:pPr indent="0" marL="0">
              <a:buNone/>
            </a:pPr>
            <a:r>
              <a:rPr lang="en-US" sz="2100" b="1" dirty="0">
                <a:solidFill>
                  <a:srgbClr val="1C1F26"/>
                </a:solidFill>
                <a:latin typeface="Arial" pitchFamily="34" charset="0"/>
                <a:ea typeface="Arial" pitchFamily="34" charset="-122"/>
                <a:cs typeface="Arial" pitchFamily="34" charset="-120"/>
              </a:rPr>
              <a:t>Green isn't proof</a:t>
            </a:r>
            <a:endParaRPr lang="en-US" sz="2100" dirty="0"/>
          </a:p>
        </p:txBody>
      </p:sp>
      <p:sp>
        <p:nvSpPr>
          <p:cNvPr id="17" name="Text 15"/>
          <p:cNvSpPr txBox="1"/>
          <p:nvPr/>
        </p:nvSpPr>
        <p:spPr>
          <a:xfrm>
            <a:off x="8485632" y="3063240"/>
            <a:ext cx="2880360" cy="1828800"/>
          </a:xfrm>
          <a:prstGeom prst="rect">
            <a:avLst/>
          </a:prstGeom>
          <a:noFill/>
          <a:ln/>
        </p:spPr>
        <p:txBody>
          <a:bodyPr wrap="square" lIns="0" tIns="0" rIns="0" bIns="0" rtlCol="0" anchor="t"/>
          <a:lstStyle/>
          <a:p>
            <a:pPr indent="0" marL="0">
              <a:buNone/>
            </a:pPr>
            <a:r>
              <a:rPr lang="en-US" sz="1600" dirty="0">
                <a:solidFill>
                  <a:srgbClr val="5B616E"/>
                </a:solidFill>
                <a:latin typeface="Arial" pitchFamily="34" charset="0"/>
                <a:ea typeface="Arial" pitchFamily="34" charset="-122"/>
                <a:cs typeface="Arial" pitchFamily="34" charset="-120"/>
              </a:rPr>
              <a:t>Same injection idea, two payloads. One passed, one leaked a hidden ticket. A pass only means that guess wasn't confirmed.</a:t>
            </a:r>
            <a:endParaRPr lang="en-US" sz="1600" dirty="0"/>
          </a:p>
        </p:txBody>
      </p:sp>
      <p:sp>
        <p:nvSpPr>
          <p:cNvPr id="18" name="Text 16"/>
          <p:cNvSpPr txBox="1"/>
          <p:nvPr/>
        </p:nvSpPr>
        <p:spPr>
          <a:xfrm>
            <a:off x="548640" y="5440680"/>
            <a:ext cx="11064240" cy="640080"/>
          </a:xfrm>
          <a:prstGeom prst="rect">
            <a:avLst/>
          </a:prstGeom>
          <a:noFill/>
          <a:ln/>
        </p:spPr>
        <p:txBody>
          <a:bodyPr wrap="square" lIns="0" tIns="0" rIns="0" bIns="0" rtlCol="0" anchor="t"/>
          <a:lstStyle/>
          <a:p>
            <a:pPr indent="0" marL="0">
              <a:buNone/>
            </a:pPr>
            <a:r>
              <a:rPr lang="en-US" sz="1800" b="1" dirty="0">
                <a:solidFill>
                  <a:srgbClr val="1C1F26"/>
                </a:solidFill>
                <a:latin typeface="Arial" pitchFamily="34" charset="0"/>
                <a:ea typeface="Arial" pitchFamily="34" charset="-122"/>
                <a:cs typeface="Arial" pitchFamily="34" charset="-120"/>
              </a:rPr>
              <a:t>Want these found? Give the harness a way to say "run these together", and write the rules where a reader can find them.</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61B"/>
        </a:solidFill>
      </p:bgPr>
    </p:bg>
    <p:spTree>
      <p:nvGrpSpPr>
        <p:cNvPr id="1" name=""/>
        <p:cNvGrpSpPr/>
        <p:nvPr/>
      </p:nvGrpSpPr>
      <p:grpSpPr>
        <a:xfrm>
          <a:off x="0" y="0"/>
          <a:ext cx="0" cy="0"/>
          <a:chOff x="0" y="0"/>
          <a:chExt cx="0" cy="0"/>
        </a:xfrm>
      </p:grpSpPr>
      <p:sp>
        <p:nvSpPr>
          <p:cNvPr id="2" name="Text 0"/>
          <p:cNvSpPr txBox="1"/>
          <p:nvPr/>
        </p:nvSpPr>
        <p:spPr>
          <a:xfrm>
            <a:off x="914400" y="1417320"/>
            <a:ext cx="10789920" cy="1005840"/>
          </a:xfrm>
          <a:prstGeom prst="rect">
            <a:avLst/>
          </a:prstGeom>
          <a:noFill/>
          <a:ln/>
        </p:spPr>
        <p:txBody>
          <a:bodyPr wrap="square" lIns="0" tIns="0" rIns="0" bIns="0" rtlCol="0" anchor="t"/>
          <a:lstStyle/>
          <a:p>
            <a:pPr indent="0" marL="0">
              <a:buNone/>
            </a:pPr>
            <a:r>
              <a:rPr lang="en-US" sz="5000" b="1" dirty="0">
                <a:solidFill>
                  <a:srgbClr val="FFFFFF"/>
                </a:solidFill>
                <a:latin typeface="Arial" pitchFamily="34" charset="0"/>
                <a:ea typeface="Arial" pitchFamily="34" charset="-122"/>
                <a:cs typeface="Arial" pitchFamily="34" charset="-120"/>
              </a:rPr>
              <a:t>AI generates hypotheses.</a:t>
            </a:r>
            <a:endParaRPr lang="en-US" sz="5000" dirty="0"/>
          </a:p>
        </p:txBody>
      </p:sp>
      <p:sp>
        <p:nvSpPr>
          <p:cNvPr id="3" name="Text 1"/>
          <p:cNvSpPr txBox="1"/>
          <p:nvPr/>
        </p:nvSpPr>
        <p:spPr>
          <a:xfrm>
            <a:off x="914400" y="2651760"/>
            <a:ext cx="10789920" cy="1005840"/>
          </a:xfrm>
          <a:prstGeom prst="rect">
            <a:avLst/>
          </a:prstGeom>
          <a:noFill/>
          <a:ln/>
        </p:spPr>
        <p:txBody>
          <a:bodyPr wrap="square" lIns="0" tIns="0" rIns="0" bIns="0" rtlCol="0" anchor="t"/>
          <a:lstStyle/>
          <a:p>
            <a:pPr indent="0" marL="0">
              <a:buNone/>
            </a:pPr>
            <a:r>
              <a:rPr lang="en-US" sz="5000" b="1" dirty="0">
                <a:solidFill>
                  <a:srgbClr val="FFFFFF"/>
                </a:solidFill>
                <a:latin typeface="Arial" pitchFamily="34" charset="0"/>
                <a:ea typeface="Arial" pitchFamily="34" charset="-122"/>
                <a:cs typeface="Arial" pitchFamily="34" charset="-120"/>
              </a:rPr>
              <a:t>Execution provides evidence.</a:t>
            </a:r>
            <a:endParaRPr lang="en-US" sz="5000" dirty="0"/>
          </a:p>
        </p:txBody>
      </p:sp>
      <p:sp>
        <p:nvSpPr>
          <p:cNvPr id="4" name="Text 2"/>
          <p:cNvSpPr txBox="1"/>
          <p:nvPr/>
        </p:nvSpPr>
        <p:spPr>
          <a:xfrm>
            <a:off x="914400" y="3886200"/>
            <a:ext cx="10789920" cy="1005840"/>
          </a:xfrm>
          <a:prstGeom prst="rect">
            <a:avLst/>
          </a:prstGeom>
          <a:noFill/>
          <a:ln/>
        </p:spPr>
        <p:txBody>
          <a:bodyPr wrap="square" lIns="0" tIns="0" rIns="0" bIns="0" rtlCol="0" anchor="t"/>
          <a:lstStyle/>
          <a:p>
            <a:pPr indent="0" marL="0">
              <a:buNone/>
            </a:pPr>
            <a:r>
              <a:rPr lang="en-US" sz="5000" b="1" dirty="0">
                <a:solidFill>
                  <a:srgbClr val="E5484D"/>
                </a:solidFill>
                <a:latin typeface="Arial" pitchFamily="34" charset="0"/>
                <a:ea typeface="Arial" pitchFamily="34" charset="-122"/>
                <a:cs typeface="Arial" pitchFamily="34" charset="-120"/>
              </a:rPr>
              <a:t>Humans decide what is a defect.</a:t>
            </a:r>
            <a:endParaRPr lang="en-US" sz="5000" dirty="0"/>
          </a:p>
        </p:txBody>
      </p:sp>
      <p:sp>
        <p:nvSpPr>
          <p:cNvPr id="5" name="Shape 3"/>
          <p:cNvSpPr/>
          <p:nvPr/>
        </p:nvSpPr>
        <p:spPr>
          <a:xfrm>
            <a:off x="914400" y="5532120"/>
            <a:ext cx="1188720" cy="329184"/>
          </a:xfrm>
          <a:prstGeom prst="roundRect">
            <a:avLst>
              <a:gd name="adj" fmla="val 50000"/>
            </a:avLst>
          </a:prstGeom>
          <a:solidFill>
            <a:srgbClr val="2A2F39"/>
          </a:solidFill>
          <a:ln w="12700">
            <a:solidFill>
              <a:srgbClr val="2A2F39"/>
            </a:solidFill>
            <a:prstDash val="solid"/>
          </a:ln>
        </p:spPr>
      </p:sp>
      <p:sp>
        <p:nvSpPr>
          <p:cNvPr id="6" name="Text 4"/>
          <p:cNvSpPr txBox="1"/>
          <p:nvPr/>
        </p:nvSpPr>
        <p:spPr>
          <a:xfrm>
            <a:off x="914400" y="5532120"/>
            <a:ext cx="1188720" cy="329184"/>
          </a:xfrm>
          <a:prstGeom prst="rect">
            <a:avLst/>
          </a:prstGeom>
          <a:noFill/>
          <a:ln/>
        </p:spPr>
        <p:txBody>
          <a:bodyPr wrap="square" lIns="0" tIns="0" rIns="0" bIns="0" rtlCol="0" anchor="ctr"/>
          <a:lstStyle/>
          <a:p>
            <a:pPr algn="ctr" indent="0" marL="0">
              <a:buNone/>
            </a:pPr>
            <a:r>
              <a:rPr lang="en-US" sz="1200" b="1" dirty="0">
                <a:solidFill>
                  <a:srgbClr val="D6DAE1"/>
                </a:solidFill>
                <a:latin typeface="Courier New" pitchFamily="34" charset="0"/>
                <a:ea typeface="Courier New" pitchFamily="34" charset="-122"/>
                <a:cs typeface="Courier New" pitchFamily="34" charset="-120"/>
              </a:rPr>
              <a:t>model</a:t>
            </a:r>
            <a:endParaRPr lang="en-US" sz="1200" dirty="0"/>
          </a:p>
        </p:txBody>
      </p:sp>
      <p:sp>
        <p:nvSpPr>
          <p:cNvPr id="7" name="Shape 5"/>
          <p:cNvSpPr/>
          <p:nvPr/>
        </p:nvSpPr>
        <p:spPr>
          <a:xfrm>
            <a:off x="2331720" y="5532120"/>
            <a:ext cx="1188720" cy="329184"/>
          </a:xfrm>
          <a:prstGeom prst="roundRect">
            <a:avLst>
              <a:gd name="adj" fmla="val 50000"/>
            </a:avLst>
          </a:prstGeom>
          <a:solidFill>
            <a:srgbClr val="2A2F39"/>
          </a:solidFill>
          <a:ln w="12700">
            <a:solidFill>
              <a:srgbClr val="2A2F39"/>
            </a:solidFill>
            <a:prstDash val="solid"/>
          </a:ln>
        </p:spPr>
      </p:sp>
      <p:sp>
        <p:nvSpPr>
          <p:cNvPr id="8" name="Text 6"/>
          <p:cNvSpPr txBox="1"/>
          <p:nvPr/>
        </p:nvSpPr>
        <p:spPr>
          <a:xfrm>
            <a:off x="2331720" y="5532120"/>
            <a:ext cx="1188720" cy="329184"/>
          </a:xfrm>
          <a:prstGeom prst="rect">
            <a:avLst/>
          </a:prstGeom>
          <a:noFill/>
          <a:ln/>
        </p:spPr>
        <p:txBody>
          <a:bodyPr wrap="square" lIns="0" tIns="0" rIns="0" bIns="0" rtlCol="0" anchor="ctr"/>
          <a:lstStyle/>
          <a:p>
            <a:pPr algn="ctr" indent="0" marL="0">
              <a:buNone/>
            </a:pPr>
            <a:r>
              <a:rPr lang="en-US" sz="1200" b="1" dirty="0">
                <a:solidFill>
                  <a:srgbClr val="D6DAE1"/>
                </a:solidFill>
                <a:latin typeface="Courier New" pitchFamily="34" charset="0"/>
                <a:ea typeface="Courier New" pitchFamily="34" charset="-122"/>
                <a:cs typeface="Courier New" pitchFamily="34" charset="-120"/>
              </a:rPr>
              <a:t>runner</a:t>
            </a:r>
            <a:endParaRPr lang="en-US" sz="1200" dirty="0"/>
          </a:p>
        </p:txBody>
      </p:sp>
      <p:sp>
        <p:nvSpPr>
          <p:cNvPr id="9" name="Shape 7"/>
          <p:cNvSpPr/>
          <p:nvPr/>
        </p:nvSpPr>
        <p:spPr>
          <a:xfrm>
            <a:off x="3749040" y="5532120"/>
            <a:ext cx="1188720" cy="329184"/>
          </a:xfrm>
          <a:prstGeom prst="roundRect">
            <a:avLst>
              <a:gd name="adj" fmla="val 50000"/>
            </a:avLst>
          </a:prstGeom>
          <a:solidFill>
            <a:srgbClr val="E5484D"/>
          </a:solidFill>
          <a:ln w="12700">
            <a:solidFill>
              <a:srgbClr val="E5484D"/>
            </a:solidFill>
            <a:prstDash val="solid"/>
          </a:ln>
        </p:spPr>
      </p:sp>
      <p:sp>
        <p:nvSpPr>
          <p:cNvPr id="10" name="Text 8"/>
          <p:cNvSpPr txBox="1"/>
          <p:nvPr/>
        </p:nvSpPr>
        <p:spPr>
          <a:xfrm>
            <a:off x="3749040" y="5532120"/>
            <a:ext cx="11887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human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731520"/>
          </a:xfrm>
          <a:prstGeom prst="rect">
            <a:avLst/>
          </a:prstGeom>
          <a:noFill/>
          <a:ln/>
        </p:spPr>
        <p:txBody>
          <a:bodyPr wrap="square" lIns="0" tIns="0" rIns="0" bIns="0" rtlCol="0" anchor="t"/>
          <a:lstStyle/>
          <a:p>
            <a:pPr indent="0" marL="0">
              <a:buNone/>
            </a:pPr>
            <a:r>
              <a:rPr lang="en-US" sz="4000" b="1" dirty="0">
                <a:solidFill>
                  <a:srgbClr val="1C1F26"/>
                </a:solidFill>
                <a:latin typeface="Arial" pitchFamily="34" charset="0"/>
                <a:ea typeface="Arial" pitchFamily="34" charset="-122"/>
                <a:cs typeface="Arial" pitchFamily="34" charset="-120"/>
              </a:rPr>
              <a:t>The honest numbers</a:t>
            </a:r>
            <a:endParaRPr lang="en-US" sz="4000" dirty="0"/>
          </a:p>
        </p:txBody>
      </p:sp>
      <p:sp>
        <p:nvSpPr>
          <p:cNvPr id="3" name="Shape 1"/>
          <p:cNvSpPr/>
          <p:nvPr/>
        </p:nvSpPr>
        <p:spPr>
          <a:xfrm>
            <a:off x="548640" y="1508760"/>
            <a:ext cx="2560320" cy="2377440"/>
          </a:xfrm>
          <a:prstGeom prst="roundRect">
            <a:avLst>
              <a:gd name="adj" fmla="val 4615"/>
            </a:avLst>
          </a:prstGeom>
          <a:solidFill>
            <a:srgbClr val="F1F2F4"/>
          </a:solidFill>
          <a:ln w="12700">
            <a:solidFill>
              <a:srgbClr val="F1F2F4"/>
            </a:solidFill>
            <a:prstDash val="solid"/>
          </a:ln>
        </p:spPr>
      </p:sp>
      <p:sp>
        <p:nvSpPr>
          <p:cNvPr id="4" name="Text 2"/>
          <p:cNvSpPr txBox="1"/>
          <p:nvPr/>
        </p:nvSpPr>
        <p:spPr>
          <a:xfrm>
            <a:off x="822960" y="1691640"/>
            <a:ext cx="2011680" cy="1371600"/>
          </a:xfrm>
          <a:prstGeom prst="rect">
            <a:avLst/>
          </a:prstGeom>
          <a:noFill/>
          <a:ln/>
        </p:spPr>
        <p:txBody>
          <a:bodyPr wrap="square" lIns="0" tIns="0" rIns="0" bIns="0" rtlCol="0" anchor="t"/>
          <a:lstStyle/>
          <a:p>
            <a:pPr indent="0" marL="0">
              <a:buNone/>
            </a:pPr>
            <a:r>
              <a:rPr lang="en-US" sz="8800" b="1" dirty="0">
                <a:solidFill>
                  <a:srgbClr val="1C1F26"/>
                </a:solidFill>
                <a:latin typeface="Arial" pitchFamily="34" charset="0"/>
                <a:ea typeface="Arial" pitchFamily="34" charset="-122"/>
                <a:cs typeface="Arial" pitchFamily="34" charset="-120"/>
              </a:rPr>
              <a:t>8</a:t>
            </a:r>
            <a:endParaRPr lang="en-US" sz="8800" dirty="0"/>
          </a:p>
        </p:txBody>
      </p:sp>
      <p:sp>
        <p:nvSpPr>
          <p:cNvPr id="5" name="Text 3"/>
          <p:cNvSpPr txBox="1"/>
          <p:nvPr/>
        </p:nvSpPr>
        <p:spPr>
          <a:xfrm>
            <a:off x="822960" y="3154680"/>
            <a:ext cx="2011680" cy="457200"/>
          </a:xfrm>
          <a:prstGeom prst="rect">
            <a:avLst/>
          </a:prstGeom>
          <a:noFill/>
          <a:ln/>
        </p:spPr>
        <p:txBody>
          <a:bodyPr wrap="square" lIns="0" tIns="0" rIns="0" bIns="0" rtlCol="0" anchor="t"/>
          <a:lstStyle/>
          <a:p>
            <a:pPr indent="0" marL="0">
              <a:buNone/>
            </a:pPr>
            <a:r>
              <a:rPr lang="en-US" sz="1800" dirty="0">
                <a:solidFill>
                  <a:srgbClr val="5B616E"/>
                </a:solidFill>
                <a:latin typeface="Arial" pitchFamily="34" charset="0"/>
                <a:ea typeface="Arial" pitchFamily="34" charset="-122"/>
                <a:cs typeface="Arial" pitchFamily="34" charset="-120"/>
              </a:rPr>
              <a:t>cases executed</a:t>
            </a:r>
            <a:endParaRPr lang="en-US" sz="1800" dirty="0"/>
          </a:p>
        </p:txBody>
      </p:sp>
      <p:sp>
        <p:nvSpPr>
          <p:cNvPr id="6" name="Shape 4"/>
          <p:cNvSpPr/>
          <p:nvPr/>
        </p:nvSpPr>
        <p:spPr>
          <a:xfrm>
            <a:off x="3392424" y="1508760"/>
            <a:ext cx="2560320" cy="2377440"/>
          </a:xfrm>
          <a:prstGeom prst="roundRect">
            <a:avLst>
              <a:gd name="adj" fmla="val 4615"/>
            </a:avLst>
          </a:prstGeom>
          <a:solidFill>
            <a:srgbClr val="F1F2F4"/>
          </a:solidFill>
          <a:ln w="12700">
            <a:solidFill>
              <a:srgbClr val="F1F2F4"/>
            </a:solidFill>
            <a:prstDash val="solid"/>
          </a:ln>
        </p:spPr>
      </p:sp>
      <p:sp>
        <p:nvSpPr>
          <p:cNvPr id="7" name="Text 5"/>
          <p:cNvSpPr txBox="1"/>
          <p:nvPr/>
        </p:nvSpPr>
        <p:spPr>
          <a:xfrm>
            <a:off x="3666744" y="1691640"/>
            <a:ext cx="2011680" cy="1371600"/>
          </a:xfrm>
          <a:prstGeom prst="rect">
            <a:avLst/>
          </a:prstGeom>
          <a:noFill/>
          <a:ln/>
        </p:spPr>
        <p:txBody>
          <a:bodyPr wrap="square" lIns="0" tIns="0" rIns="0" bIns="0" rtlCol="0" anchor="t"/>
          <a:lstStyle/>
          <a:p>
            <a:pPr indent="0" marL="0">
              <a:buNone/>
            </a:pPr>
            <a:r>
              <a:rPr lang="en-US" sz="8800" b="1" dirty="0">
                <a:solidFill>
                  <a:srgbClr val="E5484D"/>
                </a:solidFill>
                <a:latin typeface="Arial" pitchFamily="34" charset="0"/>
                <a:ea typeface="Arial" pitchFamily="34" charset="-122"/>
                <a:cs typeface="Arial" pitchFamily="34" charset="-120"/>
              </a:rPr>
              <a:t>5</a:t>
            </a:r>
            <a:endParaRPr lang="en-US" sz="8800" dirty="0"/>
          </a:p>
        </p:txBody>
      </p:sp>
      <p:sp>
        <p:nvSpPr>
          <p:cNvPr id="8" name="Text 6"/>
          <p:cNvSpPr txBox="1"/>
          <p:nvPr/>
        </p:nvSpPr>
        <p:spPr>
          <a:xfrm>
            <a:off x="3666744" y="3154680"/>
            <a:ext cx="2011680" cy="457200"/>
          </a:xfrm>
          <a:prstGeom prst="rect">
            <a:avLst/>
          </a:prstGeom>
          <a:noFill/>
          <a:ln/>
        </p:spPr>
        <p:txBody>
          <a:bodyPr wrap="square" lIns="0" tIns="0" rIns="0" bIns="0" rtlCol="0" anchor="t"/>
          <a:lstStyle/>
          <a:p>
            <a:pPr indent="0" marL="0">
              <a:buNone/>
            </a:pPr>
            <a:r>
              <a:rPr lang="en-US" sz="1800" dirty="0">
                <a:solidFill>
                  <a:srgbClr val="5B616E"/>
                </a:solidFill>
                <a:latin typeface="Arial" pitchFamily="34" charset="0"/>
                <a:ea typeface="Arial" pitchFamily="34" charset="-122"/>
                <a:cs typeface="Arial" pitchFamily="34" charset="-120"/>
              </a:rPr>
              <a:t>came back red</a:t>
            </a:r>
            <a:endParaRPr lang="en-US" sz="1800" dirty="0"/>
          </a:p>
        </p:txBody>
      </p:sp>
      <p:sp>
        <p:nvSpPr>
          <p:cNvPr id="9" name="Shape 7"/>
          <p:cNvSpPr/>
          <p:nvPr/>
        </p:nvSpPr>
        <p:spPr>
          <a:xfrm>
            <a:off x="6236208" y="1508760"/>
            <a:ext cx="2560320" cy="2377440"/>
          </a:xfrm>
          <a:prstGeom prst="roundRect">
            <a:avLst>
              <a:gd name="adj" fmla="val 4615"/>
            </a:avLst>
          </a:prstGeom>
          <a:solidFill>
            <a:srgbClr val="F1F2F4"/>
          </a:solidFill>
          <a:ln w="12700">
            <a:solidFill>
              <a:srgbClr val="F1F2F4"/>
            </a:solidFill>
            <a:prstDash val="solid"/>
          </a:ln>
        </p:spPr>
      </p:sp>
      <p:sp>
        <p:nvSpPr>
          <p:cNvPr id="10" name="Text 8"/>
          <p:cNvSpPr txBox="1"/>
          <p:nvPr/>
        </p:nvSpPr>
        <p:spPr>
          <a:xfrm>
            <a:off x="6510528" y="1691640"/>
            <a:ext cx="2011680" cy="1371600"/>
          </a:xfrm>
          <a:prstGeom prst="rect">
            <a:avLst/>
          </a:prstGeom>
          <a:noFill/>
          <a:ln/>
        </p:spPr>
        <p:txBody>
          <a:bodyPr wrap="square" lIns="0" tIns="0" rIns="0" bIns="0" rtlCol="0" anchor="t"/>
          <a:lstStyle/>
          <a:p>
            <a:pPr indent="0" marL="0">
              <a:buNone/>
            </a:pPr>
            <a:r>
              <a:rPr lang="en-US" sz="8800" b="1" dirty="0">
                <a:solidFill>
                  <a:srgbClr val="30A46C"/>
                </a:solidFill>
                <a:latin typeface="Arial" pitchFamily="34" charset="0"/>
                <a:ea typeface="Arial" pitchFamily="34" charset="-122"/>
                <a:cs typeface="Arial" pitchFamily="34" charset="-120"/>
              </a:rPr>
              <a:t>3</a:t>
            </a:r>
            <a:endParaRPr lang="en-US" sz="8800" dirty="0"/>
          </a:p>
        </p:txBody>
      </p:sp>
      <p:sp>
        <p:nvSpPr>
          <p:cNvPr id="11" name="Text 9"/>
          <p:cNvSpPr txBox="1"/>
          <p:nvPr/>
        </p:nvSpPr>
        <p:spPr>
          <a:xfrm>
            <a:off x="6510528" y="3154680"/>
            <a:ext cx="2011680" cy="457200"/>
          </a:xfrm>
          <a:prstGeom prst="rect">
            <a:avLst/>
          </a:prstGeom>
          <a:noFill/>
          <a:ln/>
        </p:spPr>
        <p:txBody>
          <a:bodyPr wrap="square" lIns="0" tIns="0" rIns="0" bIns="0" rtlCol="0" anchor="t"/>
          <a:lstStyle/>
          <a:p>
            <a:pPr indent="0" marL="0">
              <a:buNone/>
            </a:pPr>
            <a:r>
              <a:rPr lang="en-US" sz="1800" dirty="0">
                <a:solidFill>
                  <a:srgbClr val="5B616E"/>
                </a:solidFill>
                <a:latin typeface="Arial" pitchFamily="34" charset="0"/>
                <a:ea typeface="Arial" pitchFamily="34" charset="-122"/>
                <a:cs typeface="Arial" pitchFamily="34" charset="-120"/>
              </a:rPr>
              <a:t>real bugs</a:t>
            </a:r>
            <a:endParaRPr lang="en-US" sz="1800" dirty="0"/>
          </a:p>
        </p:txBody>
      </p:sp>
      <p:sp>
        <p:nvSpPr>
          <p:cNvPr id="12" name="Shape 10"/>
          <p:cNvSpPr/>
          <p:nvPr/>
        </p:nvSpPr>
        <p:spPr>
          <a:xfrm>
            <a:off x="9079992" y="1508760"/>
            <a:ext cx="2560320" cy="2377440"/>
          </a:xfrm>
          <a:prstGeom prst="roundRect">
            <a:avLst>
              <a:gd name="adj" fmla="val 4615"/>
            </a:avLst>
          </a:prstGeom>
          <a:solidFill>
            <a:srgbClr val="F1F2F4"/>
          </a:solidFill>
          <a:ln w="12700">
            <a:solidFill>
              <a:srgbClr val="F1F2F4"/>
            </a:solidFill>
            <a:prstDash val="solid"/>
          </a:ln>
        </p:spPr>
      </p:sp>
      <p:sp>
        <p:nvSpPr>
          <p:cNvPr id="13" name="Text 11"/>
          <p:cNvSpPr txBox="1"/>
          <p:nvPr/>
        </p:nvSpPr>
        <p:spPr>
          <a:xfrm>
            <a:off x="9354312" y="1691640"/>
            <a:ext cx="2011680" cy="1371600"/>
          </a:xfrm>
          <a:prstGeom prst="rect">
            <a:avLst/>
          </a:prstGeom>
          <a:noFill/>
          <a:ln/>
        </p:spPr>
        <p:txBody>
          <a:bodyPr wrap="square" lIns="0" tIns="0" rIns="0" bIns="0" rtlCol="0" anchor="t"/>
          <a:lstStyle/>
          <a:p>
            <a:pPr indent="0" marL="0">
              <a:buNone/>
            </a:pPr>
            <a:r>
              <a:rPr lang="en-US" sz="8800" b="1" dirty="0">
                <a:solidFill>
                  <a:srgbClr val="E8A13A"/>
                </a:solidFill>
                <a:latin typeface="Arial" pitchFamily="34" charset="0"/>
                <a:ea typeface="Arial" pitchFamily="34" charset="-122"/>
                <a:cs typeface="Arial" pitchFamily="34" charset="-120"/>
              </a:rPr>
              <a:t>2</a:t>
            </a:r>
            <a:endParaRPr lang="en-US" sz="8800" dirty="0"/>
          </a:p>
        </p:txBody>
      </p:sp>
      <p:sp>
        <p:nvSpPr>
          <p:cNvPr id="14" name="Text 12"/>
          <p:cNvSpPr txBox="1"/>
          <p:nvPr/>
        </p:nvSpPr>
        <p:spPr>
          <a:xfrm>
            <a:off x="9354312" y="3154680"/>
            <a:ext cx="2011680" cy="457200"/>
          </a:xfrm>
          <a:prstGeom prst="rect">
            <a:avLst/>
          </a:prstGeom>
          <a:noFill/>
          <a:ln/>
        </p:spPr>
        <p:txBody>
          <a:bodyPr wrap="square" lIns="0" tIns="0" rIns="0" bIns="0" rtlCol="0" anchor="t"/>
          <a:lstStyle/>
          <a:p>
            <a:pPr indent="0" marL="0">
              <a:buNone/>
            </a:pPr>
            <a:r>
              <a:rPr lang="en-US" sz="1800" dirty="0">
                <a:solidFill>
                  <a:srgbClr val="5B616E"/>
                </a:solidFill>
                <a:latin typeface="Arial" pitchFamily="34" charset="0"/>
                <a:ea typeface="Arial" pitchFamily="34" charset="-122"/>
                <a:cs typeface="Arial" pitchFamily="34" charset="-120"/>
              </a:rPr>
              <a:t>false alarms</a:t>
            </a:r>
            <a:endParaRPr lang="en-US" sz="1800" dirty="0"/>
          </a:p>
        </p:txBody>
      </p:sp>
      <p:sp>
        <p:nvSpPr>
          <p:cNvPr id="15" name="Text 13"/>
          <p:cNvSpPr txBox="1"/>
          <p:nvPr/>
        </p:nvSpPr>
        <p:spPr>
          <a:xfrm>
            <a:off x="548640" y="4251960"/>
            <a:ext cx="1097280" cy="411480"/>
          </a:xfrm>
          <a:prstGeom prst="rect">
            <a:avLst/>
          </a:prstGeom>
          <a:noFill/>
          <a:ln/>
        </p:spPr>
        <p:txBody>
          <a:bodyPr wrap="square" lIns="0" tIns="0" rIns="0" bIns="0" rtlCol="0" anchor="ctr"/>
          <a:lstStyle/>
          <a:p>
            <a:pPr indent="0" marL="0">
              <a:buNone/>
            </a:pPr>
            <a:r>
              <a:rPr lang="en-US" sz="2400" b="1" dirty="0">
                <a:solidFill>
                  <a:srgbClr val="1C1F26"/>
                </a:solidFill>
                <a:latin typeface="Arial" pitchFamily="34" charset="0"/>
                <a:ea typeface="Arial" pitchFamily="34" charset="-122"/>
                <a:cs typeface="Arial" pitchFamily="34" charset="-120"/>
              </a:rPr>
              <a:t>0</a:t>
            </a:r>
            <a:endParaRPr lang="en-US" sz="2400" dirty="0"/>
          </a:p>
        </p:txBody>
      </p:sp>
      <p:sp>
        <p:nvSpPr>
          <p:cNvPr id="16" name="Text 14"/>
          <p:cNvSpPr txBox="1"/>
          <p:nvPr/>
        </p:nvSpPr>
        <p:spPr>
          <a:xfrm>
            <a:off x="1737360" y="4251960"/>
            <a:ext cx="9509760" cy="411480"/>
          </a:xfrm>
          <a:prstGeom prst="rect">
            <a:avLst/>
          </a:prstGeom>
          <a:noFill/>
          <a:ln/>
        </p:spPr>
        <p:txBody>
          <a:bodyPr wrap="square" lIns="0" tIns="0" rIns="0" bIns="0" rtlCol="0" anchor="ctr"/>
          <a:lstStyle/>
          <a:p>
            <a:pPr indent="0" marL="0">
              <a:buNone/>
            </a:pPr>
            <a:r>
              <a:rPr lang="en-US" sz="1800" dirty="0">
                <a:solidFill>
                  <a:srgbClr val="1C1F26"/>
                </a:solidFill>
                <a:latin typeface="Arial" pitchFamily="34" charset="0"/>
                <a:ea typeface="Arial" pitchFamily="34" charset="-122"/>
                <a:cs typeface="Arial" pitchFamily="34" charset="-120"/>
              </a:rPr>
              <a:t>findings on the money bugs (the business-logic prompt returned 4 near-identical cases)</a:t>
            </a:r>
            <a:endParaRPr lang="en-US" sz="1800" dirty="0"/>
          </a:p>
        </p:txBody>
      </p:sp>
      <p:sp>
        <p:nvSpPr>
          <p:cNvPr id="17" name="Text 15"/>
          <p:cNvSpPr txBox="1"/>
          <p:nvPr/>
        </p:nvSpPr>
        <p:spPr>
          <a:xfrm>
            <a:off x="548640" y="4800600"/>
            <a:ext cx="1097280" cy="411480"/>
          </a:xfrm>
          <a:prstGeom prst="rect">
            <a:avLst/>
          </a:prstGeom>
          <a:noFill/>
          <a:ln/>
        </p:spPr>
        <p:txBody>
          <a:bodyPr wrap="square" lIns="0" tIns="0" rIns="0" bIns="0" rtlCol="0" anchor="ctr"/>
          <a:lstStyle/>
          <a:p>
            <a:pPr indent="0" marL="0">
              <a:buNone/>
            </a:pPr>
            <a:r>
              <a:rPr lang="en-US" sz="2400" b="1" dirty="0">
                <a:solidFill>
                  <a:srgbClr val="1C1F26"/>
                </a:solidFill>
                <a:latin typeface="Arial" pitchFamily="34" charset="0"/>
                <a:ea typeface="Arial" pitchFamily="34" charset="-122"/>
                <a:cs typeface="Arial" pitchFamily="34" charset="-120"/>
              </a:rPr>
              <a:t>1</a:t>
            </a:r>
            <a:endParaRPr lang="en-US" sz="2400" dirty="0"/>
          </a:p>
        </p:txBody>
      </p:sp>
      <p:sp>
        <p:nvSpPr>
          <p:cNvPr id="18" name="Text 16"/>
          <p:cNvSpPr txBox="1"/>
          <p:nvPr/>
        </p:nvSpPr>
        <p:spPr>
          <a:xfrm>
            <a:off x="1737360" y="4800600"/>
            <a:ext cx="9509760" cy="411480"/>
          </a:xfrm>
          <a:prstGeom prst="rect">
            <a:avLst/>
          </a:prstGeom>
          <a:noFill/>
          <a:ln/>
        </p:spPr>
        <p:txBody>
          <a:bodyPr wrap="square" lIns="0" tIns="0" rIns="0" bIns="0" rtlCol="0" anchor="ctr"/>
          <a:lstStyle/>
          <a:p>
            <a:pPr indent="0" marL="0">
              <a:buNone/>
            </a:pPr>
            <a:r>
              <a:rPr lang="en-US" sz="1800" dirty="0">
                <a:solidFill>
                  <a:srgbClr val="1C1F26"/>
                </a:solidFill>
                <a:latin typeface="Arial" pitchFamily="34" charset="0"/>
                <a:ea typeface="Arial" pitchFamily="34" charset="-122"/>
                <a:cs typeface="Arial" pitchFamily="34" charset="-120"/>
              </a:rPr>
              <a:t>case rejected as malformed before running</a:t>
            </a:r>
            <a:endParaRPr lang="en-US" sz="1800" dirty="0"/>
          </a:p>
        </p:txBody>
      </p:sp>
      <p:sp>
        <p:nvSpPr>
          <p:cNvPr id="19" name="Text 17"/>
          <p:cNvSpPr txBox="1"/>
          <p:nvPr/>
        </p:nvSpPr>
        <p:spPr>
          <a:xfrm>
            <a:off x="548640" y="5349240"/>
            <a:ext cx="1097280" cy="411480"/>
          </a:xfrm>
          <a:prstGeom prst="rect">
            <a:avLst/>
          </a:prstGeom>
          <a:noFill/>
          <a:ln/>
        </p:spPr>
        <p:txBody>
          <a:bodyPr wrap="square" lIns="0" tIns="0" rIns="0" bIns="0" rtlCol="0" anchor="ctr"/>
          <a:lstStyle/>
          <a:p>
            <a:pPr indent="0" marL="0">
              <a:buNone/>
            </a:pPr>
            <a:r>
              <a:rPr lang="en-US" sz="2400" b="1" dirty="0">
                <a:solidFill>
                  <a:srgbClr val="1C1F26"/>
                </a:solidFill>
                <a:latin typeface="Arial" pitchFamily="34" charset="0"/>
                <a:ea typeface="Arial" pitchFamily="34" charset="-122"/>
                <a:cs typeface="Arial" pitchFamily="34" charset="-120"/>
              </a:rPr>
              <a:t>91 s</a:t>
            </a:r>
            <a:endParaRPr lang="en-US" sz="2400" dirty="0"/>
          </a:p>
        </p:txBody>
      </p:sp>
      <p:sp>
        <p:nvSpPr>
          <p:cNvPr id="20" name="Text 18"/>
          <p:cNvSpPr txBox="1"/>
          <p:nvPr/>
        </p:nvSpPr>
        <p:spPr>
          <a:xfrm>
            <a:off x="1737360" y="5349240"/>
            <a:ext cx="9509760" cy="411480"/>
          </a:xfrm>
          <a:prstGeom prst="rect">
            <a:avLst/>
          </a:prstGeom>
          <a:noFill/>
          <a:ln/>
        </p:spPr>
        <p:txBody>
          <a:bodyPr wrap="square" lIns="0" tIns="0" rIns="0" bIns="0" rtlCol="0" anchor="ctr"/>
          <a:lstStyle/>
          <a:p>
            <a:pPr indent="0" marL="0">
              <a:buNone/>
            </a:pPr>
            <a:r>
              <a:rPr lang="en-US" sz="1800" dirty="0">
                <a:solidFill>
                  <a:srgbClr val="1C1F26"/>
                </a:solidFill>
                <a:latin typeface="Arial" pitchFamily="34" charset="0"/>
                <a:ea typeface="Arial" pitchFamily="34" charset="-122"/>
                <a:cs typeface="Arial" pitchFamily="34" charset="-120"/>
              </a:rPr>
              <a:t>to generate on a laptop: too slow to run live</a:t>
            </a:r>
            <a:endParaRPr lang="en-US" sz="1800" dirty="0"/>
          </a:p>
        </p:txBody>
      </p:sp>
      <p:sp>
        <p:nvSpPr>
          <p:cNvPr id="21" name="Text 19"/>
          <p:cNvSpPr txBox="1"/>
          <p:nvPr/>
        </p:nvSpPr>
        <p:spPr>
          <a:xfrm>
            <a:off x="548640" y="6126480"/>
            <a:ext cx="10972800" cy="320040"/>
          </a:xfrm>
          <a:prstGeom prst="rect">
            <a:avLst/>
          </a:prstGeom>
          <a:noFill/>
          <a:ln/>
        </p:spPr>
        <p:txBody>
          <a:bodyPr wrap="square" lIns="0" tIns="0" rIns="0" bIns="0" rtlCol="0" anchor="t"/>
          <a:lstStyle/>
          <a:p>
            <a:pPr indent="0" marL="0">
              <a:buNone/>
            </a:pPr>
            <a:r>
              <a:rPr lang="en-US" sz="1200" dirty="0">
                <a:solidFill>
                  <a:srgbClr val="5B616E"/>
                </a:solidFill>
                <a:latin typeface="Courier New" pitchFamily="34" charset="0"/>
                <a:ea typeface="Courier New" pitchFamily="34" charset="-122"/>
                <a:cs typeface="Courier New" pitchFamily="34" charset="-120"/>
              </a:rPr>
              <a:t>qwen2.5-coder:7b · local · one prompt · unedited output · 17 Sep 2026</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61B"/>
        </a:solidFill>
      </p:bgPr>
    </p:bg>
    <p:spTree>
      <p:nvGrpSpPr>
        <p:cNvPr id="1" name=""/>
        <p:cNvGrpSpPr/>
        <p:nvPr/>
      </p:nvGrpSpPr>
      <p:grpSpPr>
        <a:xfrm>
          <a:off x="0" y="0"/>
          <a:ext cx="0" cy="0"/>
          <a:chOff x="0" y="0"/>
          <a:chExt cx="0" cy="0"/>
        </a:xfrm>
      </p:grpSpPr>
      <p:sp>
        <p:nvSpPr>
          <p:cNvPr id="2" name="Text 0"/>
          <p:cNvSpPr txBox="1"/>
          <p:nvPr/>
        </p:nvSpPr>
        <p:spPr>
          <a:xfrm>
            <a:off x="548640" y="548640"/>
            <a:ext cx="7772400" cy="82296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Try it on Monday</a:t>
            </a:r>
            <a:endParaRPr lang="en-US" sz="4400" dirty="0"/>
          </a:p>
        </p:txBody>
      </p:sp>
      <p:sp>
        <p:nvSpPr>
          <p:cNvPr id="3" name="Shape 1"/>
          <p:cNvSpPr/>
          <p:nvPr/>
        </p:nvSpPr>
        <p:spPr>
          <a:xfrm>
            <a:off x="548640" y="1709928"/>
            <a:ext cx="457200" cy="457200"/>
          </a:xfrm>
          <a:prstGeom prst="ellipse">
            <a:avLst/>
          </a:prstGeom>
          <a:solidFill>
            <a:srgbClr val="2A2F39"/>
          </a:solidFill>
          <a:ln w="12700">
            <a:solidFill>
              <a:srgbClr val="2A2F39"/>
            </a:solidFill>
            <a:prstDash val="solid"/>
          </a:ln>
        </p:spPr>
      </p:sp>
      <p:sp>
        <p:nvSpPr>
          <p:cNvPr id="4" name="Text 2"/>
          <p:cNvSpPr txBox="1"/>
          <p:nvPr/>
        </p:nvSpPr>
        <p:spPr>
          <a:xfrm>
            <a:off x="548640" y="17099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 name="Text 3"/>
          <p:cNvSpPr txBox="1"/>
          <p:nvPr/>
        </p:nvSpPr>
        <p:spPr>
          <a:xfrm>
            <a:off x="1280160" y="1673352"/>
            <a:ext cx="694944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Commit the generated cases</a:t>
            </a:r>
            <a:endParaRPr lang="en-US" sz="2200" dirty="0"/>
          </a:p>
        </p:txBody>
      </p:sp>
      <p:sp>
        <p:nvSpPr>
          <p:cNvPr id="6" name="Text 4"/>
          <p:cNvSpPr txBox="1"/>
          <p:nvPr/>
        </p:nvSpPr>
        <p:spPr>
          <a:xfrm>
            <a:off x="1280160" y="2103120"/>
            <a:ext cx="6949440" cy="365760"/>
          </a:xfrm>
          <a:prstGeom prst="rect">
            <a:avLst/>
          </a:prstGeom>
          <a:noFill/>
          <a:ln/>
        </p:spPr>
        <p:txBody>
          <a:bodyPr wrap="square" lIns="0" tIns="0" rIns="0" bIns="0" rtlCol="0" anchor="t"/>
          <a:lstStyle/>
          <a:p>
            <a:pPr indent="0" marL="0">
              <a:buNone/>
            </a:pPr>
            <a:r>
              <a:rPr lang="en-US" sz="1600" dirty="0">
                <a:solidFill>
                  <a:srgbClr val="9AA1AD"/>
                </a:solidFill>
                <a:latin typeface="Arial" pitchFamily="34" charset="0"/>
                <a:ea typeface="Arial" pitchFamily="34" charset="-122"/>
                <a:cs typeface="Arial" pitchFamily="34" charset="-120"/>
              </a:rPr>
              <a:t>Review them in a PR like any other test suite.</a:t>
            </a:r>
            <a:endParaRPr lang="en-US" sz="1600" dirty="0"/>
          </a:p>
        </p:txBody>
      </p:sp>
      <p:sp>
        <p:nvSpPr>
          <p:cNvPr id="7" name="Shape 5"/>
          <p:cNvSpPr/>
          <p:nvPr/>
        </p:nvSpPr>
        <p:spPr>
          <a:xfrm>
            <a:off x="548640" y="2807208"/>
            <a:ext cx="457200" cy="457200"/>
          </a:xfrm>
          <a:prstGeom prst="ellipse">
            <a:avLst/>
          </a:prstGeom>
          <a:solidFill>
            <a:srgbClr val="2A2F39"/>
          </a:solidFill>
          <a:ln w="12700">
            <a:solidFill>
              <a:srgbClr val="2A2F39"/>
            </a:solidFill>
            <a:prstDash val="solid"/>
          </a:ln>
        </p:spPr>
      </p:sp>
      <p:sp>
        <p:nvSpPr>
          <p:cNvPr id="8" name="Text 6"/>
          <p:cNvSpPr txBox="1"/>
          <p:nvPr/>
        </p:nvSpPr>
        <p:spPr>
          <a:xfrm>
            <a:off x="548640" y="28072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280160" y="2770632"/>
            <a:ext cx="694944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Run them as a separate CI job</a:t>
            </a:r>
            <a:endParaRPr lang="en-US" sz="2200" dirty="0"/>
          </a:p>
        </p:txBody>
      </p:sp>
      <p:sp>
        <p:nvSpPr>
          <p:cNvPr id="10" name="Text 8"/>
          <p:cNvSpPr txBox="1"/>
          <p:nvPr/>
        </p:nvSpPr>
        <p:spPr>
          <a:xfrm>
            <a:off x="1280160" y="3200400"/>
            <a:ext cx="6949440" cy="365760"/>
          </a:xfrm>
          <a:prstGeom prst="rect">
            <a:avLst/>
          </a:prstGeom>
          <a:noFill/>
          <a:ln/>
        </p:spPr>
        <p:txBody>
          <a:bodyPr wrap="square" lIns="0" tIns="0" rIns="0" bIns="0" rtlCol="0" anchor="t"/>
          <a:lstStyle/>
          <a:p>
            <a:pPr indent="0" marL="0">
              <a:buNone/>
            </a:pPr>
            <a:r>
              <a:rPr lang="en-US" sz="1600" dirty="0">
                <a:solidFill>
                  <a:srgbClr val="9AA1AD"/>
                </a:solidFill>
                <a:latin typeface="Arial" pitchFamily="34" charset="0"/>
                <a:ea typeface="Arial" pitchFamily="34" charset="-122"/>
                <a:cs typeface="Arial" pitchFamily="34" charset="-120"/>
              </a:rPr>
              <a:t>Non-blocking until a human has triaged the reds once.</a:t>
            </a:r>
            <a:endParaRPr lang="en-US" sz="1600" dirty="0"/>
          </a:p>
        </p:txBody>
      </p:sp>
      <p:sp>
        <p:nvSpPr>
          <p:cNvPr id="11" name="Shape 9"/>
          <p:cNvSpPr/>
          <p:nvPr/>
        </p:nvSpPr>
        <p:spPr>
          <a:xfrm>
            <a:off x="548640" y="3904488"/>
            <a:ext cx="457200" cy="457200"/>
          </a:xfrm>
          <a:prstGeom prst="ellipse">
            <a:avLst/>
          </a:prstGeom>
          <a:solidFill>
            <a:srgbClr val="2A2F39"/>
          </a:solidFill>
          <a:ln w="12700">
            <a:solidFill>
              <a:srgbClr val="2A2F39"/>
            </a:solidFill>
            <a:prstDash val="solid"/>
          </a:ln>
        </p:spPr>
      </p:sp>
      <p:sp>
        <p:nvSpPr>
          <p:cNvPr id="12" name="Text 10"/>
          <p:cNvSpPr txBox="1"/>
          <p:nvPr/>
        </p:nvSpPr>
        <p:spPr>
          <a:xfrm>
            <a:off x="548640" y="39044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3" name="Text 11"/>
          <p:cNvSpPr txBox="1"/>
          <p:nvPr/>
        </p:nvSpPr>
        <p:spPr>
          <a:xfrm>
            <a:off x="1280160" y="3867912"/>
            <a:ext cx="694944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Regenerate when the spec changes</a:t>
            </a:r>
            <a:endParaRPr lang="en-US" sz="2200" dirty="0"/>
          </a:p>
        </p:txBody>
      </p:sp>
      <p:sp>
        <p:nvSpPr>
          <p:cNvPr id="14" name="Text 12"/>
          <p:cNvSpPr txBox="1"/>
          <p:nvPr/>
        </p:nvSpPr>
        <p:spPr>
          <a:xfrm>
            <a:off x="1280160" y="4297680"/>
            <a:ext cx="6949440" cy="365760"/>
          </a:xfrm>
          <a:prstGeom prst="rect">
            <a:avLst/>
          </a:prstGeom>
          <a:noFill/>
          <a:ln/>
        </p:spPr>
        <p:txBody>
          <a:bodyPr wrap="square" lIns="0" tIns="0" rIns="0" bIns="0" rtlCol="0" anchor="t"/>
          <a:lstStyle/>
          <a:p>
            <a:pPr indent="0" marL="0">
              <a:buNone/>
            </a:pPr>
            <a:r>
              <a:rPr lang="en-US" sz="1600" dirty="0">
                <a:solidFill>
                  <a:srgbClr val="9AA1AD"/>
                </a:solidFill>
                <a:latin typeface="Arial" pitchFamily="34" charset="0"/>
                <a:ea typeface="Arial" pitchFamily="34" charset="-122"/>
                <a:cs typeface="Arial" pitchFamily="34" charset="-120"/>
              </a:rPr>
              <a:t>Not on every run, or the suite will flap.</a:t>
            </a:r>
            <a:endParaRPr lang="en-US" sz="1600" dirty="0"/>
          </a:p>
        </p:txBody>
      </p:sp>
      <p:sp>
        <p:nvSpPr>
          <p:cNvPr id="15" name="Shape 13"/>
          <p:cNvSpPr/>
          <p:nvPr/>
        </p:nvSpPr>
        <p:spPr>
          <a:xfrm>
            <a:off x="548640" y="5001768"/>
            <a:ext cx="457200" cy="457200"/>
          </a:xfrm>
          <a:prstGeom prst="ellipse">
            <a:avLst/>
          </a:prstGeom>
          <a:solidFill>
            <a:srgbClr val="E5484D"/>
          </a:solidFill>
          <a:ln w="12700">
            <a:solidFill>
              <a:srgbClr val="E5484D"/>
            </a:solidFill>
            <a:prstDash val="solid"/>
          </a:ln>
        </p:spPr>
      </p:sp>
      <p:sp>
        <p:nvSpPr>
          <p:cNvPr id="16" name="Text 14"/>
          <p:cNvSpPr txBox="1"/>
          <p:nvPr/>
        </p:nvSpPr>
        <p:spPr>
          <a:xfrm>
            <a:off x="548640" y="5001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7" name="Text 15"/>
          <p:cNvSpPr txBox="1"/>
          <p:nvPr/>
        </p:nvSpPr>
        <p:spPr>
          <a:xfrm>
            <a:off x="1280160" y="4965192"/>
            <a:ext cx="694944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Write business rules into the spec</a:t>
            </a:r>
            <a:endParaRPr lang="en-US" sz="2200" dirty="0"/>
          </a:p>
        </p:txBody>
      </p:sp>
      <p:sp>
        <p:nvSpPr>
          <p:cNvPr id="18" name="Text 16"/>
          <p:cNvSpPr txBox="1"/>
          <p:nvPr/>
        </p:nvSpPr>
        <p:spPr>
          <a:xfrm>
            <a:off x="1280160" y="5394960"/>
            <a:ext cx="6949440" cy="365760"/>
          </a:xfrm>
          <a:prstGeom prst="rect">
            <a:avLst/>
          </a:prstGeom>
          <a:noFill/>
          <a:ln/>
        </p:spPr>
        <p:txBody>
          <a:bodyPr wrap="square" lIns="0" tIns="0" rIns="0" bIns="0" rtlCol="0" anchor="t"/>
          <a:lstStyle/>
          <a:p>
            <a:pPr indent="0" marL="0">
              <a:buNone/>
            </a:pPr>
            <a:r>
              <a:rPr lang="en-US" sz="1600" dirty="0">
                <a:solidFill>
                  <a:srgbClr val="9AA1AD"/>
                </a:solidFill>
                <a:latin typeface="Arial" pitchFamily="34" charset="0"/>
                <a:ea typeface="Arial" pitchFamily="34" charset="-122"/>
                <a:cs typeface="Arial" pitchFamily="34" charset="-120"/>
              </a:rPr>
              <a:t>Every rule a reader can find is a rule this can test.</a:t>
            </a:r>
            <a:endParaRPr lang="en-US" sz="1600" dirty="0"/>
          </a:p>
        </p:txBody>
      </p:sp>
      <p:sp>
        <p:nvSpPr>
          <p:cNvPr id="19" name="Shape 17"/>
          <p:cNvSpPr/>
          <p:nvPr/>
        </p:nvSpPr>
        <p:spPr>
          <a:xfrm>
            <a:off x="9006840" y="1691640"/>
            <a:ext cx="2606040" cy="2606040"/>
          </a:xfrm>
          <a:prstGeom prst="roundRect">
            <a:avLst>
              <a:gd name="adj" fmla="val 5263"/>
            </a:avLst>
          </a:prstGeom>
          <a:solidFill>
            <a:srgbClr val="FFFFFF"/>
          </a:solidFill>
          <a:ln w="12700">
            <a:solidFill>
              <a:srgbClr val="FFFFFF"/>
            </a:solidFill>
            <a:prstDash val="solid"/>
          </a:ln>
        </p:spPr>
      </p:sp>
      <p:pic>
        <p:nvPicPr>
          <p:cNvPr id="20" name="Image 0" descr="qr.png">    </p:cNvPr>
          <p:cNvPicPr>
            <a:picLocks noChangeAspect="1"/>
          </p:cNvPicPr>
          <p:nvPr/>
        </p:nvPicPr>
        <p:blipFill>
          <a:blip r:embed="rId1"/>
          <a:stretch>
            <a:fillRect/>
          </a:stretch>
        </p:blipFill>
        <p:spPr>
          <a:xfrm>
            <a:off x="9171432" y="1856232"/>
            <a:ext cx="2286000" cy="2286000"/>
          </a:xfrm>
          <a:prstGeom prst="rect">
            <a:avLst/>
          </a:prstGeom>
        </p:spPr>
      </p:pic>
      <p:sp>
        <p:nvSpPr>
          <p:cNvPr id="21" name="Text 18"/>
          <p:cNvSpPr txBox="1"/>
          <p:nvPr/>
        </p:nvSpPr>
        <p:spPr>
          <a:xfrm>
            <a:off x="8549640" y="4526280"/>
            <a:ext cx="3520440"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Arial" pitchFamily="34" charset="0"/>
                <a:ea typeface="Arial" pitchFamily="34" charset="-122"/>
                <a:cs typeface="Arial" pitchFamily="34" charset="-120"/>
              </a:rPr>
              <a:t>Break it yourself.</a:t>
            </a:r>
            <a:endParaRPr lang="en-US" sz="2200" dirty="0"/>
          </a:p>
        </p:txBody>
      </p:sp>
      <p:sp>
        <p:nvSpPr>
          <p:cNvPr id="22" name="Text 19"/>
          <p:cNvSpPr txBox="1"/>
          <p:nvPr/>
        </p:nvSpPr>
        <p:spPr>
          <a:xfrm>
            <a:off x="8549640" y="4983480"/>
            <a:ext cx="3520440" cy="320040"/>
          </a:xfrm>
          <a:prstGeom prst="rect">
            <a:avLst/>
          </a:prstGeom>
          <a:noFill/>
          <a:ln/>
        </p:spPr>
        <p:txBody>
          <a:bodyPr wrap="square" lIns="0" tIns="0" rIns="0" bIns="0" rtlCol="0" anchor="t"/>
          <a:lstStyle/>
          <a:p>
            <a:pPr algn="ctr" indent="0" marL="0">
              <a:buNone/>
            </a:pPr>
            <a:r>
              <a:rPr lang="en-US" sz="1100" dirty="0">
                <a:solidFill>
                  <a:srgbClr val="9AA1AD"/>
                </a:solidFill>
                <a:latin typeface="Courier New" pitchFamily="34" charset="0"/>
                <a:ea typeface="Courier New" pitchFamily="34" charset="-122"/>
                <a:cs typeface="Courier New" pitchFamily="34" charset="-120"/>
              </a:rPr>
              <a:t>github.com/vidyarathna/break-my-api</a:t>
            </a:r>
            <a:endParaRPr lang="en-US" sz="1100" dirty="0"/>
          </a:p>
        </p:txBody>
      </p:sp>
      <p:sp>
        <p:nvSpPr>
          <p:cNvPr id="23" name="Text 20"/>
          <p:cNvSpPr txBox="1"/>
          <p:nvPr/>
        </p:nvSpPr>
        <p:spPr>
          <a:xfrm>
            <a:off x="8549640" y="5760720"/>
            <a:ext cx="3520440" cy="365760"/>
          </a:xfrm>
          <a:prstGeom prst="rect">
            <a:avLst/>
          </a:prstGeom>
          <a:noFill/>
          <a:ln/>
        </p:spPr>
        <p:txBody>
          <a:bodyPr wrap="square" lIns="0" tIns="0" rIns="0" bIns="0" rtlCol="0" anchor="t"/>
          <a:lstStyle/>
          <a:p>
            <a:pPr algn="ctr" indent="0" marL="0">
              <a:buNone/>
            </a:pPr>
            <a:r>
              <a:rPr lang="en-US" sz="1600" dirty="0">
                <a:solidFill>
                  <a:srgbClr val="9AA1AD"/>
                </a:solidFill>
                <a:latin typeface="Arial" pitchFamily="34" charset="0"/>
                <a:ea typeface="Arial" pitchFamily="34" charset="-122"/>
                <a:cs typeface="Arial" pitchFamily="34" charset="-120"/>
              </a:rPr>
              <a:t>Vidyarathna B  ·  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Break My API: Can AI Find the Bugs I Forgot to Test?</dc:title>
  <dc:subject>PptxGenJS Presentation</dc:subject>
  <dc:creator>Vidyarathna B</dc:creator>
  <cp:lastModifiedBy>Vidyarathna B</cp:lastModifiedBy>
  <cp:revision>1</cp:revision>
  <dcterms:created xsi:type="dcterms:W3CDTF">2026-09-17T16:47:35Z</dcterms:created>
  <dcterms:modified xsi:type="dcterms:W3CDTF">2026-09-17T16:47:35Z</dcterms:modified>
</cp:coreProperties>
</file>