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Today's theme is 'beyond the prompt'. My talk is a small, real example: the prompt got AI to suggest attacks, but it was the engineering around it, running every idea and checking the evidence, that told me which ones were true. Keep this short; the terminal is ready behind the slides with the API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most of us use AI to write code. Today I'll use it to break code, and then check whether it was right. Four steps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when I write quantity: int, my brain fills in 'a positive number'. I test with 2, it passes. The assumption was never written down, so it was never tested. Attackers and real users take the other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theory for anyone new. An API is a menu of requests a program accepts. The status code is its one-word verdict. Most of today's tests just ask: when I send something wrong, do I get a 4xx?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rules properly. Pause on rule 3: credits are money. Say 'hold on to that, it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curl live. Two tickets, 4000 charged, 400 back, balance 1400. Say: correct. I wrote this, I tested it, the tests pass. That's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three roles. The model guesses, the runner checks, a human decides. Each fails in a different way, which is why you need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one is rule 2. Without it, the model writes down what the API currently does, and every test passes: a green suite that certifies your bugs.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bright lines: only method, endpoint, auth, payload and expected status are executed. The reason and severity are for humans. So if the model hallucinates an endpoint, it fails loudly with a 404.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theme of today's event. The model only gives ideas. Everything around it (structured output, validation, execution, human review) is what turns those ideas into trustworthy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generate live: it took 91 seconds. Say: I ran this prompt last night on a local 7B model, no internet. This is the unedited output. Read the assumptions, then show one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Pause. Then say: eight guesses, five came back red. Now let's decide which of those five are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expected, then got, for each. TC-002: a bad token crashed the server and leaked Python's error. TC-004: a token I made up gives admin. TC-005: Bob reads Alice's order by changing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credible moment of the talk. Both results look like findings. Both are wrong. That's why the runner says candidate defects, and why the last step is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can't answer these reliably. Someone who knows the system can answer all four in a minute or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two lines. Line 139 is what you pay after the discount. Line 151 is what you earn: from the full list price. Then remind them SPEAKER100 can be reused. Ask the room: five rounds from 5000, where does the balance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money_loop.py and stay quiet while it prints. Then: every request returned 201. Nothing was invalid. The model did not find this; I did, because I know credits are money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race.py. Then explain: everyone reads 5 seats before anyone writes 4. Every request is valid; the bug is in the timing between them. The AI's test format is one request and one expected answer, so it cannot express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Reset first so the numbers are clean. Buy the student ticket as Alice with a corporate email: 201. Then state the policy. The gap between the screen and the policy is the whole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Positive framing: each of these is handled by the engineering around the model, not by a better prompt. Say 'this model, this format', never 'AI 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red, three real, two confidently wrong, zero on the expensive bug. Then the second prompt: its tests confirmed the input checks work, which is useful too; it found nothing new. Never cut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title. Yes: 3 real bugs my tests missed, in 90 seconds, on a laptop, for free. The engineering around it is what makes those results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slowly, word for word. Pause between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point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Stay on this slide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while people scan. Say: it takes under a minute, and it genuinely helps me improve the next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HackersMang closing slide from the official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3" name="Image 0" descr="bg/bg-01.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hm-logo.png">    </p:cNvPr>
          <p:cNvPicPr>
            <a:picLocks noChangeAspect="1"/>
          </p:cNvPicPr>
          <p:nvPr/>
        </p:nvPicPr>
        <p:blipFill>
          <a:blip r:embed="rId2"/>
          <a:stretch>
            <a:fillRect/>
          </a:stretch>
        </p:blipFill>
        <p:spPr>
          <a:xfrm>
            <a:off x="3648456" y="137160"/>
            <a:ext cx="1856232" cy="1856232"/>
          </a:xfrm>
          <a:prstGeom prst="rect">
            <a:avLst/>
          </a:prstGeom>
        </p:spPr>
      </p:pic>
      <p:pic>
        <p:nvPicPr>
          <p:cNvPr id="5" name="Image 2" descr="hm-banner.png">    </p:cNvPr>
          <p:cNvPicPr>
            <a:picLocks noChangeAspect="1"/>
          </p:cNvPicPr>
          <p:nvPr/>
        </p:nvPicPr>
        <p:blipFill>
          <a:blip r:embed="rId3"/>
          <a:stretch>
            <a:fillRect/>
          </a:stretch>
        </p:blipFill>
        <p:spPr>
          <a:xfrm>
            <a:off x="2148840" y="1993392"/>
            <a:ext cx="4846320" cy="1316736"/>
          </a:xfrm>
          <a:prstGeom prst="rect">
            <a:avLst/>
          </a:prstGeom>
        </p:spPr>
      </p:pic>
      <p:sp>
        <p:nvSpPr>
          <p:cNvPr id="6" name="Text 0"/>
          <p:cNvSpPr txBox="1"/>
          <p:nvPr/>
        </p:nvSpPr>
        <p:spPr>
          <a:xfrm>
            <a:off x="310896" y="3273552"/>
            <a:ext cx="8522208" cy="914400"/>
          </a:xfrm>
          <a:prstGeom prst="rect">
            <a:avLst/>
          </a:prstGeom>
          <a:noFill/>
          <a:ln/>
        </p:spPr>
        <p:txBody>
          <a:bodyPr wrap="square" lIns="0" tIns="0" rIns="0" bIns="0" rtlCol="0" anchor="b"/>
          <a:lstStyle/>
          <a:p>
            <a:pPr algn="ctr" indent="0" marL="0">
              <a:buNone/>
            </a:pPr>
            <a:r>
              <a:rPr lang="en-US" sz="2600" dirty="0">
                <a:solidFill>
                  <a:srgbClr val="1C1F26"/>
                </a:solidFill>
                <a:latin typeface="Arial" pitchFamily="34" charset="0"/>
                <a:ea typeface="Arial" pitchFamily="34" charset="-122"/>
                <a:cs typeface="Arial" pitchFamily="34" charset="-120"/>
              </a:rPr>
              <a:t>Break My API: Can AI Find the Bugs I Forgot to Test?</a:t>
            </a:r>
            <a:endParaRPr lang="en-US" sz="2600" dirty="0"/>
          </a:p>
        </p:txBody>
      </p:sp>
      <p:sp>
        <p:nvSpPr>
          <p:cNvPr id="7" name="Text 1"/>
          <p:cNvSpPr txBox="1"/>
          <p:nvPr/>
        </p:nvSpPr>
        <p:spPr>
          <a:xfrm>
            <a:off x="310896" y="4261104"/>
            <a:ext cx="8522208" cy="731520"/>
          </a:xfrm>
          <a:prstGeom prst="rect">
            <a:avLst/>
          </a:prstGeom>
          <a:noFill/>
          <a:ln/>
        </p:spPr>
        <p:txBody>
          <a:bodyPr wrap="square" lIns="0" tIns="0" rIns="0" bIns="0" rtlCol="0" anchor="t"/>
          <a:lstStyle/>
          <a:p>
            <a:pPr algn="ctr" indent="0" marL="0">
              <a:buNone/>
            </a:pPr>
            <a:r>
              <a:rPr lang="en-US" sz="2200" dirty="0">
                <a:solidFill>
                  <a:srgbClr val="1C1F26"/>
                </a:solidFill>
                <a:latin typeface="Arial" pitchFamily="34" charset="0"/>
                <a:ea typeface="Arial" pitchFamily="34" charset="-122"/>
                <a:cs typeface="Arial" pitchFamily="34" charset="-120"/>
              </a:rPr>
              <a:t>Vidyarathna B</a:t>
            </a:r>
            <a:endParaRPr lang="en-US" sz="2200" dirty="0"/>
          </a:p>
          <a:p>
            <a:pPr algn="ctr" indent="0" marL="0">
              <a:buNone/>
            </a:pPr>
            <a:r>
              <a:rPr lang="en-US" sz="1500" dirty="0">
                <a:solidFill>
                  <a:srgbClr val="595959"/>
                </a:solidFill>
                <a:latin typeface="Arial" pitchFamily="34" charset="0"/>
                <a:ea typeface="Arial" pitchFamily="34" charset="-122"/>
                <a:cs typeface="Arial" pitchFamily="34" charset="-120"/>
              </a:rPr>
              <a:t>Software Engineer · Soult Digital</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3" name="Image 0" descr="bg/bg-02.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5" name="Text 1"/>
          <p:cNvSpPr txBox="1"/>
          <p:nvPr/>
        </p:nvSpPr>
        <p:spPr>
          <a:xfrm>
            <a:off x="411480" y="308610"/>
            <a:ext cx="6172200" cy="240030"/>
          </a:xfrm>
          <a:prstGeom prst="rect">
            <a:avLst/>
          </a:prstGeom>
          <a:noFill/>
          <a:ln/>
        </p:spPr>
        <p:txBody>
          <a:bodyPr wrap="square" lIns="0" tIns="0" rIns="0" bIns="0" rtlCol="0" anchor="t"/>
          <a:lstStyle/>
          <a:p>
            <a:pPr indent="0" marL="0">
              <a:buNone/>
            </a:pPr>
            <a:r>
              <a:rPr lang="en-US" sz="975" b="1" dirty="0">
                <a:solidFill>
                  <a:srgbClr val="B7791F"/>
                </a:solidFill>
                <a:latin typeface="Courier New" pitchFamily="34" charset="0"/>
                <a:ea typeface="Courier New" pitchFamily="34" charset="-122"/>
                <a:cs typeface="Courier New" pitchFamily="34" charset="-120"/>
              </a:rPr>
              <a:t>TODAY</a:t>
            </a:r>
            <a:endParaRPr lang="en-US" sz="975" dirty="0"/>
          </a:p>
        </p:txBody>
      </p:sp>
      <p:sp>
        <p:nvSpPr>
          <p:cNvPr id="6" name="Text 2"/>
          <p:cNvSpPr txBox="1"/>
          <p:nvPr/>
        </p:nvSpPr>
        <p:spPr>
          <a:xfrm>
            <a:off x="411480" y="548640"/>
            <a:ext cx="8320857" cy="582930"/>
          </a:xfrm>
          <a:prstGeom prst="rect">
            <a:avLst/>
          </a:prstGeom>
          <a:noFill/>
          <a:ln/>
        </p:spPr>
        <p:txBody>
          <a:bodyPr wrap="square" lIns="0" tIns="0" rIns="0" bIns="0" rtlCol="0" anchor="t"/>
          <a:lstStyle/>
          <a:p>
            <a:pPr indent="0" marL="0">
              <a:buNone/>
            </a:pPr>
            <a:r>
              <a:rPr lang="en-US" sz="2400" b="1" dirty="0">
                <a:solidFill>
                  <a:srgbClr val="1C1F26"/>
                </a:solidFill>
                <a:latin typeface="Arial" pitchFamily="34" charset="0"/>
                <a:ea typeface="Arial" pitchFamily="34" charset="-122"/>
                <a:cs typeface="Arial" pitchFamily="34" charset="-120"/>
              </a:rPr>
              <a:t>What we'll do in 30 minutes</a:t>
            </a:r>
            <a:endParaRPr lang="en-US" sz="2400" dirty="0"/>
          </a:p>
        </p:txBody>
      </p:sp>
      <p:sp>
        <p:nvSpPr>
          <p:cNvPr id="7" name="Text 3"/>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2</a:t>
            </a:r>
            <a:endParaRPr lang="en-US" sz="825" dirty="0"/>
          </a:p>
        </p:txBody>
      </p:sp>
      <p:sp>
        <p:nvSpPr>
          <p:cNvPr id="8" name="Text 4"/>
          <p:cNvSpPr txBox="1"/>
          <p:nvPr/>
        </p:nvSpPr>
        <p:spPr>
          <a:xfrm>
            <a:off x="411480" y="1337310"/>
            <a:ext cx="651510" cy="651510"/>
          </a:xfrm>
          <a:prstGeom prst="rect">
            <a:avLst/>
          </a:prstGeom>
          <a:noFill/>
          <a:ln/>
        </p:spPr>
        <p:txBody>
          <a:bodyPr wrap="square" lIns="0" tIns="0" rIns="0" bIns="0" rtlCol="0" anchor="ctr"/>
          <a:lstStyle/>
          <a:p>
            <a:pPr algn="ctr" indent="0" marL="0">
              <a:buNone/>
            </a:pPr>
            <a:r>
              <a:rPr lang="en-US" sz="2250" b="1" dirty="0">
                <a:solidFill>
                  <a:srgbClr val="FFFFFF"/>
                </a:solidFill>
                <a:latin typeface="Arial" pitchFamily="34" charset="0"/>
                <a:ea typeface="Arial" pitchFamily="34" charset="-122"/>
                <a:cs typeface="Arial" pitchFamily="34" charset="-120"/>
              </a:rPr>
              <a:t>1</a:t>
            </a:r>
            <a:endParaRPr lang="en-US" sz="2250" dirty="0"/>
          </a:p>
        </p:txBody>
      </p:sp>
      <p:sp>
        <p:nvSpPr>
          <p:cNvPr id="9" name="Text 5"/>
          <p:cNvSpPr txBox="1"/>
          <p:nvPr/>
        </p:nvSpPr>
        <p:spPr>
          <a:xfrm>
            <a:off x="1200150" y="1337310"/>
            <a:ext cx="7532096" cy="651510"/>
          </a:xfrm>
          <a:prstGeom prst="rect">
            <a:avLst/>
          </a:prstGeom>
          <a:noFill/>
          <a:ln/>
        </p:spPr>
        <p:txBody>
          <a:bodyPr wrap="square" lIns="133350" tIns="133350" rIns="133350" bIns="133350" rtlCol="0" anchor="ctr"/>
          <a:lstStyle/>
          <a:p>
            <a:pPr indent="0" marL="0">
              <a:buNone/>
            </a:pPr>
            <a:r>
              <a:rPr lang="en-US" sz="1650" b="1" dirty="0">
                <a:solidFill>
                  <a:srgbClr val="2F5FD0"/>
                </a:solidFill>
                <a:latin typeface="Arial" pitchFamily="34" charset="0"/>
                <a:ea typeface="Arial" pitchFamily="34" charset="-122"/>
                <a:cs typeface="Arial" pitchFamily="34" charset="-120"/>
              </a:rPr>
              <a:t>Build</a:t>
            </a:r>
            <a:endParaRPr lang="en-US" sz="1650" dirty="0"/>
          </a:p>
          <a:p>
            <a:pPr indent="0" marL="0">
              <a:buNone/>
            </a:pPr>
            <a:r>
              <a:rPr lang="en-US" sz="1275" dirty="0">
                <a:solidFill>
                  <a:srgbClr val="4A5063"/>
                </a:solidFill>
                <a:latin typeface="Arial" pitchFamily="34" charset="0"/>
                <a:ea typeface="Arial" pitchFamily="34" charset="-122"/>
                <a:cs typeface="Arial" pitchFamily="34" charset="-120"/>
              </a:rPr>
              <a:t>A small ticket-shop API with 10 bugs planted on purpose</a:t>
            </a:r>
            <a:endParaRPr lang="en-US" sz="1650" dirty="0"/>
          </a:p>
        </p:txBody>
      </p:sp>
      <p:sp>
        <p:nvSpPr>
          <p:cNvPr id="10" name="Text 6"/>
          <p:cNvSpPr txBox="1"/>
          <p:nvPr/>
        </p:nvSpPr>
        <p:spPr>
          <a:xfrm>
            <a:off x="411480" y="2146554"/>
            <a:ext cx="651510" cy="651510"/>
          </a:xfrm>
          <a:prstGeom prst="rect">
            <a:avLst/>
          </a:prstGeom>
          <a:noFill/>
          <a:ln/>
        </p:spPr>
        <p:txBody>
          <a:bodyPr wrap="square" lIns="0" tIns="0" rIns="0" bIns="0" rtlCol="0" anchor="ctr"/>
          <a:lstStyle/>
          <a:p>
            <a:pPr algn="ctr" indent="0" marL="0">
              <a:buNone/>
            </a:pPr>
            <a:r>
              <a:rPr lang="en-US" sz="2250" b="1" dirty="0">
                <a:solidFill>
                  <a:srgbClr val="FFFFFF"/>
                </a:solidFill>
                <a:latin typeface="Arial" pitchFamily="34" charset="0"/>
                <a:ea typeface="Arial" pitchFamily="34" charset="-122"/>
                <a:cs typeface="Arial" pitchFamily="34" charset="-120"/>
              </a:rPr>
              <a:t>2</a:t>
            </a:r>
            <a:endParaRPr lang="en-US" sz="2250" dirty="0"/>
          </a:p>
        </p:txBody>
      </p:sp>
      <p:sp>
        <p:nvSpPr>
          <p:cNvPr id="11" name="Text 7"/>
          <p:cNvSpPr txBox="1"/>
          <p:nvPr/>
        </p:nvSpPr>
        <p:spPr>
          <a:xfrm>
            <a:off x="1200150" y="2146554"/>
            <a:ext cx="7532096" cy="651510"/>
          </a:xfrm>
          <a:prstGeom prst="rect">
            <a:avLst/>
          </a:prstGeom>
          <a:noFill/>
          <a:ln/>
        </p:spPr>
        <p:txBody>
          <a:bodyPr wrap="square" lIns="133350" tIns="133350" rIns="133350" bIns="133350" rtlCol="0" anchor="ctr"/>
          <a:lstStyle/>
          <a:p>
            <a:pPr indent="0" marL="0">
              <a:buNone/>
            </a:pPr>
            <a:r>
              <a:rPr lang="en-US" sz="1650" b="1" dirty="0">
                <a:solidFill>
                  <a:srgbClr val="D93F3F"/>
                </a:solidFill>
                <a:latin typeface="Arial" pitchFamily="34" charset="0"/>
                <a:ea typeface="Arial" pitchFamily="34" charset="-122"/>
                <a:cs typeface="Arial" pitchFamily="34" charset="-120"/>
              </a:rPr>
              <a:t>Attack</a:t>
            </a:r>
            <a:endParaRPr lang="en-US" sz="1650" dirty="0"/>
          </a:p>
          <a:p>
            <a:pPr indent="0" marL="0">
              <a:buNone/>
            </a:pPr>
            <a:r>
              <a:rPr lang="en-US" sz="1275" dirty="0">
                <a:solidFill>
                  <a:srgbClr val="4A5063"/>
                </a:solidFill>
                <a:latin typeface="Arial" pitchFamily="34" charset="0"/>
                <a:ea typeface="Arial" pitchFamily="34" charset="-122"/>
                <a:cs typeface="Arial" pitchFamily="34" charset="-120"/>
              </a:rPr>
              <a:t>Ask a local AI model to act as an attacker and write test cases</a:t>
            </a:r>
            <a:endParaRPr lang="en-US" sz="1650" dirty="0"/>
          </a:p>
        </p:txBody>
      </p:sp>
      <p:sp>
        <p:nvSpPr>
          <p:cNvPr id="12" name="Text 8"/>
          <p:cNvSpPr txBox="1"/>
          <p:nvPr/>
        </p:nvSpPr>
        <p:spPr>
          <a:xfrm>
            <a:off x="411480" y="2955798"/>
            <a:ext cx="651510" cy="651510"/>
          </a:xfrm>
          <a:prstGeom prst="rect">
            <a:avLst/>
          </a:prstGeom>
          <a:noFill/>
          <a:ln/>
        </p:spPr>
        <p:txBody>
          <a:bodyPr wrap="square" lIns="0" tIns="0" rIns="0" bIns="0" rtlCol="0" anchor="ctr"/>
          <a:lstStyle/>
          <a:p>
            <a:pPr algn="ctr" indent="0" marL="0">
              <a:buNone/>
            </a:pPr>
            <a:r>
              <a:rPr lang="en-US" sz="2250" b="1" dirty="0">
                <a:solidFill>
                  <a:srgbClr val="FFFFFF"/>
                </a:solidFill>
                <a:latin typeface="Arial" pitchFamily="34" charset="0"/>
                <a:ea typeface="Arial" pitchFamily="34" charset="-122"/>
                <a:cs typeface="Arial" pitchFamily="34" charset="-120"/>
              </a:rPr>
              <a:t>3</a:t>
            </a:r>
            <a:endParaRPr lang="en-US" sz="2250" dirty="0"/>
          </a:p>
        </p:txBody>
      </p:sp>
      <p:sp>
        <p:nvSpPr>
          <p:cNvPr id="13" name="Text 9"/>
          <p:cNvSpPr txBox="1"/>
          <p:nvPr/>
        </p:nvSpPr>
        <p:spPr>
          <a:xfrm>
            <a:off x="1200150" y="2955798"/>
            <a:ext cx="7532096" cy="651510"/>
          </a:xfrm>
          <a:prstGeom prst="rect">
            <a:avLst/>
          </a:prstGeom>
          <a:noFill/>
          <a:ln/>
        </p:spPr>
        <p:txBody>
          <a:bodyPr wrap="square" lIns="133350" tIns="133350" rIns="133350" bIns="133350" rtlCol="0" anchor="ctr"/>
          <a:lstStyle/>
          <a:p>
            <a:pPr indent="0" marL="0">
              <a:buNone/>
            </a:pPr>
            <a:r>
              <a:rPr lang="en-US" sz="1650" b="1" dirty="0">
                <a:solidFill>
                  <a:srgbClr val="B7791F"/>
                </a:solidFill>
                <a:latin typeface="Arial" pitchFamily="34" charset="0"/>
                <a:ea typeface="Arial" pitchFamily="34" charset="-122"/>
                <a:cs typeface="Arial" pitchFamily="34" charset="-120"/>
              </a:rPr>
              <a:t>Check</a:t>
            </a:r>
            <a:endParaRPr lang="en-US" sz="1650" dirty="0"/>
          </a:p>
          <a:p>
            <a:pPr indent="0" marL="0">
              <a:buNone/>
            </a:pPr>
            <a:r>
              <a:rPr lang="en-US" sz="1275" dirty="0">
                <a:solidFill>
                  <a:srgbClr val="4A5063"/>
                </a:solidFill>
                <a:latin typeface="Arial" pitchFamily="34" charset="0"/>
                <a:ea typeface="Arial" pitchFamily="34" charset="-122"/>
                <a:cs typeface="Arial" pitchFamily="34" charset="-120"/>
              </a:rPr>
              <a:t>Run every AI guess against the API and look at the evidence</a:t>
            </a:r>
            <a:endParaRPr lang="en-US" sz="1650" dirty="0"/>
          </a:p>
        </p:txBody>
      </p:sp>
      <p:sp>
        <p:nvSpPr>
          <p:cNvPr id="14" name="Text 10"/>
          <p:cNvSpPr txBox="1"/>
          <p:nvPr/>
        </p:nvSpPr>
        <p:spPr>
          <a:xfrm>
            <a:off x="411480" y="3765042"/>
            <a:ext cx="651510" cy="651510"/>
          </a:xfrm>
          <a:prstGeom prst="rect">
            <a:avLst/>
          </a:prstGeom>
          <a:noFill/>
          <a:ln/>
        </p:spPr>
        <p:txBody>
          <a:bodyPr wrap="square" lIns="0" tIns="0" rIns="0" bIns="0" rtlCol="0" anchor="ctr"/>
          <a:lstStyle/>
          <a:p>
            <a:pPr algn="ctr" indent="0" marL="0">
              <a:buNone/>
            </a:pPr>
            <a:r>
              <a:rPr lang="en-US" sz="2250" b="1" dirty="0">
                <a:solidFill>
                  <a:srgbClr val="FFFFFF"/>
                </a:solidFill>
                <a:latin typeface="Arial" pitchFamily="34" charset="0"/>
                <a:ea typeface="Arial" pitchFamily="34" charset="-122"/>
                <a:cs typeface="Arial" pitchFamily="34" charset="-120"/>
              </a:rPr>
              <a:t>4</a:t>
            </a:r>
            <a:endParaRPr lang="en-US" sz="2250" dirty="0"/>
          </a:p>
        </p:txBody>
      </p:sp>
      <p:sp>
        <p:nvSpPr>
          <p:cNvPr id="15" name="Text 11"/>
          <p:cNvSpPr txBox="1"/>
          <p:nvPr/>
        </p:nvSpPr>
        <p:spPr>
          <a:xfrm>
            <a:off x="1200150" y="3765042"/>
            <a:ext cx="7532096" cy="651510"/>
          </a:xfrm>
          <a:prstGeom prst="rect">
            <a:avLst/>
          </a:prstGeom>
          <a:noFill/>
          <a:ln/>
        </p:spPr>
        <p:txBody>
          <a:bodyPr wrap="square" lIns="133350" tIns="133350" rIns="133350" bIns="133350" rtlCol="0" anchor="ctr"/>
          <a:lstStyle/>
          <a:p>
            <a:pPr indent="0" marL="0">
              <a:buNone/>
            </a:pPr>
            <a:r>
              <a:rPr lang="en-US" sz="1650" b="1" dirty="0">
                <a:solidFill>
                  <a:srgbClr val="1E9E62"/>
                </a:solidFill>
                <a:latin typeface="Arial" pitchFamily="34" charset="0"/>
                <a:ea typeface="Arial" pitchFamily="34" charset="-122"/>
                <a:cs typeface="Arial" pitchFamily="34" charset="-120"/>
              </a:rPr>
              <a:t>Judge</a:t>
            </a:r>
            <a:endParaRPr lang="en-US" sz="1650" dirty="0"/>
          </a:p>
          <a:p>
            <a:pPr indent="0" marL="0">
              <a:buNone/>
            </a:pPr>
            <a:r>
              <a:rPr lang="en-US" sz="1275" dirty="0">
                <a:solidFill>
                  <a:srgbClr val="4A5063"/>
                </a:solidFill>
                <a:latin typeface="Arial" pitchFamily="34" charset="0"/>
                <a:ea typeface="Arial" pitchFamily="34" charset="-122"/>
                <a:cs typeface="Arial" pitchFamily="34" charset="-120"/>
              </a:rPr>
              <a:t>Decide which results are real bugs, and see what the AI missed</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3" name="Image 0" descr="bg/bg-03.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5" name="Text 1"/>
          <p:cNvSpPr txBox="1"/>
          <p:nvPr/>
        </p:nvSpPr>
        <p:spPr>
          <a:xfrm>
            <a:off x="411480" y="308610"/>
            <a:ext cx="6172200" cy="240030"/>
          </a:xfrm>
          <a:prstGeom prst="rect">
            <a:avLst/>
          </a:prstGeom>
          <a:noFill/>
          <a:ln/>
        </p:spPr>
        <p:txBody>
          <a:bodyPr wrap="square" lIns="0" tIns="0" rIns="0" bIns="0" rtlCol="0" anchor="t"/>
          <a:lstStyle/>
          <a:p>
            <a:pPr indent="0" marL="0">
              <a:buNone/>
            </a:pPr>
            <a:r>
              <a:rPr lang="en-US" sz="975" b="1" dirty="0">
                <a:solidFill>
                  <a:srgbClr val="B7791F"/>
                </a:solidFill>
                <a:latin typeface="Courier New" pitchFamily="34" charset="0"/>
                <a:ea typeface="Courier New" pitchFamily="34" charset="-122"/>
                <a:cs typeface="Courier New" pitchFamily="34" charset="-120"/>
              </a:rPr>
              <a:t>THE PROBLEM</a:t>
            </a:r>
            <a:endParaRPr lang="en-US" sz="975" dirty="0"/>
          </a:p>
        </p:txBody>
      </p:sp>
      <p:sp>
        <p:nvSpPr>
          <p:cNvPr id="6" name="Text 2"/>
          <p:cNvSpPr txBox="1"/>
          <p:nvPr/>
        </p:nvSpPr>
        <p:spPr>
          <a:xfrm>
            <a:off x="411480" y="548640"/>
            <a:ext cx="8320857" cy="582930"/>
          </a:xfrm>
          <a:prstGeom prst="rect">
            <a:avLst/>
          </a:prstGeom>
          <a:noFill/>
          <a:ln/>
        </p:spPr>
        <p:txBody>
          <a:bodyPr wrap="square" lIns="0" tIns="0" rIns="0" bIns="0" rtlCol="0" anchor="t"/>
          <a:lstStyle/>
          <a:p>
            <a:pPr indent="0" marL="0">
              <a:buNone/>
            </a:pPr>
            <a:r>
              <a:rPr lang="en-US" sz="2400" b="1" dirty="0">
                <a:solidFill>
                  <a:srgbClr val="1C1F26"/>
                </a:solidFill>
                <a:latin typeface="Arial" pitchFamily="34" charset="0"/>
                <a:ea typeface="Arial" pitchFamily="34" charset="-122"/>
                <a:cs typeface="Arial" pitchFamily="34" charset="-120"/>
              </a:rPr>
              <a:t>My tests only check what I imagined</a:t>
            </a:r>
            <a:endParaRPr lang="en-US" sz="2400" dirty="0"/>
          </a:p>
        </p:txBody>
      </p:sp>
      <p:sp>
        <p:nvSpPr>
          <p:cNvPr id="7" name="Text 3"/>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3</a:t>
            </a:r>
            <a:endParaRPr lang="en-US" sz="825" dirty="0"/>
          </a:p>
        </p:txBody>
      </p:sp>
      <p:sp>
        <p:nvSpPr>
          <p:cNvPr id="8" name="Text 4"/>
          <p:cNvSpPr txBox="1"/>
          <p:nvPr/>
        </p:nvSpPr>
        <p:spPr>
          <a:xfrm>
            <a:off x="411480" y="1303020"/>
            <a:ext cx="4251960" cy="3154680"/>
          </a:xfrm>
          <a:prstGeom prst="rect">
            <a:avLst/>
          </a:prstGeom>
          <a:noFill/>
          <a:ln/>
        </p:spPr>
        <p:txBody>
          <a:bodyPr wrap="square" lIns="0" tIns="0" rIns="0" bIns="0" rtlCol="0" anchor="t"/>
          <a:lstStyle/>
          <a:p>
            <a:pPr marL="215900" indent="-215900">
              <a:spcAft>
                <a:spcPts val="750"/>
              </a:spcAft>
              <a:buSzPct val="100000"/>
              <a:buChar char="•"/>
            </a:pPr>
            <a:r>
              <a:rPr lang="en-US" sz="1425" b="1" dirty="0">
                <a:solidFill>
                  <a:srgbClr val="1C1F26"/>
                </a:solidFill>
                <a:latin typeface="Arial" pitchFamily="34" charset="0"/>
                <a:ea typeface="Arial" pitchFamily="34" charset="-122"/>
                <a:cs typeface="Arial" pitchFamily="34" charset="-120"/>
              </a:rPr>
              <a:t>Happy path:</a:t>
            </a:r>
            <a:pPr indent="0" marL="0">
              <a:spcAft>
                <a:spcPts val="750"/>
              </a:spcAft>
              <a:buNone/>
            </a:pPr>
            <a:r>
              <a:rPr lang="en-US" sz="1425" dirty="0">
                <a:solidFill>
                  <a:srgbClr val="4A5063"/>
                </a:solidFill>
                <a:latin typeface="Arial" pitchFamily="34" charset="0"/>
                <a:ea typeface="Arial" pitchFamily="34" charset="-122"/>
                <a:cs typeface="Arial" pitchFamily="34" charset="-120"/>
              </a:rPr>
              <a:t> we test the one normal way the feature is used.</a:t>
            </a:r>
            <a:endParaRPr lang="en-US" sz="1425" dirty="0"/>
          </a:p>
          <a:p>
            <a:pPr marL="215900" indent="-215900">
              <a:spcAft>
                <a:spcPts val="750"/>
              </a:spcAft>
              <a:buSzPct val="100000"/>
              <a:buChar char="•"/>
            </a:pPr>
            <a:r>
              <a:rPr lang="en-US" sz="1425" b="1" dirty="0">
                <a:solidFill>
                  <a:srgbClr val="1C1F26"/>
                </a:solidFill>
                <a:latin typeface="Arial" pitchFamily="34" charset="0"/>
                <a:ea typeface="Arial" pitchFamily="34" charset="-122"/>
                <a:cs typeface="Arial" pitchFamily="34" charset="-120"/>
              </a:rPr>
              <a:t>Curse of knowledge:</a:t>
            </a:r>
            <a:pPr indent="0" marL="0">
              <a:spcAft>
                <a:spcPts val="750"/>
              </a:spcAft>
              <a:buNone/>
            </a:pPr>
            <a:r>
              <a:rPr lang="en-US" sz="1425" dirty="0">
                <a:solidFill>
                  <a:srgbClr val="4A5063"/>
                </a:solidFill>
                <a:latin typeface="Arial" pitchFamily="34" charset="0"/>
                <a:ea typeface="Arial" pitchFamily="34" charset="-122"/>
                <a:cs typeface="Arial" pitchFamily="34" charset="-120"/>
              </a:rPr>
              <a:t> the author shares every assumption the code makes, so those assumptions never get tested.</a:t>
            </a:r>
            <a:endParaRPr lang="en-US" sz="1425" dirty="0"/>
          </a:p>
          <a:p>
            <a:pPr marL="215900" indent="-215900">
              <a:spcAft>
                <a:spcPts val="750"/>
              </a:spcAft>
              <a:buSzPct val="100000"/>
              <a:buChar char="•"/>
            </a:pPr>
            <a:r>
              <a:rPr lang="en-US" sz="1425" b="1" dirty="0">
                <a:solidFill>
                  <a:srgbClr val="1C1F26"/>
                </a:solidFill>
                <a:latin typeface="Arial" pitchFamily="34" charset="0"/>
                <a:ea typeface="Arial" pitchFamily="34" charset="-122"/>
                <a:cs typeface="Arial" pitchFamily="34" charset="-120"/>
              </a:rPr>
              <a:t>Real traffic is different:</a:t>
            </a:r>
            <a:pPr indent="0" marL="0">
              <a:spcAft>
                <a:spcPts val="750"/>
              </a:spcAft>
              <a:buNone/>
            </a:pPr>
            <a:r>
              <a:rPr lang="en-US" sz="1425" dirty="0">
                <a:solidFill>
                  <a:srgbClr val="4A5063"/>
                </a:solidFill>
                <a:latin typeface="Arial" pitchFamily="34" charset="0"/>
                <a:ea typeface="Arial" pitchFamily="34" charset="-122"/>
                <a:cs typeface="Arial" pitchFamily="34" charset="-120"/>
              </a:rPr>
              <a:t> confused users, double-clicks, retries, attackers, 100 people at once.</a:t>
            </a:r>
            <a:endParaRPr lang="en-US" sz="1425" dirty="0"/>
          </a:p>
        </p:txBody>
      </p:sp>
      <p:sp>
        <p:nvSpPr>
          <p:cNvPr id="9" name="Text 5"/>
          <p:cNvSpPr txBox="1"/>
          <p:nvPr/>
        </p:nvSpPr>
        <p:spPr>
          <a:xfrm>
            <a:off x="4869180" y="1303020"/>
            <a:ext cx="3861054" cy="3154680"/>
          </a:xfrm>
          <a:prstGeom prst="rect">
            <a:avLst/>
          </a:prstGeom>
          <a:noFill/>
          <a:ln/>
        </p:spPr>
        <p:txBody>
          <a:bodyPr wrap="square" lIns="133350" tIns="133350" rIns="133350" bIns="133350" rtlCol="0" anchor="t"/>
          <a:lstStyle/>
          <a:p>
            <a:pPr indent="0" marL="0">
              <a:buNone/>
            </a:pPr>
            <a:r>
              <a:rPr lang="en-US" sz="1200" dirty="0">
                <a:solidFill>
                  <a:srgbClr val="8FE3B0"/>
                </a:solidFill>
                <a:latin typeface="Courier New" pitchFamily="34" charset="0"/>
                <a:ea typeface="Courier New" pitchFamily="34" charset="-122"/>
                <a:cs typeface="Courier New" pitchFamily="34" charset="-120"/>
              </a:rPr>
              <a:t>What I tested</a:t>
            </a:r>
            <a:endParaRPr lang="en-US" sz="1200" dirty="0"/>
          </a:p>
          <a:p>
            <a:pPr indent="0" marL="0">
              <a:buNone/>
            </a:pPr>
            <a:r>
              <a:rPr lang="en-US" sz="1200" dirty="0">
                <a:solidFill>
                  <a:srgbClr val="E6E8F2"/>
                </a:solidFill>
                <a:latin typeface="Courier New" pitchFamily="34" charset="0"/>
                <a:ea typeface="Courier New" pitchFamily="34" charset="-122"/>
                <a:cs typeface="Courier New" pitchFamily="34" charset="-120"/>
              </a:rPr>
              <a:t>POST /orders  {"quantity": 2}</a:t>
            </a:r>
            <a:endParaRPr lang="en-US" sz="1200" dirty="0"/>
          </a:p>
          <a:p>
            <a:pPr indent="0" marL="0">
              <a:buNone/>
            </a:pPr>
            <a:r>
              <a:rPr lang="en-US" sz="1200" dirty="0">
                <a:solidFill>
                  <a:srgbClr val="E6E8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FF8A8F"/>
                </a:solidFill>
                <a:latin typeface="Courier New" pitchFamily="34" charset="0"/>
                <a:ea typeface="Courier New" pitchFamily="34" charset="-122"/>
                <a:cs typeface="Courier New" pitchFamily="34" charset="-120"/>
              </a:rPr>
              <a:t>What people actually send</a:t>
            </a:r>
            <a:endParaRPr lang="en-US" sz="1200" dirty="0"/>
          </a:p>
          <a:p>
            <a:pPr indent="0" marL="0">
              <a:buNone/>
            </a:pPr>
            <a:r>
              <a:rPr lang="en-US" sz="1200" dirty="0">
                <a:solidFill>
                  <a:srgbClr val="E6E8F2"/>
                </a:solidFill>
                <a:latin typeface="Courier New" pitchFamily="34" charset="0"/>
                <a:ea typeface="Courier New" pitchFamily="34" charset="-122"/>
                <a:cs typeface="Courier New" pitchFamily="34" charset="-120"/>
              </a:rPr>
              <a:t>{"quantity": -5}</a:t>
            </a:r>
            <a:endParaRPr lang="en-US" sz="1200" dirty="0"/>
          </a:p>
          <a:p>
            <a:pPr indent="0" marL="0">
              <a:buNone/>
            </a:pPr>
            <a:r>
              <a:rPr lang="en-US" sz="1200" dirty="0">
                <a:solidFill>
                  <a:srgbClr val="E6E8F2"/>
                </a:solidFill>
                <a:latin typeface="Courier New" pitchFamily="34" charset="0"/>
                <a:ea typeface="Courier New" pitchFamily="34" charset="-122"/>
                <a:cs typeface="Courier New" pitchFamily="34" charset="-120"/>
              </a:rPr>
              <a:t>{"quantity": 10}   (docs say max 10)</a:t>
            </a:r>
            <a:endParaRPr lang="en-US" sz="1200" dirty="0"/>
          </a:p>
          <a:p>
            <a:pPr indent="0" marL="0">
              <a:buNone/>
            </a:pPr>
            <a:r>
              <a:rPr lang="en-US" sz="1200" dirty="0">
                <a:solidFill>
                  <a:srgbClr val="E6E8F2"/>
                </a:solidFill>
                <a:latin typeface="Courier New" pitchFamily="34" charset="0"/>
                <a:ea typeface="Courier New" pitchFamily="34" charset="-122"/>
                <a:cs typeface="Courier New" pitchFamily="34" charset="-120"/>
              </a:rPr>
              <a:t>coupon SPEAKER100, twice</a:t>
            </a:r>
            <a:endParaRPr lang="en-US" sz="1200" dirty="0"/>
          </a:p>
          <a:p>
            <a:pPr indent="0" marL="0">
              <a:buNone/>
            </a:pPr>
            <a:r>
              <a:rPr lang="en-US" sz="1200" dirty="0">
                <a:solidFill>
                  <a:srgbClr val="E6E8F2"/>
                </a:solidFill>
                <a:latin typeface="Courier New" pitchFamily="34" charset="0"/>
                <a:ea typeface="Courier New" pitchFamily="34" charset="-122"/>
                <a:cs typeface="Courier New" pitchFamily="34" charset="-120"/>
              </a:rPr>
              <a:t>a token I made up myself</a:t>
            </a:r>
            <a:endParaRPr lang="en-US" sz="1200" dirty="0"/>
          </a:p>
          <a:p>
            <a:pPr indent="0" marL="0">
              <a:buNone/>
            </a:pPr>
            <a:r>
              <a:rPr lang="en-US" sz="1200" dirty="0">
                <a:solidFill>
                  <a:srgbClr val="E6E8F2"/>
                </a:solidFill>
                <a:latin typeface="Courier New" pitchFamily="34" charset="0"/>
                <a:ea typeface="Courier New" pitchFamily="34" charset="-122"/>
                <a:cs typeface="Courier New" pitchFamily="34" charset="-120"/>
              </a:rPr>
              <a:t>20 buyers, 5 seats, same second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3" name="Image 0" descr="bg/bg-04.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5" name="Text 1"/>
          <p:cNvSpPr txBox="1"/>
          <p:nvPr/>
        </p:nvSpPr>
        <p:spPr>
          <a:xfrm>
            <a:off x="411480" y="308610"/>
            <a:ext cx="6172200" cy="240030"/>
          </a:xfrm>
          <a:prstGeom prst="rect">
            <a:avLst/>
          </a:prstGeom>
          <a:noFill/>
          <a:ln/>
        </p:spPr>
        <p:txBody>
          <a:bodyPr wrap="square" lIns="0" tIns="0" rIns="0" bIns="0" rtlCol="0" anchor="t"/>
          <a:lstStyle/>
          <a:p>
            <a:pPr indent="0" marL="0">
              <a:buNone/>
            </a:pPr>
            <a:r>
              <a:rPr lang="en-US" sz="975" b="1" dirty="0">
                <a:solidFill>
                  <a:srgbClr val="B7791F"/>
                </a:solidFill>
                <a:latin typeface="Courier New" pitchFamily="34" charset="0"/>
                <a:ea typeface="Courier New" pitchFamily="34" charset="-122"/>
                <a:cs typeface="Courier New" pitchFamily="34" charset="-120"/>
              </a:rPr>
              <a:t>THEORY · 1 MINUTE</a:t>
            </a:r>
            <a:endParaRPr lang="en-US" sz="975" dirty="0"/>
          </a:p>
        </p:txBody>
      </p:sp>
      <p:sp>
        <p:nvSpPr>
          <p:cNvPr id="6" name="Text 2"/>
          <p:cNvSpPr txBox="1"/>
          <p:nvPr/>
        </p:nvSpPr>
        <p:spPr>
          <a:xfrm>
            <a:off x="411480" y="548640"/>
            <a:ext cx="8320857" cy="582930"/>
          </a:xfrm>
          <a:prstGeom prst="rect">
            <a:avLst/>
          </a:prstGeom>
          <a:noFill/>
          <a:ln/>
        </p:spPr>
        <p:txBody>
          <a:bodyPr wrap="square" lIns="0" tIns="0" rIns="0" bIns="0" rtlCol="0" anchor="t"/>
          <a:lstStyle/>
          <a:p>
            <a:pPr indent="0" marL="0">
              <a:buNone/>
            </a:pPr>
            <a:r>
              <a:rPr lang="en-US" sz="2400" b="1" dirty="0">
                <a:solidFill>
                  <a:srgbClr val="1C1F26"/>
                </a:solidFill>
                <a:latin typeface="Arial" pitchFamily="34" charset="0"/>
                <a:ea typeface="Arial" pitchFamily="34" charset="-122"/>
                <a:cs typeface="Arial" pitchFamily="34" charset="-120"/>
              </a:rPr>
              <a:t>What an API is, and how it answers</a:t>
            </a:r>
            <a:endParaRPr lang="en-US" sz="2400" dirty="0"/>
          </a:p>
        </p:txBody>
      </p:sp>
      <p:sp>
        <p:nvSpPr>
          <p:cNvPr id="7" name="Text 3"/>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4</a:t>
            </a:r>
            <a:endParaRPr lang="en-US" sz="825" dirty="0"/>
          </a:p>
        </p:txBody>
      </p:sp>
      <p:sp>
        <p:nvSpPr>
          <p:cNvPr id="8" name="Text 4"/>
          <p:cNvSpPr txBox="1"/>
          <p:nvPr/>
        </p:nvSpPr>
        <p:spPr>
          <a:xfrm>
            <a:off x="411480" y="1303020"/>
            <a:ext cx="8320857" cy="1440180"/>
          </a:xfrm>
          <a:prstGeom prst="rect">
            <a:avLst/>
          </a:prstGeom>
          <a:noFill/>
          <a:ln/>
        </p:spPr>
        <p:txBody>
          <a:bodyPr wrap="square" lIns="0" tIns="0" rIns="0" bIns="0" rtlCol="0" anchor="t"/>
          <a:lstStyle/>
          <a:p>
            <a:pPr marL="215900" indent="-215900">
              <a:spcAft>
                <a:spcPts val="750"/>
              </a:spcAft>
              <a:buSzPct val="100000"/>
              <a:buChar char="•"/>
            </a:pPr>
            <a:r>
              <a:rPr lang="en-US" sz="1425" b="1" dirty="0">
                <a:solidFill>
                  <a:srgbClr val="1C1F26"/>
                </a:solidFill>
                <a:latin typeface="Arial" pitchFamily="34" charset="0"/>
                <a:ea typeface="Arial" pitchFamily="34" charset="-122"/>
                <a:cs typeface="Arial" pitchFamily="34" charset="-120"/>
              </a:rPr>
              <a:t>API:</a:t>
            </a:r>
            <a:pPr indent="0" marL="0">
              <a:spcAft>
                <a:spcPts val="750"/>
              </a:spcAft>
              <a:buNone/>
            </a:pPr>
            <a:r>
              <a:rPr lang="en-US" sz="1425" dirty="0">
                <a:solidFill>
                  <a:srgbClr val="4A5063"/>
                </a:solidFill>
                <a:latin typeface="Arial" pitchFamily="34" charset="0"/>
                <a:ea typeface="Arial" pitchFamily="34" charset="-122"/>
                <a:cs typeface="Arial" pitchFamily="34" charset="-120"/>
              </a:rPr>
              <a:t> the way one program asks another for something. Like a waiter between you and the kitchen.</a:t>
            </a:r>
            <a:endParaRPr lang="en-US" sz="1425" dirty="0"/>
          </a:p>
          <a:p>
            <a:pPr marL="215900" indent="-215900">
              <a:spcAft>
                <a:spcPts val="750"/>
              </a:spcAft>
              <a:buSzPct val="100000"/>
              <a:buChar char="•"/>
            </a:pPr>
            <a:r>
              <a:rPr lang="en-US" sz="1425" b="1" dirty="0">
                <a:solidFill>
                  <a:srgbClr val="1C1F26"/>
                </a:solidFill>
                <a:latin typeface="Arial" pitchFamily="34" charset="0"/>
                <a:ea typeface="Arial" pitchFamily="34" charset="-122"/>
                <a:cs typeface="Arial" pitchFamily="34" charset="-120"/>
              </a:rPr>
              <a:t>Request:</a:t>
            </a:r>
            <a:pPr indent="0" marL="0">
              <a:spcAft>
                <a:spcPts val="750"/>
              </a:spcAft>
              <a:buNone/>
            </a:pPr>
            <a:r>
              <a:rPr lang="en-US" sz="1425" dirty="0">
                <a:solidFill>
                  <a:srgbClr val="4A5063"/>
                </a:solidFill>
                <a:latin typeface="Arial" pitchFamily="34" charset="0"/>
                <a:ea typeface="Arial" pitchFamily="34" charset="-122"/>
                <a:cs typeface="Arial" pitchFamily="34" charset="-120"/>
              </a:rPr>
              <a:t> a method (GET = read, POST = create), a path, headers (who you are), and a JSON body.</a:t>
            </a:r>
            <a:endParaRPr lang="en-US" sz="1425" dirty="0"/>
          </a:p>
          <a:p>
            <a:pPr marL="215900" indent="-215900">
              <a:spcAft>
                <a:spcPts val="750"/>
              </a:spcAft>
              <a:buSzPct val="100000"/>
              <a:buChar char="•"/>
            </a:pPr>
            <a:r>
              <a:rPr lang="en-US" sz="1425" b="1" dirty="0">
                <a:solidFill>
                  <a:srgbClr val="1C1F26"/>
                </a:solidFill>
                <a:latin typeface="Arial" pitchFamily="34" charset="0"/>
                <a:ea typeface="Arial" pitchFamily="34" charset="-122"/>
                <a:cs typeface="Arial" pitchFamily="34" charset="-120"/>
              </a:rPr>
              <a:t>Response:</a:t>
            </a:r>
            <a:pPr indent="0" marL="0">
              <a:spcAft>
                <a:spcPts val="750"/>
              </a:spcAft>
              <a:buNone/>
            </a:pPr>
            <a:r>
              <a:rPr lang="en-US" sz="1425" dirty="0">
                <a:solidFill>
                  <a:srgbClr val="4A5063"/>
                </a:solidFill>
                <a:latin typeface="Arial" pitchFamily="34" charset="0"/>
                <a:ea typeface="Arial" pitchFamily="34" charset="-122"/>
                <a:cs typeface="Arial" pitchFamily="34" charset="-120"/>
              </a:rPr>
              <a:t> a status code plus JSON data.</a:t>
            </a:r>
            <a:endParaRPr lang="en-US" sz="1425" dirty="0"/>
          </a:p>
        </p:txBody>
      </p:sp>
      <p:sp>
        <p:nvSpPr>
          <p:cNvPr id="9" name="Text 5"/>
          <p:cNvSpPr txBox="1"/>
          <p:nvPr/>
        </p:nvSpPr>
        <p:spPr>
          <a:xfrm>
            <a:off x="411480" y="2880360"/>
            <a:ext cx="2640330" cy="1577340"/>
          </a:xfrm>
          <a:prstGeom prst="rect">
            <a:avLst/>
          </a:prstGeom>
          <a:noFill/>
          <a:ln/>
        </p:spPr>
        <p:txBody>
          <a:bodyPr wrap="square" lIns="114300" tIns="114300" rIns="114300" bIns="114300" rtlCol="0" anchor="t"/>
          <a:lstStyle/>
          <a:p>
            <a:pPr indent="0" marL="0">
              <a:buNone/>
            </a:pPr>
            <a:r>
              <a:rPr lang="en-US" sz="1500" b="1" dirty="0">
                <a:solidFill>
                  <a:srgbClr val="1E9E62"/>
                </a:solidFill>
                <a:latin typeface="Arial" pitchFamily="34" charset="0"/>
                <a:ea typeface="Arial" pitchFamily="34" charset="-122"/>
                <a:cs typeface="Arial" pitchFamily="34" charset="-120"/>
              </a:rPr>
              <a:t>2xx  It worked</a:t>
            </a:r>
            <a:endParaRPr lang="en-US" sz="1500" dirty="0"/>
          </a:p>
          <a:p>
            <a:pPr indent="0" marL="0">
              <a:buNone/>
            </a:pPr>
            <a:r>
              <a:rPr lang="en-US" sz="450" dirty="0">
                <a:solidFill>
                  <a:srgbClr val="1C1F26"/>
                </a:solidFill>
                <a:latin typeface="Arial" pitchFamily="34" charset="0"/>
                <a:ea typeface="Arial" pitchFamily="34" charset="-122"/>
                <a:cs typeface="Arial" pitchFamily="34" charset="-120"/>
              </a:rPr>
              <a:t> </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200 OK, 201 Created. Dangerous when it's a lie: "201" for minus five tickets.</a:t>
            </a:r>
            <a:endParaRPr lang="en-US" sz="1500" dirty="0"/>
          </a:p>
        </p:txBody>
      </p:sp>
      <p:sp>
        <p:nvSpPr>
          <p:cNvPr id="10" name="Text 6"/>
          <p:cNvSpPr txBox="1"/>
          <p:nvPr/>
        </p:nvSpPr>
        <p:spPr>
          <a:xfrm>
            <a:off x="3250692" y="2880360"/>
            <a:ext cx="2640330" cy="1577340"/>
          </a:xfrm>
          <a:prstGeom prst="rect">
            <a:avLst/>
          </a:prstGeom>
          <a:noFill/>
          <a:ln/>
        </p:spPr>
        <p:txBody>
          <a:bodyPr wrap="square" lIns="114300" tIns="114300" rIns="114300" bIns="114300" rtlCol="0" anchor="t"/>
          <a:lstStyle/>
          <a:p>
            <a:pPr indent="0" marL="0">
              <a:buNone/>
            </a:pPr>
            <a:r>
              <a:rPr lang="en-US" sz="1500" b="1" dirty="0">
                <a:solidFill>
                  <a:srgbClr val="B7791F"/>
                </a:solidFill>
                <a:latin typeface="Arial" pitchFamily="34" charset="0"/>
                <a:ea typeface="Arial" pitchFamily="34" charset="-122"/>
                <a:cs typeface="Arial" pitchFamily="34" charset="-120"/>
              </a:rPr>
              <a:t>4xx  You asked wrong</a:t>
            </a:r>
            <a:endParaRPr lang="en-US" sz="1500" dirty="0"/>
          </a:p>
          <a:p>
            <a:pPr indent="0" marL="0">
              <a:buNone/>
            </a:pPr>
            <a:r>
              <a:rPr lang="en-US" sz="450" dirty="0">
                <a:solidFill>
                  <a:srgbClr val="1C1F26"/>
                </a:solidFill>
                <a:latin typeface="Arial" pitchFamily="34" charset="0"/>
                <a:ea typeface="Arial" pitchFamily="34" charset="-122"/>
                <a:cs typeface="Arial" pitchFamily="34" charset="-120"/>
              </a:rPr>
              <a:t> </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400, 401, 403, 404. The API refused politely. This is what we want for bad input.</a:t>
            </a:r>
            <a:endParaRPr lang="en-US" sz="1500" dirty="0"/>
          </a:p>
        </p:txBody>
      </p:sp>
      <p:sp>
        <p:nvSpPr>
          <p:cNvPr id="11" name="Text 7"/>
          <p:cNvSpPr txBox="1"/>
          <p:nvPr/>
        </p:nvSpPr>
        <p:spPr>
          <a:xfrm>
            <a:off x="6089904" y="2880360"/>
            <a:ext cx="2640330" cy="1577340"/>
          </a:xfrm>
          <a:prstGeom prst="rect">
            <a:avLst/>
          </a:prstGeom>
          <a:noFill/>
          <a:ln/>
        </p:spPr>
        <p:txBody>
          <a:bodyPr wrap="square" lIns="114300" tIns="114300" rIns="114300" bIns="114300" rtlCol="0" anchor="t"/>
          <a:lstStyle/>
          <a:p>
            <a:pPr indent="0" marL="0">
              <a:buNone/>
            </a:pPr>
            <a:r>
              <a:rPr lang="en-US" sz="1500" b="1" dirty="0">
                <a:solidFill>
                  <a:srgbClr val="D93F3F"/>
                </a:solidFill>
                <a:latin typeface="Arial" pitchFamily="34" charset="0"/>
                <a:ea typeface="Arial" pitchFamily="34" charset="-122"/>
                <a:cs typeface="Arial" pitchFamily="34" charset="-120"/>
              </a:rPr>
              <a:t>5xx  The server broke</a:t>
            </a:r>
            <a:endParaRPr lang="en-US" sz="1500" dirty="0"/>
          </a:p>
          <a:p>
            <a:pPr indent="0" marL="0">
              <a:buNone/>
            </a:pPr>
            <a:r>
              <a:rPr lang="en-US" sz="450" dirty="0">
                <a:solidFill>
                  <a:srgbClr val="1C1F26"/>
                </a:solidFill>
                <a:latin typeface="Arial" pitchFamily="34" charset="0"/>
                <a:ea typeface="Arial" pitchFamily="34" charset="-122"/>
                <a:cs typeface="Arial" pitchFamily="34" charset="-120"/>
              </a:rPr>
              <a:t> </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500. If bad user input causes a 500, that is almost always a bug.</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3" name="Image 0" descr="bg/bg-05.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5" name="Text 1"/>
          <p:cNvSpPr txBox="1"/>
          <p:nvPr/>
        </p:nvSpPr>
        <p:spPr>
          <a:xfrm>
            <a:off x="411480" y="308610"/>
            <a:ext cx="6172200" cy="240030"/>
          </a:xfrm>
          <a:prstGeom prst="rect">
            <a:avLst/>
          </a:prstGeom>
          <a:noFill/>
          <a:ln/>
        </p:spPr>
        <p:txBody>
          <a:bodyPr wrap="square" lIns="0" tIns="0" rIns="0" bIns="0" rtlCol="0" anchor="t"/>
          <a:lstStyle/>
          <a:p>
            <a:pPr indent="0" marL="0">
              <a:buNone/>
            </a:pPr>
            <a:r>
              <a:rPr lang="en-US" sz="975" b="1" dirty="0">
                <a:solidFill>
                  <a:srgbClr val="B7791F"/>
                </a:solidFill>
                <a:latin typeface="Courier New" pitchFamily="34" charset="0"/>
                <a:ea typeface="Courier New" pitchFamily="34" charset="-122"/>
                <a:cs typeface="Courier New" pitchFamily="34" charset="-120"/>
              </a:rPr>
              <a:t>THE API UNDER TEST</a:t>
            </a:r>
            <a:endParaRPr lang="en-US" sz="975" dirty="0"/>
          </a:p>
        </p:txBody>
      </p:sp>
      <p:sp>
        <p:nvSpPr>
          <p:cNvPr id="6" name="Text 2"/>
          <p:cNvSpPr txBox="1"/>
          <p:nvPr/>
        </p:nvSpPr>
        <p:spPr>
          <a:xfrm>
            <a:off x="411480" y="548640"/>
            <a:ext cx="8320857" cy="582930"/>
          </a:xfrm>
          <a:prstGeom prst="rect">
            <a:avLst/>
          </a:prstGeom>
          <a:noFill/>
          <a:ln/>
        </p:spPr>
        <p:txBody>
          <a:bodyPr wrap="square" lIns="0" tIns="0" rIns="0" bIns="0" rtlCol="0" anchor="t"/>
          <a:lstStyle/>
          <a:p>
            <a:pPr indent="0" marL="0">
              <a:buNone/>
            </a:pPr>
            <a:r>
              <a:rPr lang="en-US" sz="2400" b="1" dirty="0">
                <a:solidFill>
                  <a:srgbClr val="1C1F26"/>
                </a:solidFill>
                <a:latin typeface="Arial" pitchFamily="34" charset="0"/>
                <a:ea typeface="Arial" pitchFamily="34" charset="-122"/>
                <a:cs typeface="Arial" pitchFamily="34" charset="-120"/>
              </a:rPr>
              <a:t>ConfBadge: a small conference ticket shop</a:t>
            </a:r>
            <a:endParaRPr lang="en-US" sz="2400" dirty="0"/>
          </a:p>
        </p:txBody>
      </p:sp>
      <p:sp>
        <p:nvSpPr>
          <p:cNvPr id="7" name="Text 3"/>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5</a:t>
            </a:r>
            <a:endParaRPr lang="en-US" sz="825" dirty="0"/>
          </a:p>
        </p:txBody>
      </p:sp>
      <p:sp>
        <p:nvSpPr>
          <p:cNvPr id="8" name="Text 4"/>
          <p:cNvSpPr txBox="1"/>
          <p:nvPr/>
        </p:nvSpPr>
        <p:spPr>
          <a:xfrm>
            <a:off x="411480" y="1303020"/>
            <a:ext cx="4046220" cy="2468880"/>
          </a:xfrm>
          <a:prstGeom prst="rect">
            <a:avLst/>
          </a:prstGeom>
          <a:noFill/>
          <a:ln/>
        </p:spPr>
        <p:txBody>
          <a:bodyPr wrap="square" lIns="133350" tIns="133350" rIns="133350" bIns="133350" rtlCol="0" anchor="t"/>
          <a:lstStyle/>
          <a:p>
            <a:pPr indent="0" marL="0">
              <a:buNone/>
            </a:pPr>
            <a:r>
              <a:rPr lang="en-US" sz="1125" dirty="0">
                <a:solidFill>
                  <a:srgbClr val="FFCB6B"/>
                </a:solidFill>
                <a:latin typeface="Courier New" pitchFamily="34" charset="0"/>
                <a:ea typeface="Courier New" pitchFamily="34" charset="-122"/>
                <a:cs typeface="Courier New" pitchFamily="34" charset="-120"/>
              </a:rPr>
              <a:t>Endpoints</a:t>
            </a:r>
            <a:endParaRPr lang="en-US" sz="1125" dirty="0"/>
          </a:p>
          <a:p>
            <a:pPr indent="0" marL="0">
              <a:buNone/>
            </a:pPr>
            <a:r>
              <a:rPr lang="en-US" sz="1125" dirty="0">
                <a:solidFill>
                  <a:srgbClr val="E6E8F2"/>
                </a:solidFill>
                <a:latin typeface="Courier New" pitchFamily="34" charset="0"/>
                <a:ea typeface="Courier New" pitchFamily="34" charset="-122"/>
                <a:cs typeface="Courier New" pitchFamily="34" charset="-120"/>
              </a:rPr>
              <a:t>POST /auth/login    log in → token</a:t>
            </a:r>
            <a:endParaRPr lang="en-US" sz="1125" dirty="0"/>
          </a:p>
          <a:p>
            <a:pPr indent="0" marL="0">
              <a:buNone/>
            </a:pPr>
            <a:r>
              <a:rPr lang="en-US" sz="1125" dirty="0">
                <a:solidFill>
                  <a:srgbClr val="E6E8F2"/>
                </a:solidFill>
                <a:latin typeface="Courier New" pitchFamily="34" charset="0"/>
                <a:ea typeface="Courier New" pitchFamily="34" charset="-122"/>
                <a:cs typeface="Courier New" pitchFamily="34" charset="-120"/>
              </a:rPr>
              <a:t>GET  /tickets?q=    search tickets</a:t>
            </a:r>
            <a:endParaRPr lang="en-US" sz="1125" dirty="0"/>
          </a:p>
          <a:p>
            <a:pPr indent="0" marL="0">
              <a:buNone/>
            </a:pPr>
            <a:r>
              <a:rPr lang="en-US" sz="1125" dirty="0">
                <a:solidFill>
                  <a:srgbClr val="E6E8F2"/>
                </a:solidFill>
                <a:latin typeface="Courier New" pitchFamily="34" charset="0"/>
                <a:ea typeface="Courier New" pitchFamily="34" charset="-122"/>
                <a:cs typeface="Courier New" pitchFamily="34" charset="-120"/>
              </a:rPr>
              <a:t>POST /orders        buy tickets</a:t>
            </a:r>
            <a:endParaRPr lang="en-US" sz="1125" dirty="0"/>
          </a:p>
          <a:p>
            <a:pPr indent="0" marL="0">
              <a:buNone/>
            </a:pPr>
            <a:r>
              <a:rPr lang="en-US" sz="1125" dirty="0">
                <a:solidFill>
                  <a:srgbClr val="E6E8F2"/>
                </a:solidFill>
                <a:latin typeface="Courier New" pitchFamily="34" charset="0"/>
                <a:ea typeface="Courier New" pitchFamily="34" charset="-122"/>
                <a:cs typeface="Courier New" pitchFamily="34" charset="-120"/>
              </a:rPr>
              <a:t>GET  /orders/{id}   read one order</a:t>
            </a:r>
            <a:endParaRPr lang="en-US" sz="1125" dirty="0"/>
          </a:p>
          <a:p>
            <a:pPr indent="0" marL="0">
              <a:buNone/>
            </a:pPr>
            <a:r>
              <a:rPr lang="en-US" sz="1125" dirty="0">
                <a:solidFill>
                  <a:srgbClr val="E6E8F2"/>
                </a:solidFill>
                <a:latin typeface="Courier New" pitchFamily="34" charset="0"/>
                <a:ea typeface="Courier New" pitchFamily="34" charset="-122"/>
                <a:cs typeface="Courier New" pitchFamily="34" charset="-120"/>
              </a:rPr>
              <a:t> </a:t>
            </a:r>
            <a:endParaRPr lang="en-US" sz="1125" dirty="0"/>
          </a:p>
          <a:p>
            <a:pPr indent="0" marL="0">
              <a:buNone/>
            </a:pPr>
            <a:r>
              <a:rPr lang="en-US" sz="1125" dirty="0">
                <a:solidFill>
                  <a:srgbClr val="8C93AE"/>
                </a:solidFill>
                <a:latin typeface="Courier New" pitchFamily="34" charset="0"/>
                <a:ea typeface="Courier New" pitchFamily="34" charset="-122"/>
                <a:cs typeface="Courier New" pitchFamily="34" charset="-120"/>
              </a:rPr>
              <a:t>Python · FastAPI · SQLite</a:t>
            </a:r>
            <a:endParaRPr lang="en-US" sz="1125" dirty="0"/>
          </a:p>
        </p:txBody>
      </p:sp>
      <p:sp>
        <p:nvSpPr>
          <p:cNvPr id="9" name="Text 5"/>
          <p:cNvSpPr txBox="1"/>
          <p:nvPr/>
        </p:nvSpPr>
        <p:spPr>
          <a:xfrm>
            <a:off x="4663440" y="1303020"/>
            <a:ext cx="4066794" cy="2468880"/>
          </a:xfrm>
          <a:prstGeom prst="rect">
            <a:avLst/>
          </a:prstGeom>
          <a:noFill/>
          <a:ln/>
        </p:spPr>
        <p:txBody>
          <a:bodyPr wrap="square" lIns="0" tIns="0" rIns="0" bIns="0" rtlCol="0" anchor="t"/>
          <a:lstStyle/>
          <a:p>
            <a:pPr indent="0" marL="0">
              <a:spcAft>
                <a:spcPts val="750"/>
              </a:spcAft>
              <a:buNone/>
            </a:pPr>
            <a:r>
              <a:rPr lang="en-US" sz="1350" b="1" dirty="0">
                <a:solidFill>
                  <a:srgbClr val="B7791F"/>
                </a:solidFill>
                <a:latin typeface="Arial" pitchFamily="34" charset="0"/>
                <a:ea typeface="Arial" pitchFamily="34" charset="-122"/>
                <a:cs typeface="Arial" pitchFamily="34" charset="-120"/>
              </a:rPr>
              <a:t>1.</a:t>
            </a:r>
            <a:pPr indent="0" marL="0">
              <a:spcAft>
                <a:spcPts val="750"/>
              </a:spcAft>
              <a:buNone/>
            </a:pPr>
            <a:r>
              <a:rPr lang="en-US" sz="1350" dirty="0">
                <a:solidFill>
                  <a:srgbClr val="4A5063"/>
                </a:solidFill>
                <a:latin typeface="Arial" pitchFamily="34" charset="0"/>
                <a:ea typeface="Arial" pitchFamily="34" charset="-122"/>
                <a:cs typeface="Arial" pitchFamily="34" charset="-120"/>
              </a:rPr>
              <a:t> Everyone has a prepaid credit balance.</a:t>
            </a:r>
            <a:endParaRPr lang="en-US" sz="1350" dirty="0"/>
          </a:p>
          <a:p>
            <a:pPr indent="0" marL="0">
              <a:spcAft>
                <a:spcPts val="750"/>
              </a:spcAft>
              <a:buNone/>
            </a:pPr>
            <a:r>
              <a:rPr lang="en-US" sz="1350" b="1" dirty="0">
                <a:solidFill>
                  <a:srgbClr val="B7791F"/>
                </a:solidFill>
                <a:latin typeface="Arial" pitchFamily="34" charset="0"/>
                <a:ea typeface="Arial" pitchFamily="34" charset="-122"/>
                <a:cs typeface="Arial" pitchFamily="34" charset="-120"/>
              </a:rPr>
              <a:t>2.</a:t>
            </a:r>
            <a:pPr indent="0" marL="0">
              <a:spcAft>
                <a:spcPts val="750"/>
              </a:spcAft>
              <a:buNone/>
            </a:pPr>
            <a:r>
              <a:rPr lang="en-US" sz="1350" dirty="0">
                <a:solidFill>
                  <a:srgbClr val="4A5063"/>
                </a:solidFill>
                <a:latin typeface="Arial" pitchFamily="34" charset="0"/>
                <a:ea typeface="Arial" pitchFamily="34" charset="-122"/>
                <a:cs typeface="Arial" pitchFamily="34" charset="-120"/>
              </a:rPr>
              <a:t> Buying a ticket takes the price from your balance.</a:t>
            </a:r>
            <a:endParaRPr lang="en-US" sz="1350" dirty="0"/>
          </a:p>
          <a:p>
            <a:pPr indent="0" marL="0">
              <a:spcAft>
                <a:spcPts val="750"/>
              </a:spcAft>
              <a:buNone/>
            </a:pPr>
            <a:r>
              <a:rPr lang="en-US" sz="1350" b="1" dirty="0">
                <a:solidFill>
                  <a:srgbClr val="B7791F"/>
                </a:solidFill>
                <a:latin typeface="Arial" pitchFamily="34" charset="0"/>
                <a:ea typeface="Arial" pitchFamily="34" charset="-122"/>
                <a:cs typeface="Arial" pitchFamily="34" charset="-120"/>
              </a:rPr>
              <a:t>3.</a:t>
            </a:r>
            <a:pPr indent="0" marL="0">
              <a:spcAft>
                <a:spcPts val="750"/>
              </a:spcAft>
              <a:buNone/>
            </a:pPr>
            <a:r>
              <a:rPr lang="en-US" sz="1350" dirty="0">
                <a:solidFill>
                  <a:srgbClr val="4A5063"/>
                </a:solidFill>
                <a:latin typeface="Arial" pitchFamily="34" charset="0"/>
                <a:ea typeface="Arial" pitchFamily="34" charset="-122"/>
                <a:cs typeface="Arial" pitchFamily="34" charset="-120"/>
              </a:rPr>
              <a:t> Every purchase gives 10% back as credits. Credits are money.</a:t>
            </a:r>
            <a:endParaRPr lang="en-US" sz="1350" dirty="0"/>
          </a:p>
          <a:p>
            <a:pPr indent="0" marL="0">
              <a:spcAft>
                <a:spcPts val="750"/>
              </a:spcAft>
              <a:buNone/>
            </a:pPr>
            <a:r>
              <a:rPr lang="en-US" sz="1350" b="1" dirty="0">
                <a:solidFill>
                  <a:srgbClr val="B7791F"/>
                </a:solidFill>
                <a:latin typeface="Arial" pitchFamily="34" charset="0"/>
                <a:ea typeface="Arial" pitchFamily="34" charset="-122"/>
                <a:cs typeface="Arial" pitchFamily="34" charset="-120"/>
              </a:rPr>
              <a:t>4.</a:t>
            </a:r>
            <a:pPr indent="0" marL="0">
              <a:spcAft>
                <a:spcPts val="750"/>
              </a:spcAft>
              <a:buNone/>
            </a:pPr>
            <a:r>
              <a:rPr lang="en-US" sz="1350" dirty="0">
                <a:solidFill>
                  <a:srgbClr val="4A5063"/>
                </a:solidFill>
                <a:latin typeface="Arial" pitchFamily="34" charset="0"/>
                <a:ea typeface="Arial" pitchFamily="34" charset="-122"/>
                <a:cs typeface="Arial" pitchFamily="34" charset="-120"/>
              </a:rPr>
              <a:t> SPEAKER100 coupon = 100% off, single use.</a:t>
            </a:r>
            <a:endParaRPr lang="en-US" sz="1350" dirty="0"/>
          </a:p>
          <a:p>
            <a:pPr indent="0" marL="0">
              <a:spcAft>
                <a:spcPts val="750"/>
              </a:spcAft>
              <a:buNone/>
            </a:pPr>
            <a:r>
              <a:rPr lang="en-US" sz="1350" b="1" dirty="0">
                <a:solidFill>
                  <a:srgbClr val="B7791F"/>
                </a:solidFill>
                <a:latin typeface="Arial" pitchFamily="34" charset="0"/>
                <a:ea typeface="Arial" pitchFamily="34" charset="-122"/>
                <a:cs typeface="Arial" pitchFamily="34" charset="-120"/>
              </a:rPr>
              <a:t>5.</a:t>
            </a:r>
            <a:pPr indent="0" marL="0">
              <a:spcAft>
                <a:spcPts val="750"/>
              </a:spcAft>
              <a:buNone/>
            </a:pPr>
            <a:r>
              <a:rPr lang="en-US" sz="1350" dirty="0">
                <a:solidFill>
                  <a:srgbClr val="4A5063"/>
                </a:solidFill>
                <a:latin typeface="Arial" pitchFamily="34" charset="0"/>
                <a:ea typeface="Arial" pitchFamily="34" charset="-122"/>
                <a:cs typeface="Arial" pitchFamily="34" charset="-120"/>
              </a:rPr>
              <a:t> Maximum 10 tickets per order.</a:t>
            </a:r>
            <a:endParaRPr lang="en-US" sz="1350" dirty="0"/>
          </a:p>
        </p:txBody>
      </p:sp>
      <p:sp>
        <p:nvSpPr>
          <p:cNvPr id="10" name="Text 6"/>
          <p:cNvSpPr txBox="1"/>
          <p:nvPr/>
        </p:nvSpPr>
        <p:spPr>
          <a:xfrm>
            <a:off x="411480" y="3977640"/>
            <a:ext cx="8320857" cy="445770"/>
          </a:xfrm>
          <a:prstGeom prst="rect">
            <a:avLst/>
          </a:prstGeom>
          <a:noFill/>
          <a:ln/>
        </p:spPr>
        <p:txBody>
          <a:bodyPr wrap="square" lIns="114300" tIns="114300" rIns="114300" bIns="114300" rtlCol="0" anchor="ctr"/>
          <a:lstStyle/>
          <a:p>
            <a:pPr indent="0" marL="0">
              <a:buNone/>
            </a:pPr>
            <a:r>
              <a:rPr lang="en-US" sz="1200" dirty="0">
                <a:solidFill>
                  <a:srgbClr val="4A5063"/>
                </a:solidFill>
                <a:latin typeface="Arial" pitchFamily="34" charset="0"/>
                <a:ea typeface="Arial" pitchFamily="34" charset="-122"/>
                <a:cs typeface="Arial" pitchFamily="34" charset="-120"/>
              </a:rPr>
              <a:t>Tickets:  GENERAL 2000  ·  STUDENT 500  ·  WORKSHOP 3500 (5 seats)  ·  STAFF (hidden)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3" name="Image 0" descr="bg/bg-06.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5" name="Text 1"/>
          <p:cNvSpPr txBox="1"/>
          <p:nvPr/>
        </p:nvSpPr>
        <p:spPr>
          <a:xfrm>
            <a:off x="411480" y="308610"/>
            <a:ext cx="6172200" cy="240030"/>
          </a:xfrm>
          <a:prstGeom prst="rect">
            <a:avLst/>
          </a:prstGeom>
          <a:noFill/>
          <a:ln/>
        </p:spPr>
        <p:txBody>
          <a:bodyPr wrap="square" lIns="0" tIns="0" rIns="0" bIns="0" rtlCol="0" anchor="t"/>
          <a:lstStyle/>
          <a:p>
            <a:pPr indent="0" marL="0">
              <a:buNone/>
            </a:pPr>
            <a:r>
              <a:rPr lang="en-US" sz="975" b="1" dirty="0">
                <a:solidFill>
                  <a:srgbClr val="B7791F"/>
                </a:solidFill>
                <a:latin typeface="Courier New" pitchFamily="34" charset="0"/>
                <a:ea typeface="Courier New" pitchFamily="34" charset="-122"/>
                <a:cs typeface="Courier New" pitchFamily="34" charset="-120"/>
              </a:rPr>
              <a:t>LIVE · TERMINAL</a:t>
            </a:r>
            <a:endParaRPr lang="en-US" sz="975" dirty="0"/>
          </a:p>
        </p:txBody>
      </p:sp>
      <p:sp>
        <p:nvSpPr>
          <p:cNvPr id="6" name="Text 2"/>
          <p:cNvSpPr txBox="1"/>
          <p:nvPr/>
        </p:nvSpPr>
        <p:spPr>
          <a:xfrm>
            <a:off x="411480" y="548640"/>
            <a:ext cx="8320857" cy="582930"/>
          </a:xfrm>
          <a:prstGeom prst="rect">
            <a:avLst/>
          </a:prstGeom>
          <a:noFill/>
          <a:ln/>
        </p:spPr>
        <p:txBody>
          <a:bodyPr wrap="square" lIns="0" tIns="0" rIns="0" bIns="0" rtlCol="0" anchor="t"/>
          <a:lstStyle/>
          <a:p>
            <a:pPr indent="0" marL="0">
              <a:buNone/>
            </a:pPr>
            <a:r>
              <a:rPr lang="en-US" sz="2400" b="1" dirty="0">
                <a:solidFill>
                  <a:srgbClr val="1C1F26"/>
                </a:solidFill>
                <a:latin typeface="Arial" pitchFamily="34" charset="0"/>
                <a:ea typeface="Arial" pitchFamily="34" charset="-122"/>
                <a:cs typeface="Arial" pitchFamily="34" charset="-120"/>
              </a:rPr>
              <a:t>This works. I tested it.</a:t>
            </a:r>
            <a:endParaRPr lang="en-US" sz="2400" dirty="0"/>
          </a:p>
        </p:txBody>
      </p:sp>
      <p:sp>
        <p:nvSpPr>
          <p:cNvPr id="7" name="Text 3"/>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6</a:t>
            </a:r>
            <a:endParaRPr lang="en-US" sz="825" dirty="0"/>
          </a:p>
        </p:txBody>
      </p:sp>
      <p:sp>
        <p:nvSpPr>
          <p:cNvPr id="8" name="Text 4"/>
          <p:cNvSpPr txBox="1"/>
          <p:nvPr/>
        </p:nvSpPr>
        <p:spPr>
          <a:xfrm>
            <a:off x="411480" y="1303020"/>
            <a:ext cx="5074920" cy="2948940"/>
          </a:xfrm>
          <a:prstGeom prst="rect">
            <a:avLst/>
          </a:prstGeom>
          <a:noFill/>
          <a:ln/>
        </p:spPr>
        <p:txBody>
          <a:bodyPr wrap="square" lIns="133350" tIns="133350" rIns="133350" bIns="133350" rtlCol="0" anchor="t"/>
          <a:lstStyle/>
          <a:p>
            <a:pPr indent="0" marL="0">
              <a:buNone/>
            </a:pPr>
            <a:r>
              <a:rPr lang="en-US" sz="1275" dirty="0">
                <a:solidFill>
                  <a:srgbClr val="B8BECC"/>
                </a:solidFill>
                <a:latin typeface="Courier New" pitchFamily="34" charset="0"/>
                <a:ea typeface="Courier New" pitchFamily="34" charset="-122"/>
                <a:cs typeface="Courier New" pitchFamily="34" charset="-120"/>
              </a:rPr>
              <a:t>$ curl -X POST localhost:8000/orders \</a:t>
            </a:r>
            <a:endParaRPr lang="en-US" sz="1275" dirty="0"/>
          </a:p>
          <a:p>
            <a:pPr indent="0" marL="0">
              <a:buNone/>
            </a:pPr>
            <a:r>
              <a:rPr lang="en-US" sz="1275" dirty="0">
                <a:solidFill>
                  <a:srgbClr val="B8BECC"/>
                </a:solidFill>
                <a:latin typeface="Courier New" pitchFamily="34" charset="0"/>
                <a:ea typeface="Courier New" pitchFamily="34" charset="-122"/>
                <a:cs typeface="Courier New" pitchFamily="34" charset="-120"/>
              </a:rPr>
              <a:t>    -H "authorization: Bearer $TOKEN" \</a:t>
            </a:r>
            <a:endParaRPr lang="en-US" sz="1275" dirty="0"/>
          </a:p>
          <a:p>
            <a:pPr indent="0" marL="0">
              <a:buNone/>
            </a:pPr>
            <a:r>
              <a:rPr lang="en-US" sz="1275" dirty="0">
                <a:solidFill>
                  <a:srgbClr val="B8BECC"/>
                </a:solidFill>
                <a:latin typeface="Courier New" pitchFamily="34" charset="0"/>
                <a:ea typeface="Courier New" pitchFamily="34" charset="-122"/>
                <a:cs typeface="Courier New" pitchFamily="34" charset="-120"/>
              </a:rPr>
              <a:t>    -d '{"ticket_id": 1, "quantity": 2}'</a:t>
            </a:r>
            <a:endParaRPr lang="en-US" sz="1275" dirty="0"/>
          </a:p>
          <a:p>
            <a:pPr indent="0" marL="0">
              <a:buNone/>
            </a:pPr>
            <a:r>
              <a:rPr lang="en-US" sz="1275" dirty="0">
                <a:solidFill>
                  <a:srgbClr val="E6E8F2"/>
                </a:solidFill>
                <a:latin typeface="Courier New" pitchFamily="34" charset="0"/>
                <a:ea typeface="Courier New" pitchFamily="34" charset="-122"/>
                <a:cs typeface="Courier New" pitchFamily="34" charset="-120"/>
              </a:rPr>
              <a:t> </a:t>
            </a:r>
            <a:endParaRPr lang="en-US" sz="1275" dirty="0"/>
          </a:p>
          <a:p>
            <a:pPr indent="0" marL="0">
              <a:buNone/>
            </a:pPr>
            <a:r>
              <a:rPr lang="en-US" sz="1275" dirty="0">
                <a:solidFill>
                  <a:srgbClr val="8FE3B0"/>
                </a:solidFill>
                <a:latin typeface="Courier New" pitchFamily="34" charset="0"/>
                <a:ea typeface="Courier New" pitchFamily="34" charset="-122"/>
                <a:cs typeface="Courier New" pitchFamily="34" charset="-120"/>
              </a:rPr>
              <a:t>201 Created</a:t>
            </a:r>
            <a:endParaRPr lang="en-US" sz="1275" dirty="0"/>
          </a:p>
          <a:p>
            <a:pPr indent="0" marL="0">
              <a:buNone/>
            </a:pPr>
            <a:r>
              <a:rPr lang="en-US" sz="1275" dirty="0">
                <a:solidFill>
                  <a:srgbClr val="E6E8F2"/>
                </a:solidFill>
                <a:latin typeface="Courier New" pitchFamily="34" charset="0"/>
                <a:ea typeface="Courier New" pitchFamily="34" charset="-122"/>
                <a:cs typeface="Courier New" pitchFamily="34" charset="-120"/>
              </a:rPr>
              <a:t>{ "total_charged": 4000.0,</a:t>
            </a:r>
            <a:endParaRPr lang="en-US" sz="1275" dirty="0"/>
          </a:p>
          <a:p>
            <a:pPr indent="0" marL="0">
              <a:buNone/>
            </a:pPr>
            <a:r>
              <a:rPr lang="en-US" sz="1275" dirty="0">
                <a:solidFill>
                  <a:srgbClr val="E6E8F2"/>
                </a:solidFill>
                <a:latin typeface="Courier New" pitchFamily="34" charset="0"/>
                <a:ea typeface="Courier New" pitchFamily="34" charset="-122"/>
                <a:cs typeface="Courier New" pitchFamily="34" charset="-120"/>
              </a:rPr>
              <a:t>  "credits_earned": 400.0,</a:t>
            </a:r>
            <a:endParaRPr lang="en-US" sz="1275" dirty="0"/>
          </a:p>
          <a:p>
            <a:pPr indent="0" marL="0">
              <a:buNone/>
            </a:pPr>
            <a:r>
              <a:rPr lang="en-US" sz="1275" dirty="0">
                <a:solidFill>
                  <a:srgbClr val="E6E8F2"/>
                </a:solidFill>
                <a:latin typeface="Courier New" pitchFamily="34" charset="0"/>
                <a:ea typeface="Courier New" pitchFamily="34" charset="-122"/>
                <a:cs typeface="Courier New" pitchFamily="34" charset="-120"/>
              </a:rPr>
              <a:t>  "credit_balance": 1400.0 }</a:t>
            </a:r>
            <a:endParaRPr lang="en-US" sz="1275" dirty="0"/>
          </a:p>
        </p:txBody>
      </p:sp>
      <p:sp>
        <p:nvSpPr>
          <p:cNvPr id="9" name="Text 5"/>
          <p:cNvSpPr txBox="1"/>
          <p:nvPr/>
        </p:nvSpPr>
        <p:spPr>
          <a:xfrm>
            <a:off x="5692140" y="1303020"/>
            <a:ext cx="3038094" cy="2948940"/>
          </a:xfrm>
          <a:prstGeom prst="rect">
            <a:avLst/>
          </a:prstGeom>
          <a:noFill/>
          <a:ln/>
        </p:spPr>
        <p:txBody>
          <a:bodyPr wrap="square" lIns="114300" tIns="114300" rIns="114300" bIns="114300" rtlCol="0" anchor="t"/>
          <a:lstStyle/>
          <a:p>
            <a:pPr indent="0" marL="0">
              <a:buNone/>
            </a:pPr>
            <a:r>
              <a:rPr lang="en-US" sz="1500" b="1" dirty="0">
                <a:solidFill>
                  <a:srgbClr val="1E9E62"/>
                </a:solidFill>
                <a:latin typeface="Arial" pitchFamily="34" charset="0"/>
                <a:ea typeface="Arial" pitchFamily="34" charset="-122"/>
                <a:cs typeface="Arial" pitchFamily="34" charset="-120"/>
              </a:rPr>
              <a:t>Everything is correct</a:t>
            </a:r>
            <a:endParaRPr lang="en-US" sz="1500" dirty="0"/>
          </a:p>
          <a:p>
            <a:pPr indent="0" marL="0">
              <a:buNone/>
            </a:pPr>
            <a:r>
              <a:rPr lang="en-US" sz="450" dirty="0">
                <a:solidFill>
                  <a:srgbClr val="1C1F26"/>
                </a:solidFill>
                <a:latin typeface="Arial" pitchFamily="34" charset="0"/>
                <a:ea typeface="Arial" pitchFamily="34" charset="-122"/>
                <a:cs typeface="Arial" pitchFamily="34" charset="-120"/>
              </a:rPr>
              <a:t> </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2 tickets × 2000 = 4000 charged.</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10% back = 400 credits.</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5000 − 4000 + 400 = 1400.</a:t>
            </a:r>
            <a:endParaRPr lang="en-US" sz="1500" dirty="0"/>
          </a:p>
          <a:p>
            <a:pPr indent="0" marL="0">
              <a:buNone/>
            </a:pP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Every test I wrote passes. That's the problem.</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3" name="Image 0" descr="bg/bg-07.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5" name="Text 1"/>
          <p:cNvSpPr txBox="1"/>
          <p:nvPr/>
        </p:nvSpPr>
        <p:spPr>
          <a:xfrm>
            <a:off x="411480" y="308610"/>
            <a:ext cx="6172200" cy="240030"/>
          </a:xfrm>
          <a:prstGeom prst="rect">
            <a:avLst/>
          </a:prstGeom>
          <a:noFill/>
          <a:ln/>
        </p:spPr>
        <p:txBody>
          <a:bodyPr wrap="square" lIns="0" tIns="0" rIns="0" bIns="0" rtlCol="0" anchor="t"/>
          <a:lstStyle/>
          <a:p>
            <a:pPr indent="0" marL="0">
              <a:buNone/>
            </a:pPr>
            <a:r>
              <a:rPr lang="en-US" sz="975" b="1" dirty="0">
                <a:solidFill>
                  <a:srgbClr val="B7791F"/>
                </a:solidFill>
                <a:latin typeface="Courier New" pitchFamily="34" charset="0"/>
                <a:ea typeface="Courier New" pitchFamily="34" charset="-122"/>
                <a:cs typeface="Courier New" pitchFamily="34" charset="-120"/>
              </a:rPr>
              <a:t>THE IDEA</a:t>
            </a:r>
            <a:endParaRPr lang="en-US" sz="975" dirty="0"/>
          </a:p>
        </p:txBody>
      </p:sp>
      <p:sp>
        <p:nvSpPr>
          <p:cNvPr id="6" name="Text 2"/>
          <p:cNvSpPr txBox="1"/>
          <p:nvPr/>
        </p:nvSpPr>
        <p:spPr>
          <a:xfrm>
            <a:off x="411480" y="548640"/>
            <a:ext cx="8320857" cy="582930"/>
          </a:xfrm>
          <a:prstGeom prst="rect">
            <a:avLst/>
          </a:prstGeom>
          <a:noFill/>
          <a:ln/>
        </p:spPr>
        <p:txBody>
          <a:bodyPr wrap="square" lIns="0" tIns="0" rIns="0" bIns="0" rtlCol="0" anchor="t"/>
          <a:lstStyle/>
          <a:p>
            <a:pPr indent="0" marL="0">
              <a:buNone/>
            </a:pPr>
            <a:r>
              <a:rPr lang="en-US" sz="2400" b="1" dirty="0">
                <a:solidFill>
                  <a:srgbClr val="1C1F26"/>
                </a:solidFill>
                <a:latin typeface="Arial" pitchFamily="34" charset="0"/>
                <a:ea typeface="Arial" pitchFamily="34" charset="-122"/>
                <a:cs typeface="Arial" pitchFamily="34" charset="-120"/>
              </a:rPr>
              <a:t>Don't ask AI to write code. Ask it to break it.</a:t>
            </a:r>
            <a:endParaRPr lang="en-US" sz="2400" dirty="0"/>
          </a:p>
        </p:txBody>
      </p:sp>
      <p:sp>
        <p:nvSpPr>
          <p:cNvPr id="7" name="Text 3"/>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7</a:t>
            </a:r>
            <a:endParaRPr lang="en-US" sz="825" dirty="0"/>
          </a:p>
        </p:txBody>
      </p:sp>
      <p:sp>
        <p:nvSpPr>
          <p:cNvPr id="8" name="Text 4"/>
          <p:cNvSpPr txBox="1"/>
          <p:nvPr/>
        </p:nvSpPr>
        <p:spPr>
          <a:xfrm>
            <a:off x="411480" y="1337310"/>
            <a:ext cx="2640330" cy="1988820"/>
          </a:xfrm>
          <a:prstGeom prst="rect">
            <a:avLst/>
          </a:prstGeom>
          <a:noFill/>
          <a:ln/>
        </p:spPr>
        <p:txBody>
          <a:bodyPr wrap="square" lIns="114300" tIns="114300" rIns="114300" bIns="114300" rtlCol="0" anchor="t"/>
          <a:lstStyle/>
          <a:p>
            <a:pPr indent="0" marL="0">
              <a:buNone/>
            </a:pPr>
            <a:r>
              <a:rPr lang="en-US" sz="1500" b="1" dirty="0">
                <a:solidFill>
                  <a:srgbClr val="6B4CC9"/>
                </a:solidFill>
                <a:latin typeface="Arial" pitchFamily="34" charset="0"/>
                <a:ea typeface="Arial" pitchFamily="34" charset="-122"/>
                <a:cs typeface="Arial" pitchFamily="34" charset="-120"/>
              </a:rPr>
              <a:t>1 · AI model</a:t>
            </a:r>
            <a:endParaRPr lang="en-US" sz="1500" dirty="0"/>
          </a:p>
          <a:p>
            <a:pPr indent="0" marL="0">
              <a:buNone/>
            </a:pPr>
            <a:r>
              <a:rPr lang="en-US" sz="450" dirty="0">
                <a:solidFill>
                  <a:srgbClr val="1C1F26"/>
                </a:solidFill>
                <a:latin typeface="Arial" pitchFamily="34" charset="0"/>
                <a:ea typeface="Arial" pitchFamily="34" charset="-122"/>
                <a:cs typeface="Arial" pitchFamily="34" charset="-120"/>
              </a:rPr>
              <a:t> </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Guesses what might break.</a:t>
            </a:r>
            <a:endParaRPr lang="en-US" sz="1500" dirty="0"/>
          </a:p>
          <a:p>
            <a:pPr indent="0" marL="0">
              <a:buNone/>
            </a:pP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Fast and cheap.</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Sometimes wrong.</a:t>
            </a:r>
            <a:endParaRPr lang="en-US" sz="1500" dirty="0"/>
          </a:p>
        </p:txBody>
      </p:sp>
      <p:sp>
        <p:nvSpPr>
          <p:cNvPr id="9" name="Text 5"/>
          <p:cNvSpPr txBox="1"/>
          <p:nvPr/>
        </p:nvSpPr>
        <p:spPr>
          <a:xfrm>
            <a:off x="3250692" y="1337310"/>
            <a:ext cx="2640330" cy="1988820"/>
          </a:xfrm>
          <a:prstGeom prst="rect">
            <a:avLst/>
          </a:prstGeom>
          <a:noFill/>
          <a:ln/>
        </p:spPr>
        <p:txBody>
          <a:bodyPr wrap="square" lIns="114300" tIns="114300" rIns="114300" bIns="114300" rtlCol="0" anchor="t"/>
          <a:lstStyle/>
          <a:p>
            <a:pPr indent="0" marL="0">
              <a:buNone/>
            </a:pPr>
            <a:r>
              <a:rPr lang="en-US" sz="1500" b="1" dirty="0">
                <a:solidFill>
                  <a:srgbClr val="B7791F"/>
                </a:solidFill>
                <a:latin typeface="Arial" pitchFamily="34" charset="0"/>
                <a:ea typeface="Arial" pitchFamily="34" charset="-122"/>
                <a:cs typeface="Arial" pitchFamily="34" charset="-120"/>
              </a:rPr>
              <a:t>2 · Test runner</a:t>
            </a:r>
            <a:endParaRPr lang="en-US" sz="1500" dirty="0"/>
          </a:p>
          <a:p>
            <a:pPr indent="0" marL="0">
              <a:buNone/>
            </a:pPr>
            <a:r>
              <a:rPr lang="en-US" sz="450" dirty="0">
                <a:solidFill>
                  <a:srgbClr val="1C1F26"/>
                </a:solidFill>
                <a:latin typeface="Arial" pitchFamily="34" charset="0"/>
                <a:ea typeface="Arial" pitchFamily="34" charset="-122"/>
                <a:cs typeface="Arial" pitchFamily="34" charset="-120"/>
              </a:rPr>
              <a:t> </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Sends every guess to the real API and records what came back.</a:t>
            </a:r>
            <a:endParaRPr lang="en-US" sz="1500" dirty="0"/>
          </a:p>
          <a:p>
            <a:pPr indent="0" marL="0">
              <a:buNone/>
            </a:pP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Dumb on purpose.</a:t>
            </a:r>
            <a:endParaRPr lang="en-US" sz="1500" dirty="0"/>
          </a:p>
        </p:txBody>
      </p:sp>
      <p:sp>
        <p:nvSpPr>
          <p:cNvPr id="10" name="Text 6"/>
          <p:cNvSpPr txBox="1"/>
          <p:nvPr/>
        </p:nvSpPr>
        <p:spPr>
          <a:xfrm>
            <a:off x="6089904" y="1337310"/>
            <a:ext cx="2640330" cy="1988820"/>
          </a:xfrm>
          <a:prstGeom prst="rect">
            <a:avLst/>
          </a:prstGeom>
          <a:noFill/>
          <a:ln/>
        </p:spPr>
        <p:txBody>
          <a:bodyPr wrap="square" lIns="114300" tIns="114300" rIns="114300" bIns="114300" rtlCol="0" anchor="t"/>
          <a:lstStyle/>
          <a:p>
            <a:pPr indent="0" marL="0">
              <a:buNone/>
            </a:pPr>
            <a:r>
              <a:rPr lang="en-US" sz="1500" b="1" dirty="0">
                <a:solidFill>
                  <a:srgbClr val="D93F3F"/>
                </a:solidFill>
                <a:latin typeface="Arial" pitchFamily="34" charset="0"/>
                <a:ea typeface="Arial" pitchFamily="34" charset="-122"/>
                <a:cs typeface="Arial" pitchFamily="34" charset="-120"/>
              </a:rPr>
              <a:t>3 · Human</a:t>
            </a:r>
            <a:endParaRPr lang="en-US" sz="1500" dirty="0"/>
          </a:p>
          <a:p>
            <a:pPr indent="0" marL="0">
              <a:buNone/>
            </a:pPr>
            <a:r>
              <a:rPr lang="en-US" sz="450" dirty="0">
                <a:solidFill>
                  <a:srgbClr val="1C1F26"/>
                </a:solidFill>
                <a:latin typeface="Arial" pitchFamily="34" charset="0"/>
                <a:ea typeface="Arial" pitchFamily="34" charset="-122"/>
                <a:cs typeface="Arial" pitchFamily="34" charset="-120"/>
              </a:rPr>
              <a:t> </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Decides which red lines are real bugs.</a:t>
            </a:r>
            <a:endParaRPr lang="en-US" sz="1500" dirty="0"/>
          </a:p>
          <a:p>
            <a:pPr indent="0" marL="0">
              <a:buNone/>
            </a:pP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Knows the business rules and the priorities.</a:t>
            </a:r>
            <a:endParaRPr lang="en-US" sz="1500" dirty="0"/>
          </a:p>
        </p:txBody>
      </p:sp>
      <p:sp>
        <p:nvSpPr>
          <p:cNvPr id="11" name="Text 7"/>
          <p:cNvSpPr txBox="1"/>
          <p:nvPr/>
        </p:nvSpPr>
        <p:spPr>
          <a:xfrm>
            <a:off x="411480" y="3566160"/>
            <a:ext cx="8320857" cy="685800"/>
          </a:xfrm>
          <a:prstGeom prst="rect">
            <a:avLst/>
          </a:prstGeom>
          <a:noFill/>
          <a:ln/>
        </p:spPr>
        <p:txBody>
          <a:bodyPr wrap="square" lIns="114300" tIns="114300" rIns="114300" bIns="114300" rtlCol="0" anchor="ctr"/>
          <a:lstStyle/>
          <a:p>
            <a:pPr algn="ctr" indent="0" marL="0">
              <a:buNone/>
            </a:pPr>
            <a:r>
              <a:rPr lang="en-US" sz="1575" dirty="0">
                <a:solidFill>
                  <a:srgbClr val="1C1F26"/>
                </a:solidFill>
                <a:latin typeface="Arial" pitchFamily="34" charset="0"/>
                <a:ea typeface="Arial" pitchFamily="34" charset="-122"/>
                <a:cs typeface="Arial" pitchFamily="34" charset="-120"/>
              </a:rPr>
              <a:t>AI generates hypotheses.  Execution provides evidence.  </a:t>
            </a:r>
            <a:pPr algn="ctr" indent="0" marL="0">
              <a:buNone/>
            </a:pPr>
            <a:r>
              <a:rPr lang="en-US" sz="1575" b="1" dirty="0">
                <a:solidFill>
                  <a:srgbClr val="D93F3F"/>
                </a:solidFill>
                <a:latin typeface="Arial" pitchFamily="34" charset="0"/>
                <a:ea typeface="Arial" pitchFamily="34" charset="-122"/>
                <a:cs typeface="Arial" pitchFamily="34" charset="-120"/>
              </a:rPr>
              <a:t>Humans decide what is a defect.</a:t>
            </a:r>
            <a:endParaRPr lang="en-US" sz="15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3" name="Image 0" descr="bg/bg-08.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5" name="Text 1"/>
          <p:cNvSpPr txBox="1"/>
          <p:nvPr/>
        </p:nvSpPr>
        <p:spPr>
          <a:xfrm>
            <a:off x="411480" y="308610"/>
            <a:ext cx="6172200" cy="240030"/>
          </a:xfrm>
          <a:prstGeom prst="rect">
            <a:avLst/>
          </a:prstGeom>
          <a:noFill/>
          <a:ln/>
        </p:spPr>
        <p:txBody>
          <a:bodyPr wrap="square" lIns="0" tIns="0" rIns="0" bIns="0" rtlCol="0" anchor="t"/>
          <a:lstStyle/>
          <a:p>
            <a:pPr indent="0" marL="0">
              <a:buNone/>
            </a:pPr>
            <a:r>
              <a:rPr lang="en-US" sz="975" b="1" dirty="0">
                <a:solidFill>
                  <a:srgbClr val="B7791F"/>
                </a:solidFill>
                <a:latin typeface="Courier New" pitchFamily="34" charset="0"/>
                <a:ea typeface="Courier New" pitchFamily="34" charset="-122"/>
                <a:cs typeface="Courier New" pitchFamily="34" charset="-120"/>
              </a:rPr>
              <a:t>HOW TO PROMPT AN ATTACKER</a:t>
            </a:r>
            <a:endParaRPr lang="en-US" sz="975" dirty="0"/>
          </a:p>
        </p:txBody>
      </p:sp>
      <p:sp>
        <p:nvSpPr>
          <p:cNvPr id="6" name="Text 2"/>
          <p:cNvSpPr txBox="1"/>
          <p:nvPr/>
        </p:nvSpPr>
        <p:spPr>
          <a:xfrm>
            <a:off x="411480" y="548640"/>
            <a:ext cx="8320857" cy="582930"/>
          </a:xfrm>
          <a:prstGeom prst="rect">
            <a:avLst/>
          </a:prstGeom>
          <a:noFill/>
          <a:ln/>
        </p:spPr>
        <p:txBody>
          <a:bodyPr wrap="square" lIns="0" tIns="0" rIns="0" bIns="0" rtlCol="0" anchor="t"/>
          <a:lstStyle/>
          <a:p>
            <a:pPr indent="0" marL="0">
              <a:buNone/>
            </a:pPr>
            <a:r>
              <a:rPr lang="en-US" sz="2400" b="1" dirty="0">
                <a:solidFill>
                  <a:srgbClr val="1C1F26"/>
                </a:solidFill>
                <a:latin typeface="Arial" pitchFamily="34" charset="0"/>
                <a:ea typeface="Arial" pitchFamily="34" charset="-122"/>
                <a:cs typeface="Arial" pitchFamily="34" charset="-120"/>
              </a:rPr>
              <a:t>Four rules that turn "write tests" into attacks</a:t>
            </a:r>
            <a:endParaRPr lang="en-US" sz="2400" dirty="0"/>
          </a:p>
        </p:txBody>
      </p:sp>
      <p:sp>
        <p:nvSpPr>
          <p:cNvPr id="7" name="Text 3"/>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8</a:t>
            </a:r>
            <a:endParaRPr lang="en-US" sz="825" dirty="0"/>
          </a:p>
        </p:txBody>
      </p:sp>
      <p:sp>
        <p:nvSpPr>
          <p:cNvPr id="8" name="Text 4"/>
          <p:cNvSpPr txBox="1"/>
          <p:nvPr/>
        </p:nvSpPr>
        <p:spPr>
          <a:xfrm>
            <a:off x="411480" y="1337310"/>
            <a:ext cx="4094226" cy="1440180"/>
          </a:xfrm>
          <a:prstGeom prst="rect">
            <a:avLst/>
          </a:prstGeom>
          <a:noFill/>
          <a:ln/>
        </p:spPr>
        <p:txBody>
          <a:bodyPr wrap="square" lIns="114300" tIns="114300" rIns="114300" bIns="114300" rtlCol="0" anchor="t"/>
          <a:lstStyle/>
          <a:p>
            <a:pPr indent="0" marL="0">
              <a:buNone/>
            </a:pPr>
            <a:r>
              <a:rPr lang="en-US" sz="1500" b="1" dirty="0">
                <a:solidFill>
                  <a:srgbClr val="D93F3F"/>
                </a:solidFill>
                <a:latin typeface="Arial" pitchFamily="34" charset="0"/>
                <a:ea typeface="Arial" pitchFamily="34" charset="-122"/>
                <a:cs typeface="Arial" pitchFamily="34" charset="-120"/>
              </a:rPr>
              <a:t>1 · Ask it to break, not to test</a:t>
            </a:r>
            <a:endParaRPr lang="en-US" sz="1500" dirty="0"/>
          </a:p>
          <a:p>
            <a:pPr indent="0" marL="0">
              <a:buNone/>
            </a:pPr>
            <a:r>
              <a:rPr lang="en-US" sz="450" dirty="0">
                <a:solidFill>
                  <a:srgbClr val="1C1F26"/>
                </a:solidFill>
                <a:latin typeface="Arial" pitchFamily="34" charset="0"/>
                <a:ea typeface="Arial" pitchFamily="34" charset="-122"/>
                <a:cs typeface="Arial" pitchFamily="34" charset="-120"/>
              </a:rPr>
              <a:t> </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"Assume the developer was rushed and the non-obvious validation is missing."</a:t>
            </a:r>
            <a:endParaRPr lang="en-US" sz="1500" dirty="0"/>
          </a:p>
        </p:txBody>
      </p:sp>
      <p:sp>
        <p:nvSpPr>
          <p:cNvPr id="9" name="Text 5"/>
          <p:cNvSpPr txBox="1"/>
          <p:nvPr/>
        </p:nvSpPr>
        <p:spPr>
          <a:xfrm>
            <a:off x="4636008" y="1337310"/>
            <a:ext cx="4094226" cy="1440180"/>
          </a:xfrm>
          <a:prstGeom prst="rect">
            <a:avLst/>
          </a:prstGeom>
          <a:noFill/>
          <a:ln/>
        </p:spPr>
        <p:txBody>
          <a:bodyPr wrap="square" lIns="114300" tIns="114300" rIns="114300" bIns="114300" rtlCol="0" anchor="t"/>
          <a:lstStyle/>
          <a:p>
            <a:pPr indent="0" marL="0">
              <a:buNone/>
            </a:pPr>
            <a:r>
              <a:rPr lang="en-US" sz="1500" b="1" dirty="0">
                <a:solidFill>
                  <a:srgbClr val="B7791F"/>
                </a:solidFill>
                <a:latin typeface="Arial" pitchFamily="34" charset="0"/>
                <a:ea typeface="Arial" pitchFamily="34" charset="-122"/>
                <a:cs typeface="Arial" pitchFamily="34" charset="-120"/>
              </a:rPr>
              <a:t>2 · Ask for the correct answer</a:t>
            </a:r>
            <a:endParaRPr lang="en-US" sz="1500" dirty="0"/>
          </a:p>
          <a:p>
            <a:pPr indent="0" marL="0">
              <a:buNone/>
            </a:pPr>
            <a:r>
              <a:rPr lang="en-US" sz="450" dirty="0">
                <a:solidFill>
                  <a:srgbClr val="1C1F26"/>
                </a:solidFill>
                <a:latin typeface="Arial" pitchFamily="34" charset="0"/>
                <a:ea typeface="Arial" pitchFamily="34" charset="-122"/>
                <a:cs typeface="Arial" pitchFamily="34" charset="-120"/>
              </a:rPr>
              <a:t> </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"expect_status = what a CORRECT API returns, not what this one returns."</a:t>
            </a:r>
            <a:endParaRPr lang="en-US" sz="1500" dirty="0"/>
          </a:p>
        </p:txBody>
      </p:sp>
      <p:sp>
        <p:nvSpPr>
          <p:cNvPr id="10" name="Text 6"/>
          <p:cNvSpPr txBox="1"/>
          <p:nvPr/>
        </p:nvSpPr>
        <p:spPr>
          <a:xfrm>
            <a:off x="411480" y="2948940"/>
            <a:ext cx="4094226" cy="1440180"/>
          </a:xfrm>
          <a:prstGeom prst="rect">
            <a:avLst/>
          </a:prstGeom>
          <a:noFill/>
          <a:ln/>
        </p:spPr>
        <p:txBody>
          <a:bodyPr wrap="square" lIns="114300" tIns="114300" rIns="114300" bIns="114300" rtlCol="0" anchor="t"/>
          <a:lstStyle/>
          <a:p>
            <a:pPr indent="0" marL="0">
              <a:buNone/>
            </a:pPr>
            <a:r>
              <a:rPr lang="en-US" sz="1500" b="1" dirty="0">
                <a:solidFill>
                  <a:srgbClr val="2F5FD0"/>
                </a:solidFill>
                <a:latin typeface="Arial" pitchFamily="34" charset="0"/>
                <a:ea typeface="Arial" pitchFamily="34" charset="-122"/>
                <a:cs typeface="Arial" pitchFamily="34" charset="-120"/>
              </a:rPr>
              <a:t>3 · Give it real context</a:t>
            </a:r>
            <a:endParaRPr lang="en-US" sz="1500" dirty="0"/>
          </a:p>
          <a:p>
            <a:pPr indent="0" marL="0">
              <a:buNone/>
            </a:pPr>
            <a:r>
              <a:rPr lang="en-US" sz="450" dirty="0">
                <a:solidFill>
                  <a:srgbClr val="1C1F26"/>
                </a:solidFill>
                <a:latin typeface="Arial" pitchFamily="34" charset="0"/>
                <a:ea typeface="Arial" pitchFamily="34" charset="-122"/>
                <a:cs typeface="Arial" pitchFamily="34" charset="-120"/>
              </a:rPr>
              <a:t> </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The endpoint list, the business rules, a real login token.</a:t>
            </a:r>
            <a:endParaRPr lang="en-US" sz="1500" dirty="0"/>
          </a:p>
        </p:txBody>
      </p:sp>
      <p:sp>
        <p:nvSpPr>
          <p:cNvPr id="11" name="Text 7"/>
          <p:cNvSpPr txBox="1"/>
          <p:nvPr/>
        </p:nvSpPr>
        <p:spPr>
          <a:xfrm>
            <a:off x="4636008" y="2948940"/>
            <a:ext cx="4094226" cy="1440180"/>
          </a:xfrm>
          <a:prstGeom prst="rect">
            <a:avLst/>
          </a:prstGeom>
          <a:noFill/>
          <a:ln/>
        </p:spPr>
        <p:txBody>
          <a:bodyPr wrap="square" lIns="114300" tIns="114300" rIns="114300" bIns="114300" rtlCol="0" anchor="t"/>
          <a:lstStyle/>
          <a:p>
            <a:pPr indent="0" marL="0">
              <a:buNone/>
            </a:pPr>
            <a:r>
              <a:rPr lang="en-US" sz="1500" b="1" dirty="0">
                <a:solidFill>
                  <a:srgbClr val="1E9E62"/>
                </a:solidFill>
                <a:latin typeface="Arial" pitchFamily="34" charset="0"/>
                <a:ea typeface="Arial" pitchFamily="34" charset="-122"/>
                <a:cs typeface="Arial" pitchFamily="34" charset="-120"/>
              </a:rPr>
              <a:t>4 · Force structured output</a:t>
            </a:r>
            <a:endParaRPr lang="en-US" sz="1500" dirty="0"/>
          </a:p>
          <a:p>
            <a:pPr indent="0" marL="0">
              <a:buNone/>
            </a:pPr>
            <a:r>
              <a:rPr lang="en-US" sz="450" dirty="0">
                <a:solidFill>
                  <a:srgbClr val="1C1F26"/>
                </a:solidFill>
                <a:latin typeface="Arial" pitchFamily="34" charset="0"/>
                <a:ea typeface="Arial" pitchFamily="34" charset="-122"/>
                <a:cs typeface="Arial" pitchFamily="34" charset="-120"/>
              </a:rPr>
              <a:t> </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JSON with fixed fields, so every guess can be run as a test.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3" name="Image 0" descr="bg/bg-09.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5" name="Text 1"/>
          <p:cNvSpPr txBox="1"/>
          <p:nvPr/>
        </p:nvSpPr>
        <p:spPr>
          <a:xfrm>
            <a:off x="411480" y="308610"/>
            <a:ext cx="6172200" cy="240030"/>
          </a:xfrm>
          <a:prstGeom prst="rect">
            <a:avLst/>
          </a:prstGeom>
          <a:noFill/>
          <a:ln/>
        </p:spPr>
        <p:txBody>
          <a:bodyPr wrap="square" lIns="0" tIns="0" rIns="0" bIns="0" rtlCol="0" anchor="t"/>
          <a:lstStyle/>
          <a:p>
            <a:pPr indent="0" marL="0">
              <a:buNone/>
            </a:pPr>
            <a:r>
              <a:rPr lang="en-US" sz="975" b="1" dirty="0">
                <a:solidFill>
                  <a:srgbClr val="B7791F"/>
                </a:solidFill>
                <a:latin typeface="Courier New" pitchFamily="34" charset="0"/>
                <a:ea typeface="Courier New" pitchFamily="34" charset="-122"/>
                <a:cs typeface="Courier New" pitchFamily="34" charset="-120"/>
              </a:rPr>
              <a:t>ONE AI-GENERATED TEST CASE</a:t>
            </a:r>
            <a:endParaRPr lang="en-US" sz="975" dirty="0"/>
          </a:p>
        </p:txBody>
      </p:sp>
      <p:sp>
        <p:nvSpPr>
          <p:cNvPr id="6" name="Text 2"/>
          <p:cNvSpPr txBox="1"/>
          <p:nvPr/>
        </p:nvSpPr>
        <p:spPr>
          <a:xfrm>
            <a:off x="411480" y="548640"/>
            <a:ext cx="8320857" cy="582930"/>
          </a:xfrm>
          <a:prstGeom prst="rect">
            <a:avLst/>
          </a:prstGeom>
          <a:noFill/>
          <a:ln/>
        </p:spPr>
        <p:txBody>
          <a:bodyPr wrap="square" lIns="0" tIns="0" rIns="0" bIns="0" rtlCol="0" anchor="t"/>
          <a:lstStyle/>
          <a:p>
            <a:pPr indent="0" marL="0">
              <a:buNone/>
            </a:pPr>
            <a:r>
              <a:rPr lang="en-US" sz="2400" b="1" dirty="0">
                <a:solidFill>
                  <a:srgbClr val="1C1F26"/>
                </a:solidFill>
                <a:latin typeface="Arial" pitchFamily="34" charset="0"/>
                <a:ea typeface="Arial" pitchFamily="34" charset="-122"/>
                <a:cs typeface="Arial" pitchFamily="34" charset="-120"/>
              </a:rPr>
              <a:t>Every guess becomes something we can run</a:t>
            </a:r>
            <a:endParaRPr lang="en-US" sz="2400" dirty="0"/>
          </a:p>
        </p:txBody>
      </p:sp>
      <p:sp>
        <p:nvSpPr>
          <p:cNvPr id="7" name="Text 3"/>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9</a:t>
            </a:r>
            <a:endParaRPr lang="en-US" sz="825" dirty="0"/>
          </a:p>
        </p:txBody>
      </p:sp>
      <p:sp>
        <p:nvSpPr>
          <p:cNvPr id="8" name="Text 4"/>
          <p:cNvSpPr txBox="1"/>
          <p:nvPr/>
        </p:nvSpPr>
        <p:spPr>
          <a:xfrm>
            <a:off x="411480" y="1337310"/>
            <a:ext cx="4800600" cy="3017520"/>
          </a:xfrm>
          <a:prstGeom prst="rect">
            <a:avLst/>
          </a:prstGeom>
          <a:noFill/>
          <a:ln/>
        </p:spPr>
        <p:txBody>
          <a:bodyPr wrap="square" lIns="133350" tIns="133350" rIns="133350" bIns="133350" rtlCol="0" anchor="t"/>
          <a:lstStyle/>
          <a:p>
            <a:pPr indent="0" marL="0">
              <a:buNone/>
            </a:pPr>
            <a:r>
              <a:rPr lang="en-US" sz="1275" dirty="0">
                <a:solidFill>
                  <a:srgbClr val="E6E8F2"/>
                </a:solidFill>
                <a:latin typeface="Courier New" pitchFamily="34" charset="0"/>
                <a:ea typeface="Courier New" pitchFamily="34" charset="-122"/>
                <a:cs typeface="Courier New" pitchFamily="34" charset="-120"/>
              </a:rPr>
              <a:t>{</a:t>
            </a:r>
            <a:endParaRPr lang="en-US" sz="1275" dirty="0"/>
          </a:p>
          <a:p>
            <a:pPr indent="0" marL="0">
              <a:buNone/>
            </a:pPr>
            <a:r>
              <a:rPr lang="en-US" sz="1275" dirty="0">
                <a:solidFill>
                  <a:srgbClr val="FFCB6B"/>
                </a:solidFill>
                <a:latin typeface="Courier New" pitchFamily="34" charset="0"/>
                <a:ea typeface="Courier New" pitchFamily="34" charset="-122"/>
                <a:cs typeface="Courier New" pitchFamily="34" charset="-120"/>
              </a:rPr>
              <a:t>  "method": "GET",</a:t>
            </a:r>
            <a:endParaRPr lang="en-US" sz="1275" dirty="0"/>
          </a:p>
          <a:p>
            <a:pPr indent="0" marL="0">
              <a:buNone/>
            </a:pPr>
            <a:r>
              <a:rPr lang="en-US" sz="1275" dirty="0">
                <a:solidFill>
                  <a:srgbClr val="FFCB6B"/>
                </a:solidFill>
                <a:latin typeface="Courier New" pitchFamily="34" charset="0"/>
                <a:ea typeface="Courier New" pitchFamily="34" charset="-122"/>
                <a:cs typeface="Courier New" pitchFamily="34" charset="-120"/>
              </a:rPr>
              <a:t>  "endpoint": "/orders/1",</a:t>
            </a:r>
            <a:endParaRPr lang="en-US" sz="1275" dirty="0"/>
          </a:p>
          <a:p>
            <a:pPr indent="0" marL="0">
              <a:buNone/>
            </a:pPr>
            <a:r>
              <a:rPr lang="en-US" sz="1275" dirty="0">
                <a:solidFill>
                  <a:srgbClr val="FFCB6B"/>
                </a:solidFill>
                <a:latin typeface="Courier New" pitchFamily="34" charset="0"/>
                <a:ea typeface="Courier New" pitchFamily="34" charset="-122"/>
                <a:cs typeface="Courier New" pitchFamily="34" charset="-120"/>
              </a:rPr>
              <a:t>  "auth": "bob",</a:t>
            </a:r>
            <a:endParaRPr lang="en-US" sz="1275" dirty="0"/>
          </a:p>
          <a:p>
            <a:pPr indent="0" marL="0">
              <a:buNone/>
            </a:pPr>
            <a:r>
              <a:rPr lang="en-US" sz="1275" dirty="0">
                <a:solidFill>
                  <a:srgbClr val="FFCB6B"/>
                </a:solidFill>
                <a:latin typeface="Courier New" pitchFamily="34" charset="0"/>
                <a:ea typeface="Courier New" pitchFamily="34" charset="-122"/>
                <a:cs typeface="Courier New" pitchFamily="34" charset="-120"/>
              </a:rPr>
              <a:t>  "expect_status": [403],</a:t>
            </a:r>
            <a:endParaRPr lang="en-US" sz="1275" dirty="0"/>
          </a:p>
          <a:p>
            <a:pPr indent="0" marL="0">
              <a:buNone/>
            </a:pPr>
            <a:r>
              <a:rPr lang="en-US" sz="1275" dirty="0">
                <a:solidFill>
                  <a:srgbClr val="8C93AE"/>
                </a:solidFill>
                <a:latin typeface="Courier New" pitchFamily="34" charset="0"/>
                <a:ea typeface="Courier New" pitchFamily="34" charset="-122"/>
                <a:cs typeface="Courier New" pitchFamily="34" charset="-120"/>
              </a:rPr>
              <a:t>  "objective": "Read another user's order",</a:t>
            </a:r>
            <a:endParaRPr lang="en-US" sz="1275" dirty="0"/>
          </a:p>
          <a:p>
            <a:pPr indent="0" marL="0">
              <a:buNone/>
            </a:pPr>
            <a:r>
              <a:rPr lang="en-US" sz="1275" dirty="0">
                <a:solidFill>
                  <a:srgbClr val="8C93AE"/>
                </a:solidFill>
                <a:latin typeface="Courier New" pitchFamily="34" charset="0"/>
                <a:ea typeface="Courier New" pitchFamily="34" charset="-122"/>
                <a:cs typeface="Courier New" pitchFamily="34" charset="-120"/>
              </a:rPr>
              <a:t>  "reason": "A2: assumes callers have permission",</a:t>
            </a:r>
            <a:endParaRPr lang="en-US" sz="1275" dirty="0"/>
          </a:p>
          <a:p>
            <a:pPr indent="0" marL="0">
              <a:buNone/>
            </a:pPr>
            <a:r>
              <a:rPr lang="en-US" sz="1275" dirty="0">
                <a:solidFill>
                  <a:srgbClr val="8C93AE"/>
                </a:solidFill>
                <a:latin typeface="Courier New" pitchFamily="34" charset="0"/>
                <a:ea typeface="Courier New" pitchFamily="34" charset="-122"/>
                <a:cs typeface="Courier New" pitchFamily="34" charset="-120"/>
              </a:rPr>
              <a:t>  "severity": "high"</a:t>
            </a:r>
            <a:endParaRPr lang="en-US" sz="1275" dirty="0"/>
          </a:p>
          <a:p>
            <a:pPr indent="0" marL="0">
              <a:buNone/>
            </a:pPr>
            <a:r>
              <a:rPr lang="en-US" sz="1275" dirty="0">
                <a:solidFill>
                  <a:srgbClr val="E6E8F2"/>
                </a:solidFill>
                <a:latin typeface="Courier New" pitchFamily="34" charset="0"/>
                <a:ea typeface="Courier New" pitchFamily="34" charset="-122"/>
                <a:cs typeface="Courier New" pitchFamily="34" charset="-120"/>
              </a:rPr>
              <a:t>}</a:t>
            </a:r>
            <a:endParaRPr lang="en-US" sz="1275" dirty="0"/>
          </a:p>
        </p:txBody>
      </p:sp>
      <p:sp>
        <p:nvSpPr>
          <p:cNvPr id="9" name="Text 5"/>
          <p:cNvSpPr txBox="1"/>
          <p:nvPr/>
        </p:nvSpPr>
        <p:spPr>
          <a:xfrm>
            <a:off x="5417820" y="1337310"/>
            <a:ext cx="3312414" cy="1405890"/>
          </a:xfrm>
          <a:prstGeom prst="rect">
            <a:avLst/>
          </a:prstGeom>
          <a:noFill/>
          <a:ln/>
        </p:spPr>
        <p:txBody>
          <a:bodyPr wrap="square" lIns="114300" tIns="114300" rIns="114300" bIns="114300" rtlCol="0" anchor="t"/>
          <a:lstStyle/>
          <a:p>
            <a:pPr indent="0" marL="0">
              <a:buNone/>
            </a:pPr>
            <a:r>
              <a:rPr lang="en-US" sz="1500" b="1" dirty="0">
                <a:solidFill>
                  <a:srgbClr val="B7791F"/>
                </a:solidFill>
                <a:latin typeface="Arial" pitchFamily="34" charset="0"/>
                <a:ea typeface="Arial" pitchFamily="34" charset="-122"/>
                <a:cs typeface="Arial" pitchFamily="34" charset="-120"/>
              </a:rPr>
              <a:t>Executed</a:t>
            </a:r>
            <a:endParaRPr lang="en-US" sz="1500" dirty="0"/>
          </a:p>
          <a:p>
            <a:pPr indent="0" marL="0">
              <a:buNone/>
            </a:pPr>
            <a:r>
              <a:rPr lang="en-US" sz="450" dirty="0">
                <a:solidFill>
                  <a:srgbClr val="1C1F26"/>
                </a:solidFill>
                <a:latin typeface="Arial" pitchFamily="34" charset="0"/>
                <a:ea typeface="Arial" pitchFamily="34" charset="-122"/>
                <a:cs typeface="Arial" pitchFamily="34" charset="-120"/>
              </a:rPr>
              <a:t> </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method, endpoint, auth, payload, expected status. These hit the real API.</a:t>
            </a:r>
            <a:endParaRPr lang="en-US" sz="1500" dirty="0"/>
          </a:p>
        </p:txBody>
      </p:sp>
      <p:sp>
        <p:nvSpPr>
          <p:cNvPr id="10" name="Text 6"/>
          <p:cNvSpPr txBox="1"/>
          <p:nvPr/>
        </p:nvSpPr>
        <p:spPr>
          <a:xfrm>
            <a:off x="5417820" y="2948940"/>
            <a:ext cx="3312414" cy="1405890"/>
          </a:xfrm>
          <a:prstGeom prst="rect">
            <a:avLst/>
          </a:prstGeom>
          <a:noFill/>
          <a:ln/>
        </p:spPr>
        <p:txBody>
          <a:bodyPr wrap="square" lIns="114300" tIns="114300" rIns="114300" bIns="114300" rtlCol="0" anchor="t"/>
          <a:lstStyle/>
          <a:p>
            <a:pPr indent="0" marL="0">
              <a:buNone/>
            </a:pPr>
            <a:r>
              <a:rPr lang="en-US" sz="1500" b="1" dirty="0">
                <a:solidFill>
                  <a:srgbClr val="4A5063"/>
                </a:solidFill>
                <a:latin typeface="Arial" pitchFamily="34" charset="0"/>
                <a:ea typeface="Arial" pitchFamily="34" charset="-122"/>
                <a:cs typeface="Arial" pitchFamily="34" charset="-120"/>
              </a:rPr>
              <a:t>Read by humans</a:t>
            </a:r>
            <a:endParaRPr lang="en-US" sz="1500" dirty="0"/>
          </a:p>
          <a:p>
            <a:pPr indent="0" marL="0">
              <a:buNone/>
            </a:pPr>
            <a:r>
              <a:rPr lang="en-US" sz="450" dirty="0">
                <a:solidFill>
                  <a:srgbClr val="1C1F26"/>
                </a:solidFill>
                <a:latin typeface="Arial" pitchFamily="34" charset="0"/>
                <a:ea typeface="Arial" pitchFamily="34" charset="-122"/>
                <a:cs typeface="Arial" pitchFamily="34" charset="-120"/>
              </a:rPr>
              <a:t> </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objective, reason, severity. Never executed. A wrong reason costs a sentence, not a false result.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3" name="Image 0" descr="bg/bg-10.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5" name="Text 1"/>
          <p:cNvSpPr txBox="1"/>
          <p:nvPr/>
        </p:nvSpPr>
        <p:spPr>
          <a:xfrm>
            <a:off x="411480" y="308610"/>
            <a:ext cx="6172200" cy="240030"/>
          </a:xfrm>
          <a:prstGeom prst="rect">
            <a:avLst/>
          </a:prstGeom>
          <a:noFill/>
          <a:ln/>
        </p:spPr>
        <p:txBody>
          <a:bodyPr wrap="square" lIns="0" tIns="0" rIns="0" bIns="0" rtlCol="0" anchor="t"/>
          <a:lstStyle/>
          <a:p>
            <a:pPr indent="0" marL="0">
              <a:buNone/>
            </a:pPr>
            <a:r>
              <a:rPr lang="en-US" sz="975" b="1" dirty="0">
                <a:solidFill>
                  <a:srgbClr val="B7791F"/>
                </a:solidFill>
                <a:latin typeface="Courier New" pitchFamily="34" charset="0"/>
                <a:ea typeface="Courier New" pitchFamily="34" charset="-122"/>
                <a:cs typeface="Courier New" pitchFamily="34" charset="-120"/>
              </a:rPr>
              <a:t>BEYOND THE PROMPT</a:t>
            </a:r>
            <a:endParaRPr lang="en-US" sz="975" dirty="0"/>
          </a:p>
        </p:txBody>
      </p:sp>
      <p:sp>
        <p:nvSpPr>
          <p:cNvPr id="6" name="Text 2"/>
          <p:cNvSpPr txBox="1"/>
          <p:nvPr/>
        </p:nvSpPr>
        <p:spPr>
          <a:xfrm>
            <a:off x="411480" y="548640"/>
            <a:ext cx="8320857" cy="582930"/>
          </a:xfrm>
          <a:prstGeom prst="rect">
            <a:avLst/>
          </a:prstGeom>
          <a:noFill/>
          <a:ln/>
        </p:spPr>
        <p:txBody>
          <a:bodyPr wrap="square" lIns="0" tIns="0" rIns="0" bIns="0" rtlCol="0" anchor="t"/>
          <a:lstStyle/>
          <a:p>
            <a:pPr indent="0" marL="0">
              <a:buNone/>
            </a:pPr>
            <a:r>
              <a:rPr lang="en-US" sz="2400" b="1" dirty="0">
                <a:solidFill>
                  <a:srgbClr val="1C1F26"/>
                </a:solidFill>
                <a:latin typeface="Arial" pitchFamily="34" charset="0"/>
                <a:ea typeface="Arial" pitchFamily="34" charset="-122"/>
                <a:cs typeface="Arial" pitchFamily="34" charset="-120"/>
              </a:rPr>
              <a:t>The prompt is the easy part. Engineering makes it useful.</a:t>
            </a:r>
            <a:endParaRPr lang="en-US" sz="2400" dirty="0"/>
          </a:p>
        </p:txBody>
      </p:sp>
      <p:sp>
        <p:nvSpPr>
          <p:cNvPr id="7" name="Text 3"/>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10</a:t>
            </a:r>
            <a:endParaRPr lang="en-US" sz="825" dirty="0"/>
          </a:p>
        </p:txBody>
      </p:sp>
      <p:sp>
        <p:nvSpPr>
          <p:cNvPr id="8" name="Text 4"/>
          <p:cNvSpPr txBox="1"/>
          <p:nvPr/>
        </p:nvSpPr>
        <p:spPr>
          <a:xfrm>
            <a:off x="411480" y="1337310"/>
            <a:ext cx="1303020" cy="1303020"/>
          </a:xfrm>
          <a:prstGeom prst="rect">
            <a:avLst/>
          </a:prstGeom>
          <a:noFill/>
          <a:ln/>
        </p:spPr>
        <p:txBody>
          <a:bodyPr wrap="square" lIns="95250" tIns="95250" rIns="95250" bIns="95250" rtlCol="0" anchor="t"/>
          <a:lstStyle/>
          <a:p>
            <a:pPr indent="0" marL="0">
              <a:buNone/>
            </a:pPr>
            <a:r>
              <a:rPr lang="en-US" sz="1350" b="1" dirty="0">
                <a:solidFill>
                  <a:srgbClr val="2F5FD0"/>
                </a:solidFill>
                <a:latin typeface="Arial" pitchFamily="34" charset="0"/>
                <a:ea typeface="Arial" pitchFamily="34" charset="-122"/>
                <a:cs typeface="Arial" pitchFamily="34" charset="-120"/>
              </a:rPr>
              <a:t>1 Prompt</a:t>
            </a:r>
            <a:endParaRPr lang="en-US" sz="1350" dirty="0"/>
          </a:p>
          <a:p>
            <a:pPr indent="0" marL="0">
              <a:buNone/>
            </a:pPr>
            <a:r>
              <a:rPr lang="en-US" sz="375" dirty="0">
                <a:solidFill>
                  <a:srgbClr val="1C1F26"/>
                </a:solidFill>
                <a:latin typeface="Arial" pitchFamily="34" charset="0"/>
                <a:ea typeface="Arial" pitchFamily="34" charset="-122"/>
                <a:cs typeface="Arial" pitchFamily="34" charset="-120"/>
              </a:rPr>
              <a:t> </a:t>
            </a:r>
            <a:endParaRPr lang="en-US" sz="1350" dirty="0"/>
          </a:p>
          <a:p>
            <a:pPr indent="0" marL="0">
              <a:buNone/>
            </a:pPr>
            <a:r>
              <a:rPr lang="en-US" sz="1050" dirty="0">
                <a:solidFill>
                  <a:srgbClr val="4A5063"/>
                </a:solidFill>
                <a:latin typeface="Arial" pitchFamily="34" charset="0"/>
                <a:ea typeface="Arial" pitchFamily="34" charset="-122"/>
                <a:cs typeface="Arial" pitchFamily="34" charset="-120"/>
              </a:rPr>
              <a:t>attacker instructions + real API context</a:t>
            </a:r>
            <a:endParaRPr lang="en-US" sz="1350" dirty="0"/>
          </a:p>
        </p:txBody>
      </p:sp>
      <p:sp>
        <p:nvSpPr>
          <p:cNvPr id="9" name="Text 5"/>
          <p:cNvSpPr txBox="1"/>
          <p:nvPr/>
        </p:nvSpPr>
        <p:spPr>
          <a:xfrm>
            <a:off x="1817370" y="1337310"/>
            <a:ext cx="1303020" cy="1303020"/>
          </a:xfrm>
          <a:prstGeom prst="rect">
            <a:avLst/>
          </a:prstGeom>
          <a:noFill/>
          <a:ln/>
        </p:spPr>
        <p:txBody>
          <a:bodyPr wrap="square" lIns="95250" tIns="95250" rIns="95250" bIns="95250" rtlCol="0" anchor="t"/>
          <a:lstStyle/>
          <a:p>
            <a:pPr indent="0" marL="0">
              <a:buNone/>
            </a:pPr>
            <a:r>
              <a:rPr lang="en-US" sz="1350" b="1" dirty="0">
                <a:solidFill>
                  <a:srgbClr val="6B4CC9"/>
                </a:solidFill>
                <a:latin typeface="Arial" pitchFamily="34" charset="0"/>
                <a:ea typeface="Arial" pitchFamily="34" charset="-122"/>
                <a:cs typeface="Arial" pitchFamily="34" charset="-120"/>
              </a:rPr>
              <a:t>2 AI model</a:t>
            </a:r>
            <a:endParaRPr lang="en-US" sz="1350" dirty="0"/>
          </a:p>
          <a:p>
            <a:pPr indent="0" marL="0">
              <a:buNone/>
            </a:pPr>
            <a:r>
              <a:rPr lang="en-US" sz="375" dirty="0">
                <a:solidFill>
                  <a:srgbClr val="1C1F26"/>
                </a:solidFill>
                <a:latin typeface="Arial" pitchFamily="34" charset="0"/>
                <a:ea typeface="Arial" pitchFamily="34" charset="-122"/>
                <a:cs typeface="Arial" pitchFamily="34" charset="-120"/>
              </a:rPr>
              <a:t> </a:t>
            </a:r>
            <a:endParaRPr lang="en-US" sz="1350" dirty="0"/>
          </a:p>
          <a:p>
            <a:pPr indent="0" marL="0">
              <a:buNone/>
            </a:pPr>
            <a:r>
              <a:rPr lang="en-US" sz="1050" dirty="0">
                <a:solidFill>
                  <a:srgbClr val="4A5063"/>
                </a:solidFill>
                <a:latin typeface="Arial" pitchFamily="34" charset="0"/>
                <a:ea typeface="Arial" pitchFamily="34" charset="-122"/>
                <a:cs typeface="Arial" pitchFamily="34" charset="-120"/>
              </a:rPr>
              <a:t>writes test ideas as JSON</a:t>
            </a:r>
            <a:endParaRPr lang="en-US" sz="1350" dirty="0"/>
          </a:p>
        </p:txBody>
      </p:sp>
      <p:sp>
        <p:nvSpPr>
          <p:cNvPr id="10" name="Text 6"/>
          <p:cNvSpPr txBox="1"/>
          <p:nvPr/>
        </p:nvSpPr>
        <p:spPr>
          <a:xfrm>
            <a:off x="3223260" y="1337310"/>
            <a:ext cx="1303020" cy="1303020"/>
          </a:xfrm>
          <a:prstGeom prst="rect">
            <a:avLst/>
          </a:prstGeom>
          <a:noFill/>
          <a:ln/>
        </p:spPr>
        <p:txBody>
          <a:bodyPr wrap="square" lIns="95250" tIns="95250" rIns="95250" bIns="95250" rtlCol="0" anchor="t"/>
          <a:lstStyle/>
          <a:p>
            <a:pPr indent="0" marL="0">
              <a:buNone/>
            </a:pPr>
            <a:r>
              <a:rPr lang="en-US" sz="1350" b="1" dirty="0">
                <a:solidFill>
                  <a:srgbClr val="B7791F"/>
                </a:solidFill>
                <a:latin typeface="Arial" pitchFamily="34" charset="0"/>
                <a:ea typeface="Arial" pitchFamily="34" charset="-122"/>
                <a:cs typeface="Arial" pitchFamily="34" charset="-120"/>
              </a:rPr>
              <a:t>3 Validate</a:t>
            </a:r>
            <a:endParaRPr lang="en-US" sz="1350" dirty="0"/>
          </a:p>
          <a:p>
            <a:pPr indent="0" marL="0">
              <a:buNone/>
            </a:pPr>
            <a:r>
              <a:rPr lang="en-US" sz="375" dirty="0">
                <a:solidFill>
                  <a:srgbClr val="1C1F26"/>
                </a:solidFill>
                <a:latin typeface="Arial" pitchFamily="34" charset="0"/>
                <a:ea typeface="Arial" pitchFamily="34" charset="-122"/>
                <a:cs typeface="Arial" pitchFamily="34" charset="-120"/>
              </a:rPr>
              <a:t> </a:t>
            </a:r>
            <a:endParaRPr lang="en-US" sz="1350" dirty="0"/>
          </a:p>
          <a:p>
            <a:pPr indent="0" marL="0">
              <a:buNone/>
            </a:pPr>
            <a:r>
              <a:rPr lang="en-US" sz="1050" dirty="0">
                <a:solidFill>
                  <a:srgbClr val="4A5063"/>
                </a:solidFill>
                <a:latin typeface="Arial" pitchFamily="34" charset="0"/>
                <a:ea typeface="Arial" pitchFamily="34" charset="-122"/>
                <a:cs typeface="Arial" pitchFamily="34" charset="-120"/>
              </a:rPr>
              <a:t>broken AI output rejected automatically</a:t>
            </a:r>
            <a:endParaRPr lang="en-US" sz="1350" dirty="0"/>
          </a:p>
        </p:txBody>
      </p:sp>
      <p:sp>
        <p:nvSpPr>
          <p:cNvPr id="11" name="Text 7"/>
          <p:cNvSpPr txBox="1"/>
          <p:nvPr/>
        </p:nvSpPr>
        <p:spPr>
          <a:xfrm>
            <a:off x="4629150" y="1337310"/>
            <a:ext cx="1303020" cy="1303020"/>
          </a:xfrm>
          <a:prstGeom prst="rect">
            <a:avLst/>
          </a:prstGeom>
          <a:noFill/>
          <a:ln/>
        </p:spPr>
        <p:txBody>
          <a:bodyPr wrap="square" lIns="95250" tIns="95250" rIns="95250" bIns="95250" rtlCol="0" anchor="t"/>
          <a:lstStyle/>
          <a:p>
            <a:pPr indent="0" marL="0">
              <a:buNone/>
            </a:pPr>
            <a:r>
              <a:rPr lang="en-US" sz="1350" b="1" dirty="0">
                <a:solidFill>
                  <a:srgbClr val="B7791F"/>
                </a:solidFill>
                <a:latin typeface="Arial" pitchFamily="34" charset="0"/>
                <a:ea typeface="Arial" pitchFamily="34" charset="-122"/>
                <a:cs typeface="Arial" pitchFamily="34" charset="-120"/>
              </a:rPr>
              <a:t>4 Run</a:t>
            </a:r>
            <a:endParaRPr lang="en-US" sz="1350" dirty="0"/>
          </a:p>
          <a:p>
            <a:pPr indent="0" marL="0">
              <a:buNone/>
            </a:pPr>
            <a:r>
              <a:rPr lang="en-US" sz="375" dirty="0">
                <a:solidFill>
                  <a:srgbClr val="1C1F26"/>
                </a:solidFill>
                <a:latin typeface="Arial" pitchFamily="34" charset="0"/>
                <a:ea typeface="Arial" pitchFamily="34" charset="-122"/>
                <a:cs typeface="Arial" pitchFamily="34" charset="-120"/>
              </a:rPr>
              <a:t> </a:t>
            </a:r>
            <a:endParaRPr lang="en-US" sz="1350" dirty="0"/>
          </a:p>
          <a:p>
            <a:pPr indent="0" marL="0">
              <a:buNone/>
            </a:pPr>
            <a:r>
              <a:rPr lang="en-US" sz="1050" dirty="0">
                <a:solidFill>
                  <a:srgbClr val="4A5063"/>
                </a:solidFill>
                <a:latin typeface="Arial" pitchFamily="34" charset="0"/>
                <a:ea typeface="Arial" pitchFamily="34" charset="-122"/>
                <a:cs typeface="Arial" pitchFamily="34" charset="-120"/>
              </a:rPr>
              <a:t>every idea sent to the real API</a:t>
            </a:r>
            <a:endParaRPr lang="en-US" sz="1350" dirty="0"/>
          </a:p>
        </p:txBody>
      </p:sp>
      <p:sp>
        <p:nvSpPr>
          <p:cNvPr id="12" name="Text 8"/>
          <p:cNvSpPr txBox="1"/>
          <p:nvPr/>
        </p:nvSpPr>
        <p:spPr>
          <a:xfrm>
            <a:off x="6035040" y="1337310"/>
            <a:ext cx="1303020" cy="1303020"/>
          </a:xfrm>
          <a:prstGeom prst="rect">
            <a:avLst/>
          </a:prstGeom>
          <a:noFill/>
          <a:ln/>
        </p:spPr>
        <p:txBody>
          <a:bodyPr wrap="square" lIns="95250" tIns="95250" rIns="95250" bIns="95250" rtlCol="0" anchor="t"/>
          <a:lstStyle/>
          <a:p>
            <a:pPr indent="0" marL="0">
              <a:buNone/>
            </a:pPr>
            <a:r>
              <a:rPr lang="en-US" sz="1350" b="1" dirty="0">
                <a:solidFill>
                  <a:srgbClr val="1E9E62"/>
                </a:solidFill>
                <a:latin typeface="Arial" pitchFamily="34" charset="0"/>
                <a:ea typeface="Arial" pitchFamily="34" charset="-122"/>
                <a:cs typeface="Arial" pitchFamily="34" charset="-120"/>
              </a:rPr>
              <a:t>5 Evidence</a:t>
            </a:r>
            <a:endParaRPr lang="en-US" sz="1350" dirty="0"/>
          </a:p>
          <a:p>
            <a:pPr indent="0" marL="0">
              <a:buNone/>
            </a:pPr>
            <a:r>
              <a:rPr lang="en-US" sz="375" dirty="0">
                <a:solidFill>
                  <a:srgbClr val="1C1F26"/>
                </a:solidFill>
                <a:latin typeface="Arial" pitchFamily="34" charset="0"/>
                <a:ea typeface="Arial" pitchFamily="34" charset="-122"/>
                <a:cs typeface="Arial" pitchFamily="34" charset="-120"/>
              </a:rPr>
              <a:t> </a:t>
            </a:r>
            <a:endParaRPr lang="en-US" sz="1350" dirty="0"/>
          </a:p>
          <a:p>
            <a:pPr indent="0" marL="0">
              <a:buNone/>
            </a:pPr>
            <a:r>
              <a:rPr lang="en-US" sz="1050" dirty="0">
                <a:solidFill>
                  <a:srgbClr val="4A5063"/>
                </a:solidFill>
                <a:latin typeface="Arial" pitchFamily="34" charset="0"/>
                <a:ea typeface="Arial" pitchFamily="34" charset="-122"/>
                <a:cs typeface="Arial" pitchFamily="34" charset="-120"/>
              </a:rPr>
              <a:t>PASS / FAIL with the real response</a:t>
            </a:r>
            <a:endParaRPr lang="en-US" sz="1350" dirty="0"/>
          </a:p>
        </p:txBody>
      </p:sp>
      <p:sp>
        <p:nvSpPr>
          <p:cNvPr id="13" name="Text 9"/>
          <p:cNvSpPr txBox="1"/>
          <p:nvPr/>
        </p:nvSpPr>
        <p:spPr>
          <a:xfrm>
            <a:off x="7440930" y="1337310"/>
            <a:ext cx="1303020" cy="1303020"/>
          </a:xfrm>
          <a:prstGeom prst="rect">
            <a:avLst/>
          </a:prstGeom>
          <a:noFill/>
          <a:ln/>
        </p:spPr>
        <p:txBody>
          <a:bodyPr wrap="square" lIns="95250" tIns="95250" rIns="95250" bIns="95250" rtlCol="0" anchor="t"/>
          <a:lstStyle/>
          <a:p>
            <a:pPr indent="0" marL="0">
              <a:buNone/>
            </a:pPr>
            <a:r>
              <a:rPr lang="en-US" sz="1350" b="1" dirty="0">
                <a:solidFill>
                  <a:srgbClr val="D93F3F"/>
                </a:solidFill>
                <a:latin typeface="Arial" pitchFamily="34" charset="0"/>
                <a:ea typeface="Arial" pitchFamily="34" charset="-122"/>
                <a:cs typeface="Arial" pitchFamily="34" charset="-120"/>
              </a:rPr>
              <a:t>6 Human</a:t>
            </a:r>
            <a:endParaRPr lang="en-US" sz="1350" dirty="0"/>
          </a:p>
          <a:p>
            <a:pPr indent="0" marL="0">
              <a:buNone/>
            </a:pPr>
            <a:r>
              <a:rPr lang="en-US" sz="375" dirty="0">
                <a:solidFill>
                  <a:srgbClr val="1C1F26"/>
                </a:solidFill>
                <a:latin typeface="Arial" pitchFamily="34" charset="0"/>
                <a:ea typeface="Arial" pitchFamily="34" charset="-122"/>
                <a:cs typeface="Arial" pitchFamily="34" charset="-120"/>
              </a:rPr>
              <a:t> </a:t>
            </a:r>
            <a:endParaRPr lang="en-US" sz="1350" dirty="0"/>
          </a:p>
          <a:p>
            <a:pPr indent="0" marL="0">
              <a:buNone/>
            </a:pPr>
            <a:r>
              <a:rPr lang="en-US" sz="1050" dirty="0">
                <a:solidFill>
                  <a:srgbClr val="4A5063"/>
                </a:solidFill>
                <a:latin typeface="Arial" pitchFamily="34" charset="0"/>
                <a:ea typeface="Arial" pitchFamily="34" charset="-122"/>
                <a:cs typeface="Arial" pitchFamily="34" charset="-120"/>
              </a:rPr>
              <a:t>decides which reds are real bugs</a:t>
            </a:r>
            <a:endParaRPr lang="en-US" sz="1350" dirty="0"/>
          </a:p>
        </p:txBody>
      </p:sp>
      <p:sp>
        <p:nvSpPr>
          <p:cNvPr id="14" name="Text 10"/>
          <p:cNvSpPr txBox="1"/>
          <p:nvPr/>
        </p:nvSpPr>
        <p:spPr>
          <a:xfrm>
            <a:off x="411480" y="2846070"/>
            <a:ext cx="8320857" cy="1714500"/>
          </a:xfrm>
          <a:prstGeom prst="rect">
            <a:avLst/>
          </a:prstGeom>
          <a:noFill/>
          <a:ln/>
        </p:spPr>
        <p:txBody>
          <a:bodyPr wrap="square" lIns="0" tIns="0" rIns="0" bIns="0" rtlCol="0" anchor="t"/>
          <a:lstStyle/>
          <a:p>
            <a:pPr marL="215900" indent="-215900">
              <a:spcAft>
                <a:spcPts val="750"/>
              </a:spcAft>
              <a:buSzPct val="100000"/>
              <a:buChar char="•"/>
            </a:pPr>
            <a:r>
              <a:rPr lang="en-US" sz="1350" b="1" dirty="0">
                <a:solidFill>
                  <a:srgbClr val="1C1F26"/>
                </a:solidFill>
                <a:latin typeface="Arial" pitchFamily="34" charset="0"/>
                <a:ea typeface="Arial" pitchFamily="34" charset="-122"/>
                <a:cs typeface="Arial" pitchFamily="34" charset="-120"/>
              </a:rPr>
              <a:t>Structured output:</a:t>
            </a:r>
            <a:pPr indent="0" marL="0">
              <a:spcAft>
                <a:spcPts val="750"/>
              </a:spcAft>
              <a:buNone/>
            </a:pPr>
            <a:r>
              <a:rPr lang="en-US" sz="1350" dirty="0">
                <a:solidFill>
                  <a:srgbClr val="4A5063"/>
                </a:solidFill>
                <a:latin typeface="Arial" pitchFamily="34" charset="0"/>
                <a:ea typeface="Arial" pitchFamily="34" charset="-122"/>
                <a:cs typeface="Arial" pitchFamily="34" charset="-120"/>
              </a:rPr>
              <a:t> JSON with fixed fields, so every AI idea becomes a runnable test.</a:t>
            </a:r>
            <a:endParaRPr lang="en-US" sz="1350" dirty="0"/>
          </a:p>
          <a:p>
            <a:pPr marL="215900" indent="-215900">
              <a:spcAft>
                <a:spcPts val="750"/>
              </a:spcAft>
              <a:buSzPct val="100000"/>
              <a:buChar char="•"/>
            </a:pPr>
            <a:r>
              <a:rPr lang="en-US" sz="1350" b="1" dirty="0">
                <a:solidFill>
                  <a:srgbClr val="1C1F26"/>
                </a:solidFill>
                <a:latin typeface="Arial" pitchFamily="34" charset="0"/>
                <a:ea typeface="Arial" pitchFamily="34" charset="-122"/>
                <a:cs typeface="Arial" pitchFamily="34" charset="-120"/>
              </a:rPr>
              <a:t>Validation:</a:t>
            </a:r>
            <a:pPr indent="0" marL="0">
              <a:spcAft>
                <a:spcPts val="750"/>
              </a:spcAft>
              <a:buNone/>
            </a:pPr>
            <a:r>
              <a:rPr lang="en-US" sz="1350" dirty="0">
                <a:solidFill>
                  <a:srgbClr val="4A5063"/>
                </a:solidFill>
                <a:latin typeface="Arial" pitchFamily="34" charset="0"/>
                <a:ea typeface="Arial" pitchFamily="34" charset="-122"/>
                <a:cs typeface="Arial" pitchFamily="34" charset="-120"/>
              </a:rPr>
              <a:t> malformed ideas are rejected before they run (1 of 9 today).</a:t>
            </a:r>
            <a:endParaRPr lang="en-US" sz="1350" dirty="0"/>
          </a:p>
          <a:p>
            <a:pPr marL="215900" indent="-215900">
              <a:spcAft>
                <a:spcPts val="750"/>
              </a:spcAft>
              <a:buSzPct val="100000"/>
              <a:buChar char="•"/>
            </a:pPr>
            <a:r>
              <a:rPr lang="en-US" sz="1350" b="1" dirty="0">
                <a:solidFill>
                  <a:srgbClr val="1C1F26"/>
                </a:solidFill>
                <a:latin typeface="Arial" pitchFamily="34" charset="0"/>
                <a:ea typeface="Arial" pitchFamily="34" charset="-122"/>
                <a:cs typeface="Arial" pitchFamily="34" charset="-120"/>
              </a:rPr>
              <a:t>Execution:</a:t>
            </a:r>
            <a:pPr indent="0" marL="0">
              <a:spcAft>
                <a:spcPts val="750"/>
              </a:spcAft>
              <a:buNone/>
            </a:pPr>
            <a:r>
              <a:rPr lang="en-US" sz="1350" dirty="0">
                <a:solidFill>
                  <a:srgbClr val="4A5063"/>
                </a:solidFill>
                <a:latin typeface="Arial" pitchFamily="34" charset="0"/>
                <a:ea typeface="Arial" pitchFamily="34" charset="-122"/>
                <a:cs typeface="Arial" pitchFamily="34" charset="-120"/>
              </a:rPr>
              <a:t> results come from the real API, not from what the AI claims.</a:t>
            </a:r>
            <a:endParaRPr lang="en-US" sz="1350" dirty="0"/>
          </a:p>
          <a:p>
            <a:pPr marL="215900" indent="-215900">
              <a:spcAft>
                <a:spcPts val="750"/>
              </a:spcAft>
              <a:buSzPct val="100000"/>
              <a:buChar char="•"/>
            </a:pPr>
            <a:r>
              <a:rPr lang="en-US" sz="1350" b="1" dirty="0">
                <a:solidFill>
                  <a:srgbClr val="1C1F26"/>
                </a:solidFill>
                <a:latin typeface="Arial" pitchFamily="34" charset="0"/>
                <a:ea typeface="Arial" pitchFamily="34" charset="-122"/>
                <a:cs typeface="Arial" pitchFamily="34" charset="-120"/>
              </a:rPr>
              <a:t>Human review:</a:t>
            </a:r>
            <a:pPr indent="0" marL="0">
              <a:spcAft>
                <a:spcPts val="750"/>
              </a:spcAft>
              <a:buNone/>
            </a:pPr>
            <a:r>
              <a:rPr lang="en-US" sz="1350" dirty="0">
                <a:solidFill>
                  <a:srgbClr val="4A5063"/>
                </a:solidFill>
                <a:latin typeface="Arial" pitchFamily="34" charset="0"/>
                <a:ea typeface="Arial" pitchFamily="34" charset="-122"/>
                <a:cs typeface="Arial" pitchFamily="34" charset="-120"/>
              </a:rPr>
              <a:t> the AI's idea of "correct" is checked, like any production AI system.</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3" name="Image 0" descr="bg/bg-11.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5" name="Text 1"/>
          <p:cNvSpPr txBox="1"/>
          <p:nvPr/>
        </p:nvSpPr>
        <p:spPr>
          <a:xfrm>
            <a:off x="411480" y="308610"/>
            <a:ext cx="6172200" cy="240030"/>
          </a:xfrm>
          <a:prstGeom prst="rect">
            <a:avLst/>
          </a:prstGeom>
          <a:noFill/>
          <a:ln/>
        </p:spPr>
        <p:txBody>
          <a:bodyPr wrap="square" lIns="0" tIns="0" rIns="0" bIns="0" rtlCol="0" anchor="t"/>
          <a:lstStyle/>
          <a:p>
            <a:pPr indent="0" marL="0">
              <a:buNone/>
            </a:pPr>
            <a:r>
              <a:rPr lang="en-US" sz="975" b="1" dirty="0">
                <a:solidFill>
                  <a:srgbClr val="B7791F"/>
                </a:solidFill>
                <a:latin typeface="Courier New" pitchFamily="34" charset="0"/>
                <a:ea typeface="Courier New" pitchFamily="34" charset="-122"/>
                <a:cs typeface="Courier New" pitchFamily="34" charset="-120"/>
              </a:rPr>
              <a:t>DEMO 1 · TERMINAL</a:t>
            </a:r>
            <a:endParaRPr lang="en-US" sz="975" dirty="0"/>
          </a:p>
        </p:txBody>
      </p:sp>
      <p:sp>
        <p:nvSpPr>
          <p:cNvPr id="6" name="Text 2"/>
          <p:cNvSpPr txBox="1"/>
          <p:nvPr/>
        </p:nvSpPr>
        <p:spPr>
          <a:xfrm>
            <a:off x="411480" y="548640"/>
            <a:ext cx="8320857" cy="582930"/>
          </a:xfrm>
          <a:prstGeom prst="rect">
            <a:avLst/>
          </a:prstGeom>
          <a:noFill/>
          <a:ln/>
        </p:spPr>
        <p:txBody>
          <a:bodyPr wrap="square" lIns="0" tIns="0" rIns="0" bIns="0" rtlCol="0" anchor="t"/>
          <a:lstStyle/>
          <a:p>
            <a:pPr indent="0" marL="0">
              <a:buNone/>
            </a:pPr>
            <a:r>
              <a:rPr lang="en-US" sz="2400" b="1" dirty="0">
                <a:solidFill>
                  <a:srgbClr val="1C1F26"/>
                </a:solidFill>
                <a:latin typeface="Arial" pitchFamily="34" charset="0"/>
                <a:ea typeface="Arial" pitchFamily="34" charset="-122"/>
                <a:cs typeface="Arial" pitchFamily="34" charset="-120"/>
              </a:rPr>
              <a:t>What the AI wrote</a:t>
            </a:r>
            <a:endParaRPr lang="en-US" sz="2400" dirty="0"/>
          </a:p>
        </p:txBody>
      </p:sp>
      <p:sp>
        <p:nvSpPr>
          <p:cNvPr id="7" name="Text 3"/>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11</a:t>
            </a:r>
            <a:endParaRPr lang="en-US" sz="825" dirty="0"/>
          </a:p>
        </p:txBody>
      </p:sp>
      <p:sp>
        <p:nvSpPr>
          <p:cNvPr id="8" name="Text 4"/>
          <p:cNvSpPr txBox="1"/>
          <p:nvPr/>
        </p:nvSpPr>
        <p:spPr>
          <a:xfrm>
            <a:off x="411480" y="1303020"/>
            <a:ext cx="8320857" cy="514350"/>
          </a:xfrm>
          <a:prstGeom prst="rect">
            <a:avLst/>
          </a:prstGeom>
          <a:noFill/>
          <a:ln/>
        </p:spPr>
        <p:txBody>
          <a:bodyPr wrap="square" lIns="133350" tIns="133350" rIns="133350" bIns="133350" rtlCol="0" anchor="ctr"/>
          <a:lstStyle/>
          <a:p>
            <a:pPr indent="0" marL="0">
              <a:buNone/>
            </a:pPr>
            <a:r>
              <a:rPr lang="en-US" sz="1350" dirty="0">
                <a:solidFill>
                  <a:srgbClr val="8FE3B0"/>
                </a:solidFill>
                <a:latin typeface="Courier New" pitchFamily="34" charset="0"/>
                <a:ea typeface="Courier New" pitchFamily="34" charset="-122"/>
                <a:cs typeface="Courier New" pitchFamily="34" charset="-120"/>
              </a:rPr>
              <a:t>$ python -m json.tool ai/run_prompt2.json | head -40</a:t>
            </a:r>
            <a:endParaRPr lang="en-US" sz="1350" dirty="0"/>
          </a:p>
        </p:txBody>
      </p:sp>
      <p:sp>
        <p:nvSpPr>
          <p:cNvPr id="9" name="Text 5"/>
          <p:cNvSpPr txBox="1"/>
          <p:nvPr/>
        </p:nvSpPr>
        <p:spPr>
          <a:xfrm>
            <a:off x="411480" y="2023110"/>
            <a:ext cx="8320857" cy="2468880"/>
          </a:xfrm>
          <a:prstGeom prst="rect">
            <a:avLst/>
          </a:prstGeom>
          <a:noFill/>
          <a:ln/>
        </p:spPr>
        <p:txBody>
          <a:bodyPr wrap="square" lIns="0" tIns="0" rIns="0" bIns="0" rtlCol="0" anchor="t"/>
          <a:lstStyle/>
          <a:p>
            <a:pPr marL="215900" indent="-215900">
              <a:spcAft>
                <a:spcPts val="750"/>
              </a:spcAft>
              <a:buSzPct val="100000"/>
              <a:buChar char="•"/>
            </a:pPr>
            <a:r>
              <a:rPr lang="en-US" sz="1425" b="1" dirty="0">
                <a:solidFill>
                  <a:srgbClr val="1C1F26"/>
                </a:solidFill>
                <a:latin typeface="Arial" pitchFamily="34" charset="0"/>
                <a:ea typeface="Arial" pitchFamily="34" charset="-122"/>
                <a:cs typeface="Arial" pitchFamily="34" charset="-120"/>
              </a:rPr>
              <a:t>Model:</a:t>
            </a:r>
            <a:pPr indent="0" marL="0">
              <a:spcAft>
                <a:spcPts val="750"/>
              </a:spcAft>
              <a:buNone/>
            </a:pPr>
            <a:r>
              <a:rPr lang="en-US" sz="1425" dirty="0">
                <a:solidFill>
                  <a:srgbClr val="4A5063"/>
                </a:solidFill>
                <a:latin typeface="Arial" pitchFamily="34" charset="0"/>
                <a:ea typeface="Arial" pitchFamily="34" charset="-122"/>
                <a:cs typeface="Arial" pitchFamily="34" charset="-120"/>
              </a:rPr>
              <a:t> qwen2.5-coder:7b running locally with Ollama. No internet, no paid API.</a:t>
            </a:r>
            <a:endParaRPr lang="en-US" sz="1425" dirty="0"/>
          </a:p>
          <a:p>
            <a:pPr marL="215900" indent="-215900">
              <a:spcAft>
                <a:spcPts val="750"/>
              </a:spcAft>
              <a:buSzPct val="100000"/>
              <a:buChar char="•"/>
            </a:pPr>
            <a:r>
              <a:rPr lang="en-US" sz="1425" b="1" dirty="0">
                <a:solidFill>
                  <a:srgbClr val="1C1F26"/>
                </a:solidFill>
                <a:latin typeface="Arial" pitchFamily="34" charset="0"/>
                <a:ea typeface="Arial" pitchFamily="34" charset="-122"/>
                <a:cs typeface="Arial" pitchFamily="34" charset="-120"/>
              </a:rPr>
              <a:t>Time:</a:t>
            </a:r>
            <a:pPr indent="0" marL="0">
              <a:spcAft>
                <a:spcPts val="750"/>
              </a:spcAft>
              <a:buNone/>
            </a:pPr>
            <a:r>
              <a:rPr lang="en-US" sz="1425" dirty="0">
                <a:solidFill>
                  <a:srgbClr val="4A5063"/>
                </a:solidFill>
                <a:latin typeface="Arial" pitchFamily="34" charset="0"/>
                <a:ea typeface="Arial" pitchFamily="34" charset="-122"/>
                <a:cs typeface="Arial" pitchFamily="34" charset="-120"/>
              </a:rPr>
              <a:t> 91 seconds to generate. Too slow to do live, so this is last night's unedited output.</a:t>
            </a:r>
            <a:endParaRPr lang="en-US" sz="1425" dirty="0"/>
          </a:p>
          <a:p>
            <a:pPr marL="215900" indent="-215900">
              <a:spcAft>
                <a:spcPts val="750"/>
              </a:spcAft>
              <a:buSzPct val="100000"/>
              <a:buChar char="•"/>
            </a:pPr>
            <a:r>
              <a:rPr lang="en-US" sz="1425" b="1" dirty="0">
                <a:solidFill>
                  <a:srgbClr val="1C1F26"/>
                </a:solidFill>
                <a:latin typeface="Arial" pitchFamily="34" charset="0"/>
                <a:ea typeface="Arial" pitchFamily="34" charset="-122"/>
                <a:cs typeface="Arial" pitchFamily="34" charset="-120"/>
              </a:rPr>
              <a:t>Output:</a:t>
            </a:r>
            <a:pPr indent="0" marL="0">
              <a:spcAft>
                <a:spcPts val="750"/>
              </a:spcAft>
              <a:buNone/>
            </a:pPr>
            <a:r>
              <a:rPr lang="en-US" sz="1425" dirty="0">
                <a:solidFill>
                  <a:srgbClr val="4A5063"/>
                </a:solidFill>
                <a:latin typeface="Arial" pitchFamily="34" charset="0"/>
                <a:ea typeface="Arial" pitchFamily="34" charset="-122"/>
                <a:cs typeface="Arial" pitchFamily="34" charset="-120"/>
              </a:rPr>
              <a:t> 9 test cases. 1 was rejected automatically (it put a raw token where a user name belongs). 8 run.</a:t>
            </a:r>
            <a:endParaRPr lang="en-US" sz="1425" dirty="0"/>
          </a:p>
          <a:p>
            <a:pPr marL="215900" indent="-215900">
              <a:spcAft>
                <a:spcPts val="750"/>
              </a:spcAft>
              <a:buSzPct val="100000"/>
              <a:buChar char="•"/>
            </a:pPr>
            <a:r>
              <a:rPr lang="en-US" sz="1425" b="1" dirty="0">
                <a:solidFill>
                  <a:srgbClr val="1C1F26"/>
                </a:solidFill>
                <a:latin typeface="Arial" pitchFamily="34" charset="0"/>
                <a:ea typeface="Arial" pitchFamily="34" charset="-122"/>
                <a:cs typeface="Arial" pitchFamily="34" charset="-120"/>
              </a:rPr>
              <a:t>Its 5 assumptions:</a:t>
            </a:r>
            <a:pPr indent="0" marL="0">
              <a:spcAft>
                <a:spcPts val="750"/>
              </a:spcAft>
              <a:buNone/>
            </a:pPr>
            <a:r>
              <a:rPr lang="en-US" sz="1425" dirty="0">
                <a:solidFill>
                  <a:srgbClr val="4A5063"/>
                </a:solidFill>
                <a:latin typeface="Arial" pitchFamily="34" charset="0"/>
                <a:ea typeface="Arial" pitchFamily="34" charset="-122"/>
                <a:cs typeface="Arial" pitchFamily="34" charset="-120"/>
              </a:rPr>
              <a:t> tokens are valid · callers have permission · input is clean · numbers are in range · things are used once.</a:t>
            </a:r>
            <a:endParaRPr lang="en-US" sz="14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3" name="Image 0" descr="bg/bg-12.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5" name="Text 1"/>
          <p:cNvSpPr txBox="1"/>
          <p:nvPr/>
        </p:nvSpPr>
        <p:spPr>
          <a:xfrm>
            <a:off x="411480" y="308610"/>
            <a:ext cx="6172200" cy="240030"/>
          </a:xfrm>
          <a:prstGeom prst="rect">
            <a:avLst/>
          </a:prstGeom>
          <a:noFill/>
          <a:ln/>
        </p:spPr>
        <p:txBody>
          <a:bodyPr wrap="square" lIns="0" tIns="0" rIns="0" bIns="0" rtlCol="0" anchor="t"/>
          <a:lstStyle/>
          <a:p>
            <a:pPr indent="0" marL="0">
              <a:buNone/>
            </a:pPr>
            <a:r>
              <a:rPr lang="en-US" sz="975" b="1" dirty="0">
                <a:solidFill>
                  <a:srgbClr val="B7791F"/>
                </a:solidFill>
                <a:latin typeface="Courier New" pitchFamily="34" charset="0"/>
                <a:ea typeface="Courier New" pitchFamily="34" charset="-122"/>
                <a:cs typeface="Courier New" pitchFamily="34" charset="-120"/>
              </a:rPr>
              <a:t>DEMO 2 · TERMINAL</a:t>
            </a:r>
            <a:endParaRPr lang="en-US" sz="975" dirty="0"/>
          </a:p>
        </p:txBody>
      </p:sp>
      <p:sp>
        <p:nvSpPr>
          <p:cNvPr id="6" name="Text 2"/>
          <p:cNvSpPr txBox="1"/>
          <p:nvPr/>
        </p:nvSpPr>
        <p:spPr>
          <a:xfrm>
            <a:off x="411480" y="548640"/>
            <a:ext cx="8320857" cy="582930"/>
          </a:xfrm>
          <a:prstGeom prst="rect">
            <a:avLst/>
          </a:prstGeom>
          <a:noFill/>
          <a:ln/>
        </p:spPr>
        <p:txBody>
          <a:bodyPr wrap="square" lIns="0" tIns="0" rIns="0" bIns="0" rtlCol="0" anchor="t"/>
          <a:lstStyle/>
          <a:p>
            <a:pPr indent="0" marL="0">
              <a:buNone/>
            </a:pPr>
            <a:r>
              <a:rPr lang="en-US" sz="2400" b="1" dirty="0">
                <a:solidFill>
                  <a:srgbClr val="1C1F26"/>
                </a:solidFill>
                <a:latin typeface="Arial" pitchFamily="34" charset="0"/>
                <a:ea typeface="Arial" pitchFamily="34" charset="-122"/>
                <a:cs typeface="Arial" pitchFamily="34" charset="-120"/>
              </a:rPr>
              <a:t>Run every guess against the API</a:t>
            </a:r>
            <a:endParaRPr lang="en-US" sz="2400" dirty="0"/>
          </a:p>
        </p:txBody>
      </p:sp>
      <p:sp>
        <p:nvSpPr>
          <p:cNvPr id="7" name="Text 3"/>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12</a:t>
            </a:r>
            <a:endParaRPr lang="en-US" sz="825" dirty="0"/>
          </a:p>
        </p:txBody>
      </p:sp>
      <p:sp>
        <p:nvSpPr>
          <p:cNvPr id="8" name="Text 4"/>
          <p:cNvSpPr txBox="1"/>
          <p:nvPr/>
        </p:nvSpPr>
        <p:spPr>
          <a:xfrm>
            <a:off x="411480" y="1303020"/>
            <a:ext cx="8320857" cy="514350"/>
          </a:xfrm>
          <a:prstGeom prst="rect">
            <a:avLst/>
          </a:prstGeom>
          <a:noFill/>
          <a:ln/>
        </p:spPr>
        <p:txBody>
          <a:bodyPr wrap="square" lIns="133350" tIns="133350" rIns="133350" bIns="133350" rtlCol="0" anchor="ctr"/>
          <a:lstStyle/>
          <a:p>
            <a:pPr indent="0" marL="0">
              <a:buNone/>
            </a:pPr>
            <a:r>
              <a:rPr lang="en-US" sz="1350" dirty="0">
                <a:solidFill>
                  <a:srgbClr val="8FE3B0"/>
                </a:solidFill>
                <a:latin typeface="Courier New" pitchFamily="34" charset="0"/>
                <a:ea typeface="Courier New" pitchFamily="34" charset="-122"/>
                <a:cs typeface="Courier New" pitchFamily="34" charset="-120"/>
              </a:rPr>
              <a:t>$ python -m tests.runner --cases ai/run_prompt2.json</a:t>
            </a:r>
            <a:endParaRPr lang="en-US" sz="1350" dirty="0"/>
          </a:p>
        </p:txBody>
      </p:sp>
      <p:sp>
        <p:nvSpPr>
          <p:cNvPr id="9" name="Text 5"/>
          <p:cNvSpPr txBox="1"/>
          <p:nvPr/>
        </p:nvSpPr>
        <p:spPr>
          <a:xfrm>
            <a:off x="411480" y="2023110"/>
            <a:ext cx="8320857" cy="1508760"/>
          </a:xfrm>
          <a:prstGeom prst="rect">
            <a:avLst/>
          </a:prstGeom>
          <a:noFill/>
          <a:ln/>
        </p:spPr>
        <p:txBody>
          <a:bodyPr wrap="square" lIns="0" tIns="0" rIns="0" bIns="0" rtlCol="0" anchor="t"/>
          <a:lstStyle/>
          <a:p>
            <a:pPr marL="215900" indent="-215900">
              <a:spcAft>
                <a:spcPts val="750"/>
              </a:spcAft>
              <a:buSzPct val="100000"/>
              <a:buChar char="•"/>
            </a:pPr>
            <a:r>
              <a:rPr lang="en-US" sz="1425" b="1" dirty="0">
                <a:solidFill>
                  <a:srgbClr val="1C1F26"/>
                </a:solidFill>
                <a:latin typeface="Arial" pitchFamily="34" charset="0"/>
                <a:ea typeface="Arial" pitchFamily="34" charset="-122"/>
                <a:cs typeface="Arial" pitchFamily="34" charset="-120"/>
              </a:rPr>
              <a:t>Each case:</a:t>
            </a:r>
            <a:pPr indent="0" marL="0">
              <a:spcAft>
                <a:spcPts val="750"/>
              </a:spcAft>
              <a:buNone/>
            </a:pPr>
            <a:r>
              <a:rPr lang="en-US" sz="1425" dirty="0">
                <a:solidFill>
                  <a:srgbClr val="4A5063"/>
                </a:solidFill>
                <a:latin typeface="Arial" pitchFamily="34" charset="0"/>
                <a:ea typeface="Arial" pitchFamily="34" charset="-122"/>
                <a:cs typeface="Arial" pitchFamily="34" charset="-120"/>
              </a:rPr>
              <a:t> reset the database, send the request, compare the status with what the AI said is correct.</a:t>
            </a:r>
            <a:endParaRPr lang="en-US" sz="1425" dirty="0"/>
          </a:p>
          <a:p>
            <a:pPr marL="215900" indent="-215900">
              <a:spcAft>
                <a:spcPts val="750"/>
              </a:spcAft>
              <a:buSzPct val="100000"/>
              <a:buChar char="•"/>
            </a:pPr>
            <a:r>
              <a:rPr lang="en-US" sz="1425" b="1" dirty="0">
                <a:solidFill>
                  <a:srgbClr val="1C1F26"/>
                </a:solidFill>
                <a:latin typeface="Arial" pitchFamily="34" charset="0"/>
                <a:ea typeface="Arial" pitchFamily="34" charset="-122"/>
                <a:cs typeface="Arial" pitchFamily="34" charset="-120"/>
              </a:rPr>
              <a:t>PASS</a:t>
            </a:r>
            <a:pPr indent="0" marL="0">
              <a:spcAft>
                <a:spcPts val="750"/>
              </a:spcAft>
              <a:buNone/>
            </a:pPr>
            <a:r>
              <a:rPr lang="en-US" sz="1425" dirty="0">
                <a:solidFill>
                  <a:srgbClr val="4A5063"/>
                </a:solidFill>
                <a:latin typeface="Arial" pitchFamily="34" charset="0"/>
                <a:ea typeface="Arial" pitchFamily="34" charset="-122"/>
                <a:cs typeface="Arial" pitchFamily="34" charset="-120"/>
              </a:rPr>
              <a:t> means this guess was not confirmed. It does not mean "no bug".</a:t>
            </a:r>
            <a:endParaRPr lang="en-US" sz="1425" dirty="0"/>
          </a:p>
          <a:p>
            <a:pPr marL="215900" indent="-215900">
              <a:spcAft>
                <a:spcPts val="750"/>
              </a:spcAft>
              <a:buSzPct val="100000"/>
              <a:buChar char="•"/>
            </a:pPr>
            <a:r>
              <a:rPr lang="en-US" sz="1425" b="1" dirty="0">
                <a:solidFill>
                  <a:srgbClr val="1C1F26"/>
                </a:solidFill>
                <a:latin typeface="Arial" pitchFamily="34" charset="0"/>
                <a:ea typeface="Arial" pitchFamily="34" charset="-122"/>
                <a:cs typeface="Arial" pitchFamily="34" charset="-120"/>
              </a:rPr>
              <a:t>FAIL</a:t>
            </a:r>
            <a:pPr indent="0" marL="0">
              <a:spcAft>
                <a:spcPts val="750"/>
              </a:spcAft>
              <a:buNone/>
            </a:pPr>
            <a:r>
              <a:rPr lang="en-US" sz="1425" dirty="0">
                <a:solidFill>
                  <a:srgbClr val="4A5063"/>
                </a:solidFill>
                <a:latin typeface="Arial" pitchFamily="34" charset="0"/>
                <a:ea typeface="Arial" pitchFamily="34" charset="-122"/>
                <a:cs typeface="Arial" pitchFamily="34" charset="-120"/>
              </a:rPr>
              <a:t> means a candidate defect. The AI's idea of "correct" can be wrong.</a:t>
            </a:r>
            <a:endParaRPr lang="en-US" sz="1425" dirty="0"/>
          </a:p>
        </p:txBody>
      </p:sp>
      <p:sp>
        <p:nvSpPr>
          <p:cNvPr id="10" name="Text 6"/>
          <p:cNvSpPr txBox="1"/>
          <p:nvPr/>
        </p:nvSpPr>
        <p:spPr>
          <a:xfrm>
            <a:off x="411480" y="3703320"/>
            <a:ext cx="8320857" cy="651510"/>
          </a:xfrm>
          <a:prstGeom prst="rect">
            <a:avLst/>
          </a:prstGeom>
          <a:noFill/>
          <a:ln/>
        </p:spPr>
        <p:txBody>
          <a:bodyPr wrap="square" lIns="114300" tIns="114300" rIns="114300" bIns="114300" rtlCol="0" anchor="ctr"/>
          <a:lstStyle/>
          <a:p>
            <a:pPr algn="ctr" indent="0" marL="0">
              <a:buNone/>
            </a:pPr>
            <a:r>
              <a:rPr lang="en-US" sz="1950" dirty="0">
                <a:solidFill>
                  <a:srgbClr val="4A5063"/>
                </a:solidFill>
                <a:latin typeface="Arial" pitchFamily="34" charset="0"/>
                <a:ea typeface="Arial" pitchFamily="34" charset="-122"/>
                <a:cs typeface="Arial" pitchFamily="34" charset="-120"/>
              </a:rPr>
              <a:t>Result:  </a:t>
            </a:r>
            <a:pPr algn="ctr" indent="0" marL="0">
              <a:buNone/>
            </a:pPr>
            <a:r>
              <a:rPr lang="en-US" sz="1950" dirty="0">
                <a:solidFill>
                  <a:srgbClr val="1C1F26"/>
                </a:solidFill>
                <a:latin typeface="Arial" pitchFamily="34" charset="0"/>
                <a:ea typeface="Arial" pitchFamily="34" charset="-122"/>
                <a:cs typeface="Arial" pitchFamily="34" charset="-120"/>
              </a:rPr>
              <a:t>8 cases  ·  3 PASS  ·  </a:t>
            </a:r>
            <a:pPr algn="ctr" indent="0" marL="0">
              <a:buNone/>
            </a:pPr>
            <a:r>
              <a:rPr lang="en-US" sz="1950" b="1" dirty="0">
                <a:solidFill>
                  <a:srgbClr val="D93F3F"/>
                </a:solidFill>
                <a:latin typeface="Arial" pitchFamily="34" charset="0"/>
                <a:ea typeface="Arial" pitchFamily="34" charset="-122"/>
                <a:cs typeface="Arial" pitchFamily="34" charset="-120"/>
              </a:rPr>
              <a:t>5 FAIL</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3" name="Image 0" descr="bg/bg-13.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5" name="Text 1"/>
          <p:cNvSpPr txBox="1"/>
          <p:nvPr/>
        </p:nvSpPr>
        <p:spPr>
          <a:xfrm>
            <a:off x="411480" y="308610"/>
            <a:ext cx="6172200" cy="240030"/>
          </a:xfrm>
          <a:prstGeom prst="rect">
            <a:avLst/>
          </a:prstGeom>
          <a:noFill/>
          <a:ln/>
        </p:spPr>
        <p:txBody>
          <a:bodyPr wrap="square" lIns="0" tIns="0" rIns="0" bIns="0" rtlCol="0" anchor="t"/>
          <a:lstStyle/>
          <a:p>
            <a:pPr indent="0" marL="0">
              <a:buNone/>
            </a:pPr>
            <a:r>
              <a:rPr lang="en-US" sz="975" b="1" dirty="0">
                <a:solidFill>
                  <a:srgbClr val="B7791F"/>
                </a:solidFill>
                <a:latin typeface="Courier New" pitchFamily="34" charset="0"/>
                <a:ea typeface="Courier New" pitchFamily="34" charset="-122"/>
                <a:cs typeface="Courier New" pitchFamily="34" charset="-120"/>
              </a:rPr>
              <a:t>3 REAL BUGS</a:t>
            </a:r>
            <a:endParaRPr lang="en-US" sz="975" dirty="0"/>
          </a:p>
        </p:txBody>
      </p:sp>
      <p:sp>
        <p:nvSpPr>
          <p:cNvPr id="6" name="Text 2"/>
          <p:cNvSpPr txBox="1"/>
          <p:nvPr/>
        </p:nvSpPr>
        <p:spPr>
          <a:xfrm>
            <a:off x="411480" y="548640"/>
            <a:ext cx="8320857" cy="582930"/>
          </a:xfrm>
          <a:prstGeom prst="rect">
            <a:avLst/>
          </a:prstGeom>
          <a:noFill/>
          <a:ln/>
        </p:spPr>
        <p:txBody>
          <a:bodyPr wrap="square" lIns="0" tIns="0" rIns="0" bIns="0" rtlCol="0" anchor="t"/>
          <a:lstStyle/>
          <a:p>
            <a:pPr indent="0" marL="0">
              <a:buNone/>
            </a:pPr>
            <a:r>
              <a:rPr lang="en-US" sz="2400" b="1" dirty="0">
                <a:solidFill>
                  <a:srgbClr val="1C1F26"/>
                </a:solidFill>
                <a:latin typeface="Arial" pitchFamily="34" charset="0"/>
                <a:ea typeface="Arial" pitchFamily="34" charset="-122"/>
                <a:cs typeface="Arial" pitchFamily="34" charset="-120"/>
              </a:rPr>
              <a:t>What the AI got right</a:t>
            </a:r>
            <a:endParaRPr lang="en-US" sz="2400" dirty="0"/>
          </a:p>
        </p:txBody>
      </p:sp>
      <p:sp>
        <p:nvSpPr>
          <p:cNvPr id="7" name="Text 3"/>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13</a:t>
            </a:r>
            <a:endParaRPr lang="en-US" sz="825" dirty="0"/>
          </a:p>
        </p:txBody>
      </p:sp>
      <p:sp>
        <p:nvSpPr>
          <p:cNvPr id="8" name="Text 4"/>
          <p:cNvSpPr txBox="1"/>
          <p:nvPr/>
        </p:nvSpPr>
        <p:spPr>
          <a:xfrm>
            <a:off x="411480" y="1303020"/>
            <a:ext cx="1028700" cy="994410"/>
          </a:xfrm>
          <a:prstGeom prst="rect">
            <a:avLst/>
          </a:prstGeom>
          <a:noFill/>
          <a:ln/>
        </p:spPr>
        <p:txBody>
          <a:bodyPr wrap="square" lIns="0" tIns="0" rIns="0" bIns="0" rtlCol="0" anchor="ctr"/>
          <a:lstStyle/>
          <a:p>
            <a:pPr algn="ctr" indent="0" marL="0">
              <a:buNone/>
            </a:pPr>
            <a:r>
              <a:rPr lang="en-US" sz="1275" b="1" dirty="0">
                <a:solidFill>
                  <a:srgbClr val="FFFFFF"/>
                </a:solidFill>
                <a:latin typeface="Courier New" pitchFamily="34" charset="0"/>
                <a:ea typeface="Courier New" pitchFamily="34" charset="-122"/>
                <a:cs typeface="Courier New" pitchFamily="34" charset="-120"/>
              </a:rPr>
              <a:t>TC-002</a:t>
            </a:r>
            <a:endParaRPr lang="en-US" sz="1275" dirty="0"/>
          </a:p>
        </p:txBody>
      </p:sp>
      <p:sp>
        <p:nvSpPr>
          <p:cNvPr id="9" name="Text 5"/>
          <p:cNvSpPr txBox="1"/>
          <p:nvPr/>
        </p:nvSpPr>
        <p:spPr>
          <a:xfrm>
            <a:off x="1543050" y="1303020"/>
            <a:ext cx="3017520" cy="994410"/>
          </a:xfrm>
          <a:prstGeom prst="rect">
            <a:avLst/>
          </a:prstGeom>
          <a:noFill/>
          <a:ln/>
        </p:spPr>
        <p:txBody>
          <a:bodyPr wrap="square" lIns="114300" tIns="114300" rIns="114300" bIns="114300" rtlCol="0" anchor="ctr"/>
          <a:lstStyle/>
          <a:p>
            <a:pPr indent="0" marL="0">
              <a:buNone/>
            </a:pPr>
            <a:r>
              <a:rPr lang="en-US" sz="1350" b="1" dirty="0">
                <a:solidFill>
                  <a:srgbClr val="1C1F26"/>
                </a:solidFill>
                <a:latin typeface="Arial" pitchFamily="34" charset="0"/>
                <a:ea typeface="Arial" pitchFamily="34" charset="-122"/>
                <a:cs typeface="Arial" pitchFamily="34" charset="-120"/>
              </a:rPr>
              <a:t>Broken token → server crash</a:t>
            </a:r>
            <a:endParaRPr lang="en-US" sz="1350" dirty="0"/>
          </a:p>
          <a:p>
            <a:pPr indent="0" marL="0">
              <a:buNone/>
            </a:pPr>
            <a:r>
              <a:rPr lang="en-US" sz="1125" dirty="0">
                <a:solidFill>
                  <a:srgbClr val="B7791F"/>
                </a:solidFill>
                <a:latin typeface="Arial" pitchFamily="34" charset="0"/>
                <a:ea typeface="Arial" pitchFamily="34" charset="-122"/>
                <a:cs typeface="Arial" pitchFamily="34" charset="-120"/>
              </a:rPr>
              <a:t>Expected 401, got 500 with Python's internal error text.</a:t>
            </a:r>
            <a:endParaRPr lang="en-US" sz="1350" dirty="0"/>
          </a:p>
        </p:txBody>
      </p:sp>
      <p:sp>
        <p:nvSpPr>
          <p:cNvPr id="10" name="Text 6"/>
          <p:cNvSpPr txBox="1"/>
          <p:nvPr/>
        </p:nvSpPr>
        <p:spPr>
          <a:xfrm>
            <a:off x="4663440" y="1303020"/>
            <a:ext cx="4068897" cy="994410"/>
          </a:xfrm>
          <a:prstGeom prst="rect">
            <a:avLst/>
          </a:prstGeom>
          <a:noFill/>
          <a:ln/>
        </p:spPr>
        <p:txBody>
          <a:bodyPr wrap="square" lIns="114300" tIns="114300" rIns="114300" bIns="114300" rtlCol="0" anchor="ctr"/>
          <a:lstStyle/>
          <a:p>
            <a:pPr indent="0" marL="0">
              <a:buNone/>
            </a:pPr>
            <a:r>
              <a:rPr lang="en-US" sz="1125" dirty="0">
                <a:solidFill>
                  <a:srgbClr val="4A5063"/>
                </a:solidFill>
                <a:latin typeface="Arial" pitchFamily="34" charset="0"/>
                <a:ea typeface="Arial" pitchFamily="34" charset="-122"/>
                <a:cs typeface="Arial" pitchFamily="34" charset="-120"/>
              </a:rPr>
              <a:t>Bad input should get a polite 4xx. A 500 leaks details and triggers false alarms in monitoring.</a:t>
            </a:r>
            <a:endParaRPr lang="en-US" sz="1125" dirty="0"/>
          </a:p>
        </p:txBody>
      </p:sp>
      <p:sp>
        <p:nvSpPr>
          <p:cNvPr id="11" name="Text 7"/>
          <p:cNvSpPr txBox="1"/>
          <p:nvPr/>
        </p:nvSpPr>
        <p:spPr>
          <a:xfrm>
            <a:off x="411480" y="2414016"/>
            <a:ext cx="1028700" cy="994410"/>
          </a:xfrm>
          <a:prstGeom prst="rect">
            <a:avLst/>
          </a:prstGeom>
          <a:noFill/>
          <a:ln/>
        </p:spPr>
        <p:txBody>
          <a:bodyPr wrap="square" lIns="0" tIns="0" rIns="0" bIns="0" rtlCol="0" anchor="ctr"/>
          <a:lstStyle/>
          <a:p>
            <a:pPr algn="ctr" indent="0" marL="0">
              <a:buNone/>
            </a:pPr>
            <a:r>
              <a:rPr lang="en-US" sz="1275" b="1" dirty="0">
                <a:solidFill>
                  <a:srgbClr val="FFFFFF"/>
                </a:solidFill>
                <a:latin typeface="Courier New" pitchFamily="34" charset="0"/>
                <a:ea typeface="Courier New" pitchFamily="34" charset="-122"/>
                <a:cs typeface="Courier New" pitchFamily="34" charset="-120"/>
              </a:rPr>
              <a:t>TC-004</a:t>
            </a:r>
            <a:endParaRPr lang="en-US" sz="1275" dirty="0"/>
          </a:p>
        </p:txBody>
      </p:sp>
      <p:sp>
        <p:nvSpPr>
          <p:cNvPr id="12" name="Text 8"/>
          <p:cNvSpPr txBox="1"/>
          <p:nvPr/>
        </p:nvSpPr>
        <p:spPr>
          <a:xfrm>
            <a:off x="1543050" y="2414016"/>
            <a:ext cx="3017520" cy="994410"/>
          </a:xfrm>
          <a:prstGeom prst="rect">
            <a:avLst/>
          </a:prstGeom>
          <a:noFill/>
          <a:ln/>
        </p:spPr>
        <p:txBody>
          <a:bodyPr wrap="square" lIns="114300" tIns="114300" rIns="114300" bIns="114300" rtlCol="0" anchor="ctr"/>
          <a:lstStyle/>
          <a:p>
            <a:pPr indent="0" marL="0">
              <a:buNone/>
            </a:pPr>
            <a:r>
              <a:rPr lang="en-US" sz="1350" b="1" dirty="0">
                <a:solidFill>
                  <a:srgbClr val="1C1F26"/>
                </a:solidFill>
                <a:latin typeface="Arial" pitchFamily="34" charset="0"/>
                <a:ea typeface="Arial" pitchFamily="34" charset="-122"/>
                <a:cs typeface="Arial" pitchFamily="34" charset="-120"/>
              </a:rPr>
              <a:t>Fake token → admin access</a:t>
            </a:r>
            <a:endParaRPr lang="en-US" sz="1350" dirty="0"/>
          </a:p>
          <a:p>
            <a:pPr indent="0" marL="0">
              <a:buNone/>
            </a:pPr>
            <a:r>
              <a:rPr lang="en-US" sz="1125" dirty="0">
                <a:solidFill>
                  <a:srgbClr val="B7791F"/>
                </a:solidFill>
                <a:latin typeface="Arial" pitchFamily="34" charset="0"/>
                <a:ea typeface="Arial" pitchFamily="34" charset="-122"/>
                <a:cs typeface="Arial" pitchFamily="34" charset="-120"/>
              </a:rPr>
              <a:t>Expected 401, got 200.</a:t>
            </a:r>
            <a:endParaRPr lang="en-US" sz="1350" dirty="0"/>
          </a:p>
        </p:txBody>
      </p:sp>
      <p:sp>
        <p:nvSpPr>
          <p:cNvPr id="13" name="Text 9"/>
          <p:cNvSpPr txBox="1"/>
          <p:nvPr/>
        </p:nvSpPr>
        <p:spPr>
          <a:xfrm>
            <a:off x="4663440" y="2414016"/>
            <a:ext cx="4068897" cy="994410"/>
          </a:xfrm>
          <a:prstGeom prst="rect">
            <a:avLst/>
          </a:prstGeom>
          <a:noFill/>
          <a:ln/>
        </p:spPr>
        <p:txBody>
          <a:bodyPr wrap="square" lIns="114300" tIns="114300" rIns="114300" bIns="114300" rtlCol="0" anchor="ctr"/>
          <a:lstStyle/>
          <a:p>
            <a:pPr indent="0" marL="0">
              <a:buNone/>
            </a:pPr>
            <a:r>
              <a:rPr lang="en-US" sz="1125" dirty="0">
                <a:solidFill>
                  <a:srgbClr val="4A5063"/>
                </a:solidFill>
                <a:latin typeface="Arial" pitchFamily="34" charset="0"/>
                <a:ea typeface="Arial" pitchFamily="34" charset="-122"/>
                <a:cs typeface="Arial" pitchFamily="34" charset="-120"/>
              </a:rPr>
              <a:t>The token is just base64 of "user_id:role". Anyone can write "9:admin" and encode it. Not signed.</a:t>
            </a:r>
            <a:endParaRPr lang="en-US" sz="1125" dirty="0"/>
          </a:p>
        </p:txBody>
      </p:sp>
      <p:sp>
        <p:nvSpPr>
          <p:cNvPr id="14" name="Text 10"/>
          <p:cNvSpPr txBox="1"/>
          <p:nvPr/>
        </p:nvSpPr>
        <p:spPr>
          <a:xfrm>
            <a:off x="411480" y="3525012"/>
            <a:ext cx="1028700" cy="994410"/>
          </a:xfrm>
          <a:prstGeom prst="rect">
            <a:avLst/>
          </a:prstGeom>
          <a:noFill/>
          <a:ln/>
        </p:spPr>
        <p:txBody>
          <a:bodyPr wrap="square" lIns="0" tIns="0" rIns="0" bIns="0" rtlCol="0" anchor="ctr"/>
          <a:lstStyle/>
          <a:p>
            <a:pPr algn="ctr" indent="0" marL="0">
              <a:buNone/>
            </a:pPr>
            <a:r>
              <a:rPr lang="en-US" sz="1275" b="1" dirty="0">
                <a:solidFill>
                  <a:srgbClr val="FFFFFF"/>
                </a:solidFill>
                <a:latin typeface="Courier New" pitchFamily="34" charset="0"/>
                <a:ea typeface="Courier New" pitchFamily="34" charset="-122"/>
                <a:cs typeface="Courier New" pitchFamily="34" charset="-120"/>
              </a:rPr>
              <a:t>TC-005</a:t>
            </a:r>
            <a:endParaRPr lang="en-US" sz="1275" dirty="0"/>
          </a:p>
        </p:txBody>
      </p:sp>
      <p:sp>
        <p:nvSpPr>
          <p:cNvPr id="15" name="Text 11"/>
          <p:cNvSpPr txBox="1"/>
          <p:nvPr/>
        </p:nvSpPr>
        <p:spPr>
          <a:xfrm>
            <a:off x="1543050" y="3525012"/>
            <a:ext cx="3017520" cy="994410"/>
          </a:xfrm>
          <a:prstGeom prst="rect">
            <a:avLst/>
          </a:prstGeom>
          <a:noFill/>
          <a:ln/>
        </p:spPr>
        <p:txBody>
          <a:bodyPr wrap="square" lIns="114300" tIns="114300" rIns="114300" bIns="114300" rtlCol="0" anchor="ctr"/>
          <a:lstStyle/>
          <a:p>
            <a:pPr indent="0" marL="0">
              <a:buNone/>
            </a:pPr>
            <a:r>
              <a:rPr lang="en-US" sz="1350" b="1" dirty="0">
                <a:solidFill>
                  <a:srgbClr val="1C1F26"/>
                </a:solidFill>
                <a:latin typeface="Arial" pitchFamily="34" charset="0"/>
                <a:ea typeface="Arial" pitchFamily="34" charset="-122"/>
                <a:cs typeface="Arial" pitchFamily="34" charset="-120"/>
              </a:rPr>
              <a:t>Bob reads Alice's order</a:t>
            </a:r>
            <a:endParaRPr lang="en-US" sz="1350" dirty="0"/>
          </a:p>
          <a:p>
            <a:pPr indent="0" marL="0">
              <a:buNone/>
            </a:pPr>
            <a:r>
              <a:rPr lang="en-US" sz="1125" dirty="0">
                <a:solidFill>
                  <a:srgbClr val="B7791F"/>
                </a:solidFill>
                <a:latin typeface="Arial" pitchFamily="34" charset="0"/>
                <a:ea typeface="Arial" pitchFamily="34" charset="-122"/>
                <a:cs typeface="Arial" pitchFamily="34" charset="-120"/>
              </a:rPr>
              <a:t>Expected 403, got 200.</a:t>
            </a:r>
            <a:endParaRPr lang="en-US" sz="1350" dirty="0"/>
          </a:p>
        </p:txBody>
      </p:sp>
      <p:sp>
        <p:nvSpPr>
          <p:cNvPr id="16" name="Text 12"/>
          <p:cNvSpPr txBox="1"/>
          <p:nvPr/>
        </p:nvSpPr>
        <p:spPr>
          <a:xfrm>
            <a:off x="4663440" y="3525012"/>
            <a:ext cx="4068897" cy="994410"/>
          </a:xfrm>
          <a:prstGeom prst="rect">
            <a:avLst/>
          </a:prstGeom>
          <a:noFill/>
          <a:ln/>
        </p:spPr>
        <p:txBody>
          <a:bodyPr wrap="square" lIns="114300" tIns="114300" rIns="114300" bIns="114300" rtlCol="0" anchor="ctr"/>
          <a:lstStyle/>
          <a:p>
            <a:pPr indent="0" marL="0">
              <a:buNone/>
            </a:pPr>
            <a:r>
              <a:rPr lang="en-US" sz="1125" dirty="0">
                <a:solidFill>
                  <a:srgbClr val="4A5063"/>
                </a:solidFill>
                <a:latin typeface="Arial" pitchFamily="34" charset="0"/>
                <a:ea typeface="Arial" pitchFamily="34" charset="-122"/>
                <a:cs typeface="Arial" pitchFamily="34" charset="-120"/>
              </a:rPr>
              <a:t>IDOR: the API checks you're logged in, not that the order is yours. Change /orders/1 → someone else's data.</a:t>
            </a:r>
            <a:endParaRPr lang="en-US" sz="11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3" name="Image 0" descr="bg/bg-14.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5" name="Text 1"/>
          <p:cNvSpPr txBox="1"/>
          <p:nvPr/>
        </p:nvSpPr>
        <p:spPr>
          <a:xfrm>
            <a:off x="411480" y="308610"/>
            <a:ext cx="6172200" cy="240030"/>
          </a:xfrm>
          <a:prstGeom prst="rect">
            <a:avLst/>
          </a:prstGeom>
          <a:noFill/>
          <a:ln/>
        </p:spPr>
        <p:txBody>
          <a:bodyPr wrap="square" lIns="0" tIns="0" rIns="0" bIns="0" rtlCol="0" anchor="t"/>
          <a:lstStyle/>
          <a:p>
            <a:pPr indent="0" marL="0">
              <a:buNone/>
            </a:pPr>
            <a:r>
              <a:rPr lang="en-US" sz="975" b="1" dirty="0">
                <a:solidFill>
                  <a:srgbClr val="B7791F"/>
                </a:solidFill>
                <a:latin typeface="Courier New" pitchFamily="34" charset="0"/>
                <a:ea typeface="Courier New" pitchFamily="34" charset="-122"/>
                <a:cs typeface="Courier New" pitchFamily="34" charset="-120"/>
              </a:rPr>
              <a:t>2 FALSE ALARMS</a:t>
            </a:r>
            <a:endParaRPr lang="en-US" sz="975" dirty="0"/>
          </a:p>
        </p:txBody>
      </p:sp>
      <p:sp>
        <p:nvSpPr>
          <p:cNvPr id="6" name="Text 2"/>
          <p:cNvSpPr txBox="1"/>
          <p:nvPr/>
        </p:nvSpPr>
        <p:spPr>
          <a:xfrm>
            <a:off x="411480" y="548640"/>
            <a:ext cx="8320857" cy="582930"/>
          </a:xfrm>
          <a:prstGeom prst="rect">
            <a:avLst/>
          </a:prstGeom>
          <a:noFill/>
          <a:ln/>
        </p:spPr>
        <p:txBody>
          <a:bodyPr wrap="square" lIns="0" tIns="0" rIns="0" bIns="0" rtlCol="0" anchor="t"/>
          <a:lstStyle/>
          <a:p>
            <a:pPr indent="0" marL="0">
              <a:buNone/>
            </a:pPr>
            <a:r>
              <a:rPr lang="en-US" sz="2400" b="1" dirty="0">
                <a:solidFill>
                  <a:srgbClr val="1C1F26"/>
                </a:solidFill>
                <a:latin typeface="Arial" pitchFamily="34" charset="0"/>
                <a:ea typeface="Arial" pitchFamily="34" charset="-122"/>
                <a:cs typeface="Arial" pitchFamily="34" charset="-120"/>
              </a:rPr>
              <a:t>What the AI got confidently wrong</a:t>
            </a:r>
            <a:endParaRPr lang="en-US" sz="2400" dirty="0"/>
          </a:p>
        </p:txBody>
      </p:sp>
      <p:sp>
        <p:nvSpPr>
          <p:cNvPr id="7" name="Text 3"/>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14</a:t>
            </a:r>
            <a:endParaRPr lang="en-US" sz="825" dirty="0"/>
          </a:p>
        </p:txBody>
      </p:sp>
      <p:sp>
        <p:nvSpPr>
          <p:cNvPr id="8" name="Text 4"/>
          <p:cNvSpPr txBox="1"/>
          <p:nvPr/>
        </p:nvSpPr>
        <p:spPr>
          <a:xfrm>
            <a:off x="411480" y="1337310"/>
            <a:ext cx="4094226" cy="2263140"/>
          </a:xfrm>
          <a:prstGeom prst="rect">
            <a:avLst/>
          </a:prstGeom>
          <a:noFill/>
          <a:ln/>
        </p:spPr>
        <p:txBody>
          <a:bodyPr wrap="square" lIns="114300" tIns="114300" rIns="114300" bIns="114300" rtlCol="0" anchor="t"/>
          <a:lstStyle/>
          <a:p>
            <a:pPr indent="0" marL="0">
              <a:buNone/>
            </a:pPr>
            <a:r>
              <a:rPr lang="en-US" sz="1500" b="1" dirty="0">
                <a:solidFill>
                  <a:srgbClr val="B7791F"/>
                </a:solidFill>
                <a:latin typeface="Arial" pitchFamily="34" charset="0"/>
                <a:ea typeface="Arial" pitchFamily="34" charset="-122"/>
                <a:cs typeface="Arial" pitchFamily="34" charset="-120"/>
              </a:rPr>
              <a:t>TC-006 · SQL injection</a:t>
            </a:r>
            <a:endParaRPr lang="en-US" sz="1500" dirty="0"/>
          </a:p>
          <a:p>
            <a:pPr indent="0" marL="0">
              <a:buNone/>
            </a:pPr>
            <a:r>
              <a:rPr lang="en-US" sz="450" dirty="0">
                <a:solidFill>
                  <a:srgbClr val="1C1F26"/>
                </a:solidFill>
                <a:latin typeface="Arial" pitchFamily="34" charset="0"/>
                <a:ea typeface="Arial" pitchFamily="34" charset="-122"/>
                <a:cs typeface="Arial" pitchFamily="34" charset="-120"/>
              </a:rPr>
              <a:t> </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The AI said a correct API should return 500 for an injection attempt.</a:t>
            </a:r>
            <a:endParaRPr lang="en-US" sz="1500" dirty="0"/>
          </a:p>
          <a:p>
            <a:pPr indent="0" marL="0">
              <a:buNone/>
            </a:pP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Wrong: a crash is never the correct answer. The API returned 200 with normal results. The test went red for the wrong reason.</a:t>
            </a:r>
            <a:endParaRPr lang="en-US" sz="1500" dirty="0"/>
          </a:p>
        </p:txBody>
      </p:sp>
      <p:sp>
        <p:nvSpPr>
          <p:cNvPr id="9" name="Text 5"/>
          <p:cNvSpPr txBox="1"/>
          <p:nvPr/>
        </p:nvSpPr>
        <p:spPr>
          <a:xfrm>
            <a:off x="4636008" y="1337310"/>
            <a:ext cx="4094226" cy="2263140"/>
          </a:xfrm>
          <a:prstGeom prst="rect">
            <a:avLst/>
          </a:prstGeom>
          <a:noFill/>
          <a:ln/>
        </p:spPr>
        <p:txBody>
          <a:bodyPr wrap="square" lIns="114300" tIns="114300" rIns="114300" bIns="114300" rtlCol="0" anchor="t"/>
          <a:lstStyle/>
          <a:p>
            <a:pPr indent="0" marL="0">
              <a:buNone/>
            </a:pPr>
            <a:r>
              <a:rPr lang="en-US" sz="1500" b="1" dirty="0">
                <a:solidFill>
                  <a:srgbClr val="B7791F"/>
                </a:solidFill>
                <a:latin typeface="Arial" pitchFamily="34" charset="0"/>
                <a:ea typeface="Arial" pitchFamily="34" charset="-122"/>
                <a:cs typeface="Arial" pitchFamily="34" charset="-120"/>
              </a:rPr>
              <a:t>TC-009 · EARLYBIRD coupon</a:t>
            </a:r>
            <a:endParaRPr lang="en-US" sz="1500" dirty="0"/>
          </a:p>
          <a:p>
            <a:pPr indent="0" marL="0">
              <a:buNone/>
            </a:pPr>
            <a:r>
              <a:rPr lang="en-US" sz="450" dirty="0">
                <a:solidFill>
                  <a:srgbClr val="1C1F26"/>
                </a:solidFill>
                <a:latin typeface="Arial" pitchFamily="34" charset="0"/>
                <a:ea typeface="Arial" pitchFamily="34" charset="-122"/>
                <a:cs typeface="Arial" pitchFamily="34" charset="-120"/>
              </a:rPr>
              <a:t> </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The AI tested EARLYBIRD as a "use once" coupon and expected a rejection.</a:t>
            </a:r>
            <a:endParaRPr lang="en-US" sz="1500" dirty="0"/>
          </a:p>
          <a:p>
            <a:pPr indent="0" marL="0">
              <a:buNone/>
            </a:pP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Wrong: the docs say EARLYBIRD is unlimited. The single-use coupon is SPEAKER100. It mixed them up.</a:t>
            </a:r>
            <a:endParaRPr lang="en-US" sz="1500" dirty="0"/>
          </a:p>
        </p:txBody>
      </p:sp>
      <p:sp>
        <p:nvSpPr>
          <p:cNvPr id="10" name="Text 6"/>
          <p:cNvSpPr txBox="1"/>
          <p:nvPr/>
        </p:nvSpPr>
        <p:spPr>
          <a:xfrm>
            <a:off x="411480" y="3806190"/>
            <a:ext cx="8320857" cy="617220"/>
          </a:xfrm>
          <a:prstGeom prst="rect">
            <a:avLst/>
          </a:prstGeom>
          <a:noFill/>
          <a:ln/>
        </p:spPr>
        <p:txBody>
          <a:bodyPr wrap="square" lIns="114300" tIns="114300" rIns="114300" bIns="114300" rtlCol="0" anchor="ctr"/>
          <a:lstStyle/>
          <a:p>
            <a:pPr algn="ctr" indent="0" marL="0">
              <a:buNone/>
            </a:pPr>
            <a:r>
              <a:rPr lang="en-US" sz="1575" dirty="0">
                <a:solidFill>
                  <a:srgbClr val="1C1F26"/>
                </a:solidFill>
                <a:latin typeface="Arial" pitchFamily="34" charset="0"/>
                <a:ea typeface="Arial" pitchFamily="34" charset="-122"/>
                <a:cs typeface="Arial" pitchFamily="34" charset="-120"/>
              </a:rPr>
              <a:t>5 red lines → 3 real bugs.  </a:t>
            </a:r>
            <a:pPr algn="ctr" indent="0" marL="0">
              <a:buNone/>
            </a:pPr>
            <a:r>
              <a:rPr lang="en-US" sz="1575" b="1" dirty="0">
                <a:solidFill>
                  <a:srgbClr val="B7791F"/>
                </a:solidFill>
                <a:latin typeface="Arial" pitchFamily="34" charset="0"/>
                <a:ea typeface="Arial" pitchFamily="34" charset="-122"/>
                <a:cs typeface="Arial" pitchFamily="34" charset="-120"/>
              </a:rPr>
              <a:t>Every red line needs a human to check it.</a:t>
            </a:r>
            <a:endParaRPr lang="en-US" sz="15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3" name="Image 0" descr="bg/bg-15.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5" name="Text 1"/>
          <p:cNvSpPr txBox="1"/>
          <p:nvPr/>
        </p:nvSpPr>
        <p:spPr>
          <a:xfrm>
            <a:off x="411480" y="308610"/>
            <a:ext cx="6172200" cy="240030"/>
          </a:xfrm>
          <a:prstGeom prst="rect">
            <a:avLst/>
          </a:prstGeom>
          <a:noFill/>
          <a:ln/>
        </p:spPr>
        <p:txBody>
          <a:bodyPr wrap="square" lIns="0" tIns="0" rIns="0" bIns="0" rtlCol="0" anchor="t"/>
          <a:lstStyle/>
          <a:p>
            <a:pPr indent="0" marL="0">
              <a:buNone/>
            </a:pPr>
            <a:r>
              <a:rPr lang="en-US" sz="975" b="1" dirty="0">
                <a:solidFill>
                  <a:srgbClr val="B7791F"/>
                </a:solidFill>
                <a:latin typeface="Courier New" pitchFamily="34" charset="0"/>
                <a:ea typeface="Courier New" pitchFamily="34" charset="-122"/>
                <a:cs typeface="Courier New" pitchFamily="34" charset="-120"/>
              </a:rPr>
              <a:t>THEORY · TRIAGE</a:t>
            </a:r>
            <a:endParaRPr lang="en-US" sz="975" dirty="0"/>
          </a:p>
        </p:txBody>
      </p:sp>
      <p:sp>
        <p:nvSpPr>
          <p:cNvPr id="6" name="Text 2"/>
          <p:cNvSpPr txBox="1"/>
          <p:nvPr/>
        </p:nvSpPr>
        <p:spPr>
          <a:xfrm>
            <a:off x="411480" y="548640"/>
            <a:ext cx="8320857" cy="582930"/>
          </a:xfrm>
          <a:prstGeom prst="rect">
            <a:avLst/>
          </a:prstGeom>
          <a:noFill/>
          <a:ln/>
        </p:spPr>
        <p:txBody>
          <a:bodyPr wrap="square" lIns="0" tIns="0" rIns="0" bIns="0" rtlCol="0" anchor="t"/>
          <a:lstStyle/>
          <a:p>
            <a:pPr indent="0" marL="0">
              <a:buNone/>
            </a:pPr>
            <a:r>
              <a:rPr lang="en-US" sz="2400" b="1" dirty="0">
                <a:solidFill>
                  <a:srgbClr val="1C1F26"/>
                </a:solidFill>
                <a:latin typeface="Arial" pitchFamily="34" charset="0"/>
                <a:ea typeface="Arial" pitchFamily="34" charset="-122"/>
                <a:cs typeface="Arial" pitchFamily="34" charset="-120"/>
              </a:rPr>
              <a:t>Four questions for every red line</a:t>
            </a:r>
            <a:endParaRPr lang="en-US" sz="2400" dirty="0"/>
          </a:p>
        </p:txBody>
      </p:sp>
      <p:sp>
        <p:nvSpPr>
          <p:cNvPr id="7" name="Text 3"/>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15</a:t>
            </a:r>
            <a:endParaRPr lang="en-US" sz="825" dirty="0"/>
          </a:p>
        </p:txBody>
      </p:sp>
      <p:sp>
        <p:nvSpPr>
          <p:cNvPr id="8" name="Text 4"/>
          <p:cNvSpPr txBox="1"/>
          <p:nvPr/>
        </p:nvSpPr>
        <p:spPr>
          <a:xfrm>
            <a:off x="411480" y="1303020"/>
            <a:ext cx="651510" cy="685800"/>
          </a:xfrm>
          <a:prstGeom prst="rect">
            <a:avLst/>
          </a:prstGeom>
          <a:noFill/>
          <a:ln/>
        </p:spPr>
        <p:txBody>
          <a:bodyPr wrap="square" lIns="0" tIns="0" rIns="0" bIns="0" rtlCol="0" anchor="ctr"/>
          <a:lstStyle/>
          <a:p>
            <a:pPr algn="ctr" indent="0" marL="0">
              <a:buNone/>
            </a:pPr>
            <a:r>
              <a:rPr lang="en-US" sz="1950" b="1" dirty="0">
                <a:solidFill>
                  <a:srgbClr val="FFFFFF"/>
                </a:solidFill>
                <a:latin typeface="Arial" pitchFamily="34" charset="0"/>
                <a:ea typeface="Arial" pitchFamily="34" charset="-122"/>
                <a:cs typeface="Arial" pitchFamily="34" charset="-120"/>
              </a:rPr>
              <a:t>1</a:t>
            </a:r>
            <a:endParaRPr lang="en-US" sz="1950" dirty="0"/>
          </a:p>
        </p:txBody>
      </p:sp>
      <p:sp>
        <p:nvSpPr>
          <p:cNvPr id="9" name="Text 5"/>
          <p:cNvSpPr txBox="1"/>
          <p:nvPr/>
        </p:nvSpPr>
        <p:spPr>
          <a:xfrm>
            <a:off x="1200150" y="1303020"/>
            <a:ext cx="7532096" cy="685800"/>
          </a:xfrm>
          <a:prstGeom prst="rect">
            <a:avLst/>
          </a:prstGeom>
          <a:noFill/>
          <a:ln/>
        </p:spPr>
        <p:txBody>
          <a:bodyPr wrap="square" lIns="114300" tIns="114300" rIns="114300" bIns="114300" rtlCol="0" anchor="ctr"/>
          <a:lstStyle/>
          <a:p>
            <a:pPr indent="0" marL="0">
              <a:buNone/>
            </a:pPr>
            <a:r>
              <a:rPr lang="en-US" sz="1425" b="1" dirty="0">
                <a:solidFill>
                  <a:srgbClr val="2F5FD0"/>
                </a:solidFill>
                <a:latin typeface="Arial" pitchFamily="34" charset="0"/>
                <a:ea typeface="Arial" pitchFamily="34" charset="-122"/>
                <a:cs typeface="Arial" pitchFamily="34" charset="-120"/>
              </a:rPr>
              <a:t>Does the endpoint exist?</a:t>
            </a:r>
            <a:endParaRPr lang="en-US" sz="1425" dirty="0"/>
          </a:p>
          <a:p>
            <a:pPr indent="0" marL="0">
              <a:buNone/>
            </a:pPr>
            <a:r>
              <a:rPr lang="en-US" sz="1125" dirty="0">
                <a:solidFill>
                  <a:srgbClr val="4A5063"/>
                </a:solidFill>
                <a:latin typeface="Arial" pitchFamily="34" charset="0"/>
                <a:ea typeface="Arial" pitchFamily="34" charset="-122"/>
                <a:cs typeface="Arial" pitchFamily="34" charset="-120"/>
              </a:rPr>
              <a:t>If not, the AI hallucinated. In another run it invented /buy_ticket, which returned 404.</a:t>
            </a:r>
            <a:endParaRPr lang="en-US" sz="1425" dirty="0"/>
          </a:p>
        </p:txBody>
      </p:sp>
      <p:sp>
        <p:nvSpPr>
          <p:cNvPr id="10" name="Text 6"/>
          <p:cNvSpPr txBox="1"/>
          <p:nvPr/>
        </p:nvSpPr>
        <p:spPr>
          <a:xfrm>
            <a:off x="411480" y="2125980"/>
            <a:ext cx="651510" cy="685800"/>
          </a:xfrm>
          <a:prstGeom prst="rect">
            <a:avLst/>
          </a:prstGeom>
          <a:noFill/>
          <a:ln/>
        </p:spPr>
        <p:txBody>
          <a:bodyPr wrap="square" lIns="0" tIns="0" rIns="0" bIns="0" rtlCol="0" anchor="ctr"/>
          <a:lstStyle/>
          <a:p>
            <a:pPr algn="ctr" indent="0" marL="0">
              <a:buNone/>
            </a:pPr>
            <a:r>
              <a:rPr lang="en-US" sz="1950" b="1" dirty="0">
                <a:solidFill>
                  <a:srgbClr val="FFFFFF"/>
                </a:solidFill>
                <a:latin typeface="Arial" pitchFamily="34" charset="0"/>
                <a:ea typeface="Arial" pitchFamily="34" charset="-122"/>
                <a:cs typeface="Arial" pitchFamily="34" charset="-120"/>
              </a:rPr>
              <a:t>2</a:t>
            </a:r>
            <a:endParaRPr lang="en-US" sz="1950" dirty="0"/>
          </a:p>
        </p:txBody>
      </p:sp>
      <p:sp>
        <p:nvSpPr>
          <p:cNvPr id="11" name="Text 7"/>
          <p:cNvSpPr txBox="1"/>
          <p:nvPr/>
        </p:nvSpPr>
        <p:spPr>
          <a:xfrm>
            <a:off x="1200150" y="2125980"/>
            <a:ext cx="7532096" cy="685800"/>
          </a:xfrm>
          <a:prstGeom prst="rect">
            <a:avLst/>
          </a:prstGeom>
          <a:noFill/>
          <a:ln/>
        </p:spPr>
        <p:txBody>
          <a:bodyPr wrap="square" lIns="114300" tIns="114300" rIns="114300" bIns="114300" rtlCol="0" anchor="ctr"/>
          <a:lstStyle/>
          <a:p>
            <a:pPr indent="0" marL="0">
              <a:buNone/>
            </a:pPr>
            <a:r>
              <a:rPr lang="en-US" sz="1425" b="1" dirty="0">
                <a:solidFill>
                  <a:srgbClr val="B7791F"/>
                </a:solidFill>
                <a:latin typeface="Arial" pitchFamily="34" charset="0"/>
                <a:ea typeface="Arial" pitchFamily="34" charset="-122"/>
                <a:cs typeface="Arial" pitchFamily="34" charset="-120"/>
              </a:rPr>
              <a:t>Is the AI's "correct" really correct?</a:t>
            </a:r>
            <a:endParaRPr lang="en-US" sz="1425" dirty="0"/>
          </a:p>
          <a:p>
            <a:pPr indent="0" marL="0">
              <a:buNone/>
            </a:pPr>
            <a:r>
              <a:rPr lang="en-US" sz="1125" dirty="0">
                <a:solidFill>
                  <a:srgbClr val="4A5063"/>
                </a:solidFill>
                <a:latin typeface="Arial" pitchFamily="34" charset="0"/>
                <a:ea typeface="Arial" pitchFamily="34" charset="-122"/>
                <a:cs typeface="Arial" pitchFamily="34" charset="-120"/>
              </a:rPr>
              <a:t>TC-006 expected a 500. TC-009 misread the coupon rules. Check the docs.</a:t>
            </a:r>
            <a:endParaRPr lang="en-US" sz="1425" dirty="0"/>
          </a:p>
        </p:txBody>
      </p:sp>
      <p:sp>
        <p:nvSpPr>
          <p:cNvPr id="12" name="Text 8"/>
          <p:cNvSpPr txBox="1"/>
          <p:nvPr/>
        </p:nvSpPr>
        <p:spPr>
          <a:xfrm>
            <a:off x="411480" y="2948940"/>
            <a:ext cx="651510" cy="685800"/>
          </a:xfrm>
          <a:prstGeom prst="rect">
            <a:avLst/>
          </a:prstGeom>
          <a:noFill/>
          <a:ln/>
        </p:spPr>
        <p:txBody>
          <a:bodyPr wrap="square" lIns="0" tIns="0" rIns="0" bIns="0" rtlCol="0" anchor="ctr"/>
          <a:lstStyle/>
          <a:p>
            <a:pPr algn="ctr" indent="0" marL="0">
              <a:buNone/>
            </a:pPr>
            <a:r>
              <a:rPr lang="en-US" sz="1950" b="1" dirty="0">
                <a:solidFill>
                  <a:srgbClr val="FFFFFF"/>
                </a:solidFill>
                <a:latin typeface="Arial" pitchFamily="34" charset="0"/>
                <a:ea typeface="Arial" pitchFamily="34" charset="-122"/>
                <a:cs typeface="Arial" pitchFamily="34" charset="-120"/>
              </a:rPr>
              <a:t>3</a:t>
            </a:r>
            <a:endParaRPr lang="en-US" sz="1950" dirty="0"/>
          </a:p>
        </p:txBody>
      </p:sp>
      <p:sp>
        <p:nvSpPr>
          <p:cNvPr id="13" name="Text 9"/>
          <p:cNvSpPr txBox="1"/>
          <p:nvPr/>
        </p:nvSpPr>
        <p:spPr>
          <a:xfrm>
            <a:off x="1200150" y="2948940"/>
            <a:ext cx="7532096" cy="685800"/>
          </a:xfrm>
          <a:prstGeom prst="rect">
            <a:avLst/>
          </a:prstGeom>
          <a:noFill/>
          <a:ln/>
        </p:spPr>
        <p:txBody>
          <a:bodyPr wrap="square" lIns="114300" tIns="114300" rIns="114300" bIns="114300" rtlCol="0" anchor="ctr"/>
          <a:lstStyle/>
          <a:p>
            <a:pPr indent="0" marL="0">
              <a:buNone/>
            </a:pPr>
            <a:r>
              <a:rPr lang="en-US" sz="1425" b="1" dirty="0">
                <a:solidFill>
                  <a:srgbClr val="6B4CC9"/>
                </a:solidFill>
                <a:latin typeface="Arial" pitchFamily="34" charset="0"/>
                <a:ea typeface="Arial" pitchFamily="34" charset="-122"/>
                <a:cs typeface="Arial" pitchFamily="34" charset="-120"/>
              </a:rPr>
              <a:t>Does it happen again after a reset?</a:t>
            </a:r>
            <a:endParaRPr lang="en-US" sz="1425" dirty="0"/>
          </a:p>
          <a:p>
            <a:pPr indent="0" marL="0">
              <a:buNone/>
            </a:pPr>
            <a:r>
              <a:rPr lang="en-US" sz="1125" dirty="0">
                <a:solidFill>
                  <a:srgbClr val="4A5063"/>
                </a:solidFill>
                <a:latin typeface="Arial" pitchFamily="34" charset="0"/>
                <a:ea typeface="Arial" pitchFamily="34" charset="-122"/>
                <a:cs typeface="Arial" pitchFamily="34" charset="-120"/>
              </a:rPr>
              <a:t>If not, it's a test setup problem, not a bug.</a:t>
            </a:r>
            <a:endParaRPr lang="en-US" sz="1425" dirty="0"/>
          </a:p>
        </p:txBody>
      </p:sp>
      <p:sp>
        <p:nvSpPr>
          <p:cNvPr id="14" name="Text 10"/>
          <p:cNvSpPr txBox="1"/>
          <p:nvPr/>
        </p:nvSpPr>
        <p:spPr>
          <a:xfrm>
            <a:off x="411480" y="3771900"/>
            <a:ext cx="651510" cy="685800"/>
          </a:xfrm>
          <a:prstGeom prst="rect">
            <a:avLst/>
          </a:prstGeom>
          <a:noFill/>
          <a:ln/>
        </p:spPr>
        <p:txBody>
          <a:bodyPr wrap="square" lIns="0" tIns="0" rIns="0" bIns="0" rtlCol="0" anchor="ctr"/>
          <a:lstStyle/>
          <a:p>
            <a:pPr algn="ctr" indent="0" marL="0">
              <a:buNone/>
            </a:pPr>
            <a:r>
              <a:rPr lang="en-US" sz="1950" b="1" dirty="0">
                <a:solidFill>
                  <a:srgbClr val="FFFFFF"/>
                </a:solidFill>
                <a:latin typeface="Arial" pitchFamily="34" charset="0"/>
                <a:ea typeface="Arial" pitchFamily="34" charset="-122"/>
                <a:cs typeface="Arial" pitchFamily="34" charset="-120"/>
              </a:rPr>
              <a:t>4</a:t>
            </a:r>
            <a:endParaRPr lang="en-US" sz="1950" dirty="0"/>
          </a:p>
        </p:txBody>
      </p:sp>
      <p:sp>
        <p:nvSpPr>
          <p:cNvPr id="15" name="Text 11"/>
          <p:cNvSpPr txBox="1"/>
          <p:nvPr/>
        </p:nvSpPr>
        <p:spPr>
          <a:xfrm>
            <a:off x="1200150" y="3771900"/>
            <a:ext cx="7532096" cy="685800"/>
          </a:xfrm>
          <a:prstGeom prst="rect">
            <a:avLst/>
          </a:prstGeom>
          <a:noFill/>
          <a:ln/>
        </p:spPr>
        <p:txBody>
          <a:bodyPr wrap="square" lIns="114300" tIns="114300" rIns="114300" bIns="114300" rtlCol="0" anchor="ctr"/>
          <a:lstStyle/>
          <a:p>
            <a:pPr indent="0" marL="0">
              <a:buNone/>
            </a:pPr>
            <a:r>
              <a:rPr lang="en-US" sz="1425" b="1" dirty="0">
                <a:solidFill>
                  <a:srgbClr val="1E9E62"/>
                </a:solidFill>
                <a:latin typeface="Arial" pitchFamily="34" charset="0"/>
                <a:ea typeface="Arial" pitchFamily="34" charset="-122"/>
                <a:cs typeface="Arial" pitchFamily="34" charset="-120"/>
              </a:rPr>
              <a:t>Does it matter to users or money?</a:t>
            </a:r>
            <a:endParaRPr lang="en-US" sz="1425" dirty="0"/>
          </a:p>
          <a:p>
            <a:pPr indent="0" marL="0">
              <a:buNone/>
            </a:pPr>
            <a:r>
              <a:rPr lang="en-US" sz="1125" dirty="0">
                <a:solidFill>
                  <a:srgbClr val="4A5063"/>
                </a:solidFill>
                <a:latin typeface="Arial" pitchFamily="34" charset="0"/>
                <a:ea typeface="Arial" pitchFamily="34" charset="-122"/>
                <a:cs typeface="Arial" pitchFamily="34" charset="-120"/>
              </a:rPr>
              <a:t>Real but minor goes to the backlog. Real and serious gets fixed first.</a:t>
            </a:r>
            <a:endParaRPr lang="en-US" sz="14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3" name="Image 0" descr="bg/bg-16.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5" name="Text 1"/>
          <p:cNvSpPr txBox="1"/>
          <p:nvPr/>
        </p:nvSpPr>
        <p:spPr>
          <a:xfrm>
            <a:off x="411480" y="308610"/>
            <a:ext cx="6172200" cy="240030"/>
          </a:xfrm>
          <a:prstGeom prst="rect">
            <a:avLst/>
          </a:prstGeom>
          <a:noFill/>
          <a:ln/>
        </p:spPr>
        <p:txBody>
          <a:bodyPr wrap="square" lIns="0" tIns="0" rIns="0" bIns="0" rtlCol="0" anchor="t"/>
          <a:lstStyle/>
          <a:p>
            <a:pPr indent="0" marL="0">
              <a:buNone/>
            </a:pPr>
            <a:r>
              <a:rPr lang="en-US" sz="975" b="1" dirty="0">
                <a:solidFill>
                  <a:srgbClr val="B7791F"/>
                </a:solidFill>
                <a:latin typeface="Courier New" pitchFamily="34" charset="0"/>
                <a:ea typeface="Courier New" pitchFamily="34" charset="-122"/>
                <a:cs typeface="Courier New" pitchFamily="34" charset="-120"/>
              </a:rPr>
              <a:t>DEMO 3 · THE MONEY LOOP</a:t>
            </a:r>
            <a:endParaRPr lang="en-US" sz="975" dirty="0"/>
          </a:p>
        </p:txBody>
      </p:sp>
      <p:sp>
        <p:nvSpPr>
          <p:cNvPr id="6" name="Text 2"/>
          <p:cNvSpPr txBox="1"/>
          <p:nvPr/>
        </p:nvSpPr>
        <p:spPr>
          <a:xfrm>
            <a:off x="411480" y="548640"/>
            <a:ext cx="8320857" cy="582930"/>
          </a:xfrm>
          <a:prstGeom prst="rect">
            <a:avLst/>
          </a:prstGeom>
          <a:noFill/>
          <a:ln/>
        </p:spPr>
        <p:txBody>
          <a:bodyPr wrap="square" lIns="0" tIns="0" rIns="0" bIns="0" rtlCol="0" anchor="t"/>
          <a:lstStyle/>
          <a:p>
            <a:pPr indent="0" marL="0">
              <a:buNone/>
            </a:pPr>
            <a:r>
              <a:rPr lang="en-US" sz="2400" b="1" dirty="0">
                <a:solidFill>
                  <a:srgbClr val="1C1F26"/>
                </a:solidFill>
                <a:latin typeface="Arial" pitchFamily="34" charset="0"/>
                <a:ea typeface="Arial" pitchFamily="34" charset="-122"/>
                <a:cs typeface="Arial" pitchFamily="34" charset="-120"/>
              </a:rPr>
              <a:t>Two small bugs, one big problem</a:t>
            </a:r>
            <a:endParaRPr lang="en-US" sz="2400" dirty="0"/>
          </a:p>
        </p:txBody>
      </p:sp>
      <p:sp>
        <p:nvSpPr>
          <p:cNvPr id="7" name="Text 3"/>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16</a:t>
            </a:r>
            <a:endParaRPr lang="en-US" sz="825" dirty="0"/>
          </a:p>
        </p:txBody>
      </p:sp>
      <p:sp>
        <p:nvSpPr>
          <p:cNvPr id="8" name="Text 4"/>
          <p:cNvSpPr txBox="1"/>
          <p:nvPr/>
        </p:nvSpPr>
        <p:spPr>
          <a:xfrm>
            <a:off x="411480" y="1303020"/>
            <a:ext cx="8320857" cy="1440180"/>
          </a:xfrm>
          <a:prstGeom prst="rect">
            <a:avLst/>
          </a:prstGeom>
          <a:noFill/>
          <a:ln/>
        </p:spPr>
        <p:txBody>
          <a:bodyPr wrap="square" lIns="133350" tIns="133350" rIns="133350" bIns="133350" rtlCol="0" anchor="t"/>
          <a:lstStyle/>
          <a:p>
            <a:pPr indent="0" marL="0">
              <a:buNone/>
            </a:pPr>
            <a:r>
              <a:rPr lang="en-US" sz="1275" dirty="0">
                <a:solidFill>
                  <a:srgbClr val="8FE3B0"/>
                </a:solidFill>
                <a:latin typeface="Courier New" pitchFamily="34" charset="0"/>
                <a:ea typeface="Courier New" pitchFamily="34" charset="-122"/>
                <a:cs typeface="Courier New" pitchFamily="34" charset="-120"/>
              </a:rPr>
              <a:t>$ grep -n -E '^\s+(total|credits_earned) = ' app/main.py</a:t>
            </a:r>
            <a:endParaRPr lang="en-US" sz="1275" dirty="0"/>
          </a:p>
          <a:p>
            <a:pPr indent="0" marL="0">
              <a:buNone/>
            </a:pPr>
            <a:r>
              <a:rPr lang="en-US" sz="1275" dirty="0">
                <a:solidFill>
                  <a:srgbClr val="E6E8F2"/>
                </a:solidFill>
                <a:latin typeface="Courier New" pitchFamily="34" charset="0"/>
                <a:ea typeface="Courier New" pitchFamily="34" charset="-122"/>
                <a:cs typeface="Courier New" pitchFamily="34" charset="-120"/>
              </a:rPr>
              <a:t> </a:t>
            </a:r>
            <a:endParaRPr lang="en-US" sz="1275" dirty="0"/>
          </a:p>
          <a:p>
            <a:pPr indent="0" marL="0">
              <a:buNone/>
            </a:pPr>
            <a:r>
              <a:rPr lang="en-US" sz="1275" dirty="0">
                <a:solidFill>
                  <a:srgbClr val="E6E8F2"/>
                </a:solidFill>
                <a:latin typeface="Courier New" pitchFamily="34" charset="0"/>
                <a:ea typeface="Courier New" pitchFamily="34" charset="-122"/>
                <a:cs typeface="Courier New" pitchFamily="34" charset="-120"/>
              </a:rPr>
              <a:t>139: total = price × quantity × (100 − discount)%</a:t>
            </a:r>
            <a:endParaRPr lang="en-US" sz="1275" dirty="0"/>
          </a:p>
          <a:p>
            <a:pPr indent="0" marL="0">
              <a:buNone/>
            </a:pPr>
            <a:r>
              <a:rPr lang="en-US" sz="1275" dirty="0">
                <a:solidFill>
                  <a:srgbClr val="FF8A8F"/>
                </a:solidFill>
                <a:latin typeface="Courier New" pitchFamily="34" charset="0"/>
                <a:ea typeface="Courier New" pitchFamily="34" charset="-122"/>
                <a:cs typeface="Courier New" pitchFamily="34" charset="-120"/>
              </a:rPr>
              <a:t>151: credits_earned = price × quantity × 10%</a:t>
            </a:r>
            <a:endParaRPr lang="en-US" sz="1275" dirty="0"/>
          </a:p>
        </p:txBody>
      </p:sp>
      <p:sp>
        <p:nvSpPr>
          <p:cNvPr id="9" name="Text 5"/>
          <p:cNvSpPr txBox="1"/>
          <p:nvPr/>
        </p:nvSpPr>
        <p:spPr>
          <a:xfrm>
            <a:off x="411480" y="2948940"/>
            <a:ext cx="4094226" cy="1474470"/>
          </a:xfrm>
          <a:prstGeom prst="rect">
            <a:avLst/>
          </a:prstGeom>
          <a:noFill/>
          <a:ln/>
        </p:spPr>
        <p:txBody>
          <a:bodyPr wrap="square" lIns="114300" tIns="114300" rIns="114300" bIns="114300" rtlCol="0" anchor="t"/>
          <a:lstStyle/>
          <a:p>
            <a:pPr indent="0" marL="0">
              <a:buNone/>
            </a:pPr>
            <a:r>
              <a:rPr lang="en-US" sz="1500" b="1" dirty="0">
                <a:solidFill>
                  <a:srgbClr val="D93F3F"/>
                </a:solidFill>
                <a:latin typeface="Arial" pitchFamily="34" charset="0"/>
                <a:ea typeface="Arial" pitchFamily="34" charset="-122"/>
                <a:cs typeface="Arial" pitchFamily="34" charset="-120"/>
              </a:rPr>
              <a:t>Bug 1 · coupon reuse</a:t>
            </a:r>
            <a:endParaRPr lang="en-US" sz="1500" dirty="0"/>
          </a:p>
          <a:p>
            <a:pPr indent="0" marL="0">
              <a:buNone/>
            </a:pPr>
            <a:r>
              <a:rPr lang="en-US" sz="450" dirty="0">
                <a:solidFill>
                  <a:srgbClr val="1C1F26"/>
                </a:solidFill>
                <a:latin typeface="Arial" pitchFamily="34" charset="0"/>
                <a:ea typeface="Arial" pitchFamily="34" charset="-122"/>
                <a:cs typeface="Arial" pitchFamily="34" charset="-120"/>
              </a:rPr>
              <a:t> </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SPEAKER100 is documented as single use, but nothing records that it was used. It works every time.</a:t>
            </a:r>
            <a:endParaRPr lang="en-US" sz="1500" dirty="0"/>
          </a:p>
        </p:txBody>
      </p:sp>
      <p:sp>
        <p:nvSpPr>
          <p:cNvPr id="10" name="Text 6"/>
          <p:cNvSpPr txBox="1"/>
          <p:nvPr/>
        </p:nvSpPr>
        <p:spPr>
          <a:xfrm>
            <a:off x="4636008" y="2948940"/>
            <a:ext cx="4094226" cy="1474470"/>
          </a:xfrm>
          <a:prstGeom prst="rect">
            <a:avLst/>
          </a:prstGeom>
          <a:noFill/>
          <a:ln/>
        </p:spPr>
        <p:txBody>
          <a:bodyPr wrap="square" lIns="114300" tIns="114300" rIns="114300" bIns="114300" rtlCol="0" anchor="t"/>
          <a:lstStyle/>
          <a:p>
            <a:pPr indent="0" marL="0">
              <a:buNone/>
            </a:pPr>
            <a:r>
              <a:rPr lang="en-US" sz="1500" b="1" dirty="0">
                <a:solidFill>
                  <a:srgbClr val="D93F3F"/>
                </a:solidFill>
                <a:latin typeface="Arial" pitchFamily="34" charset="0"/>
                <a:ea typeface="Arial" pitchFamily="34" charset="-122"/>
                <a:cs typeface="Arial" pitchFamily="34" charset="-120"/>
              </a:rPr>
              <a:t>Bug 2 · credits from list price</a:t>
            </a:r>
            <a:endParaRPr lang="en-US" sz="1500" dirty="0"/>
          </a:p>
          <a:p>
            <a:pPr indent="0" marL="0">
              <a:buNone/>
            </a:pPr>
            <a:r>
              <a:rPr lang="en-US" sz="450" dirty="0">
                <a:solidFill>
                  <a:srgbClr val="1C1F26"/>
                </a:solidFill>
                <a:latin typeface="Arial" pitchFamily="34" charset="0"/>
                <a:ea typeface="Arial" pitchFamily="34" charset="-122"/>
                <a:cs typeface="Arial" pitchFamily="34" charset="-120"/>
              </a:rPr>
              <a:t> </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You earn 10% of the full price, not of what you paid. With a 100% coupon you pay 0 and still earn credits.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3" name="Image 0" descr="bg/bg-17.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5" name="Text 1"/>
          <p:cNvSpPr txBox="1"/>
          <p:nvPr/>
        </p:nvSpPr>
        <p:spPr>
          <a:xfrm>
            <a:off x="411480" y="308610"/>
            <a:ext cx="6172200" cy="240030"/>
          </a:xfrm>
          <a:prstGeom prst="rect">
            <a:avLst/>
          </a:prstGeom>
          <a:noFill/>
          <a:ln/>
        </p:spPr>
        <p:txBody>
          <a:bodyPr wrap="square" lIns="0" tIns="0" rIns="0" bIns="0" rtlCol="0" anchor="t"/>
          <a:lstStyle/>
          <a:p>
            <a:pPr indent="0" marL="0">
              <a:buNone/>
            </a:pPr>
            <a:r>
              <a:rPr lang="en-US" sz="975" b="1" dirty="0">
                <a:solidFill>
                  <a:srgbClr val="B7791F"/>
                </a:solidFill>
                <a:latin typeface="Courier New" pitchFamily="34" charset="0"/>
                <a:ea typeface="Courier New" pitchFamily="34" charset="-122"/>
                <a:cs typeface="Courier New" pitchFamily="34" charset="-120"/>
              </a:rPr>
              <a:t>DEMO 3 · TERMINAL</a:t>
            </a:r>
            <a:endParaRPr lang="en-US" sz="975" dirty="0"/>
          </a:p>
        </p:txBody>
      </p:sp>
      <p:sp>
        <p:nvSpPr>
          <p:cNvPr id="6" name="Text 2"/>
          <p:cNvSpPr txBox="1"/>
          <p:nvPr/>
        </p:nvSpPr>
        <p:spPr>
          <a:xfrm>
            <a:off x="411480" y="548640"/>
            <a:ext cx="8320857" cy="582930"/>
          </a:xfrm>
          <a:prstGeom prst="rect">
            <a:avLst/>
          </a:prstGeom>
          <a:noFill/>
          <a:ln/>
        </p:spPr>
        <p:txBody>
          <a:bodyPr wrap="square" lIns="0" tIns="0" rIns="0" bIns="0" rtlCol="0" anchor="t"/>
          <a:lstStyle/>
          <a:p>
            <a:pPr indent="0" marL="0">
              <a:buNone/>
            </a:pPr>
            <a:r>
              <a:rPr lang="en-US" sz="2400" b="1" dirty="0">
                <a:solidFill>
                  <a:srgbClr val="1C1F26"/>
                </a:solidFill>
                <a:latin typeface="Arial" pitchFamily="34" charset="0"/>
                <a:ea typeface="Arial" pitchFamily="34" charset="-122"/>
                <a:cs typeface="Arial" pitchFamily="34" charset="-120"/>
              </a:rPr>
              <a:t>Nothing was invalid. The balance still grew.</a:t>
            </a:r>
            <a:endParaRPr lang="en-US" sz="2400" dirty="0"/>
          </a:p>
        </p:txBody>
      </p:sp>
      <p:sp>
        <p:nvSpPr>
          <p:cNvPr id="7" name="Text 3"/>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17</a:t>
            </a:r>
            <a:endParaRPr lang="en-US" sz="825" dirty="0"/>
          </a:p>
        </p:txBody>
      </p:sp>
      <p:sp>
        <p:nvSpPr>
          <p:cNvPr id="8" name="Text 4"/>
          <p:cNvSpPr txBox="1"/>
          <p:nvPr/>
        </p:nvSpPr>
        <p:spPr>
          <a:xfrm>
            <a:off x="411480" y="1303020"/>
            <a:ext cx="8320857" cy="480060"/>
          </a:xfrm>
          <a:prstGeom prst="rect">
            <a:avLst/>
          </a:prstGeom>
          <a:noFill/>
          <a:ln/>
        </p:spPr>
        <p:txBody>
          <a:bodyPr wrap="square" lIns="133350" tIns="133350" rIns="133350" bIns="133350" rtlCol="0" anchor="ctr"/>
          <a:lstStyle/>
          <a:p>
            <a:pPr indent="0" marL="0">
              <a:buNone/>
            </a:pPr>
            <a:r>
              <a:rPr lang="en-US" sz="1350" dirty="0">
                <a:solidFill>
                  <a:srgbClr val="8FE3B0"/>
                </a:solidFill>
                <a:latin typeface="Courier New" pitchFamily="34" charset="0"/>
                <a:ea typeface="Courier New" pitchFamily="34" charset="-122"/>
                <a:cs typeface="Courier New" pitchFamily="34" charset="-120"/>
              </a:rPr>
              <a:t>$ python demo/money_loop.py</a:t>
            </a:r>
            <a:endParaRPr lang="en-US" sz="1350" dirty="0"/>
          </a:p>
        </p:txBody>
      </p:sp>
      <p:sp>
        <p:nvSpPr>
          <p:cNvPr id="9" name="Text 5"/>
          <p:cNvSpPr txBox="1"/>
          <p:nvPr/>
        </p:nvSpPr>
        <p:spPr>
          <a:xfrm>
            <a:off x="411480" y="1988820"/>
            <a:ext cx="1303020" cy="857250"/>
          </a:xfrm>
          <a:prstGeom prst="rect">
            <a:avLst/>
          </a:prstGeom>
          <a:noFill/>
          <a:ln/>
        </p:spPr>
        <p:txBody>
          <a:bodyPr wrap="square" lIns="114300" tIns="114300" rIns="114300" bIns="114300" rtlCol="0" anchor="ctr"/>
          <a:lstStyle/>
          <a:p>
            <a:pPr algn="ctr" indent="0" marL="0">
              <a:buNone/>
            </a:pPr>
            <a:r>
              <a:rPr lang="en-US" sz="975" dirty="0">
                <a:solidFill>
                  <a:srgbClr val="4A5063"/>
                </a:solidFill>
                <a:latin typeface="Arial" pitchFamily="34" charset="0"/>
                <a:ea typeface="Arial" pitchFamily="34" charset="-122"/>
                <a:cs typeface="Arial" pitchFamily="34" charset="-120"/>
              </a:rPr>
              <a:t>start</a:t>
            </a:r>
            <a:endParaRPr lang="en-US" sz="975" dirty="0"/>
          </a:p>
          <a:p>
            <a:pPr algn="ctr" indent="0" marL="0">
              <a:buNone/>
            </a:pPr>
            <a:r>
              <a:rPr lang="en-US" sz="1650" b="1" dirty="0">
                <a:solidFill>
                  <a:srgbClr val="1C1F26"/>
                </a:solidFill>
                <a:latin typeface="Arial" pitchFamily="34" charset="0"/>
                <a:ea typeface="Arial" pitchFamily="34" charset="-122"/>
                <a:cs typeface="Arial" pitchFamily="34" charset="-120"/>
              </a:rPr>
              <a:t>5,000</a:t>
            </a:r>
            <a:endParaRPr lang="en-US" sz="975" dirty="0"/>
          </a:p>
        </p:txBody>
      </p:sp>
      <p:sp>
        <p:nvSpPr>
          <p:cNvPr id="10" name="Text 6"/>
          <p:cNvSpPr txBox="1"/>
          <p:nvPr/>
        </p:nvSpPr>
        <p:spPr>
          <a:xfrm>
            <a:off x="1810512" y="1988820"/>
            <a:ext cx="1303020" cy="857250"/>
          </a:xfrm>
          <a:prstGeom prst="rect">
            <a:avLst/>
          </a:prstGeom>
          <a:noFill/>
          <a:ln/>
        </p:spPr>
        <p:txBody>
          <a:bodyPr wrap="square" lIns="114300" tIns="114300" rIns="114300" bIns="114300" rtlCol="0" anchor="ctr"/>
          <a:lstStyle/>
          <a:p>
            <a:pPr algn="ctr" indent="0" marL="0">
              <a:buNone/>
            </a:pPr>
            <a:r>
              <a:rPr lang="en-US" sz="975" dirty="0">
                <a:solidFill>
                  <a:srgbClr val="4A5063"/>
                </a:solidFill>
                <a:latin typeface="Arial" pitchFamily="34" charset="0"/>
                <a:ea typeface="Arial" pitchFamily="34" charset="-122"/>
                <a:cs typeface="Arial" pitchFamily="34" charset="-120"/>
              </a:rPr>
              <a:t>order 1</a:t>
            </a:r>
            <a:endParaRPr lang="en-US" sz="975" dirty="0"/>
          </a:p>
          <a:p>
            <a:pPr algn="ctr" indent="0" marL="0">
              <a:buNone/>
            </a:pPr>
            <a:r>
              <a:rPr lang="en-US" sz="1650" b="1" dirty="0">
                <a:solidFill>
                  <a:srgbClr val="1C1F26"/>
                </a:solidFill>
                <a:latin typeface="Arial" pitchFamily="34" charset="0"/>
                <a:ea typeface="Arial" pitchFamily="34" charset="-122"/>
                <a:cs typeface="Arial" pitchFamily="34" charset="-120"/>
              </a:rPr>
              <a:t>6,800</a:t>
            </a:r>
            <a:endParaRPr lang="en-US" sz="975" dirty="0"/>
          </a:p>
        </p:txBody>
      </p:sp>
      <p:sp>
        <p:nvSpPr>
          <p:cNvPr id="11" name="Text 7"/>
          <p:cNvSpPr txBox="1"/>
          <p:nvPr/>
        </p:nvSpPr>
        <p:spPr>
          <a:xfrm>
            <a:off x="3209544" y="1988820"/>
            <a:ext cx="1303020" cy="857250"/>
          </a:xfrm>
          <a:prstGeom prst="rect">
            <a:avLst/>
          </a:prstGeom>
          <a:noFill/>
          <a:ln/>
        </p:spPr>
        <p:txBody>
          <a:bodyPr wrap="square" lIns="114300" tIns="114300" rIns="114300" bIns="114300" rtlCol="0" anchor="ctr"/>
          <a:lstStyle/>
          <a:p>
            <a:pPr algn="ctr" indent="0" marL="0">
              <a:buNone/>
            </a:pPr>
            <a:r>
              <a:rPr lang="en-US" sz="975" dirty="0">
                <a:solidFill>
                  <a:srgbClr val="4A5063"/>
                </a:solidFill>
                <a:latin typeface="Arial" pitchFamily="34" charset="0"/>
                <a:ea typeface="Arial" pitchFamily="34" charset="-122"/>
                <a:cs typeface="Arial" pitchFamily="34" charset="-120"/>
              </a:rPr>
              <a:t>order 2</a:t>
            </a:r>
            <a:endParaRPr lang="en-US" sz="975" dirty="0"/>
          </a:p>
          <a:p>
            <a:pPr algn="ctr" indent="0" marL="0">
              <a:buNone/>
            </a:pPr>
            <a:r>
              <a:rPr lang="en-US" sz="1650" b="1" dirty="0">
                <a:solidFill>
                  <a:srgbClr val="1C1F26"/>
                </a:solidFill>
                <a:latin typeface="Arial" pitchFamily="34" charset="0"/>
                <a:ea typeface="Arial" pitchFamily="34" charset="-122"/>
                <a:cs typeface="Arial" pitchFamily="34" charset="-120"/>
              </a:rPr>
              <a:t>8,600</a:t>
            </a:r>
            <a:endParaRPr lang="en-US" sz="975" dirty="0"/>
          </a:p>
        </p:txBody>
      </p:sp>
      <p:sp>
        <p:nvSpPr>
          <p:cNvPr id="12" name="Text 8"/>
          <p:cNvSpPr txBox="1"/>
          <p:nvPr/>
        </p:nvSpPr>
        <p:spPr>
          <a:xfrm>
            <a:off x="4608576" y="1988820"/>
            <a:ext cx="1303020" cy="857250"/>
          </a:xfrm>
          <a:prstGeom prst="rect">
            <a:avLst/>
          </a:prstGeom>
          <a:noFill/>
          <a:ln/>
        </p:spPr>
        <p:txBody>
          <a:bodyPr wrap="square" lIns="114300" tIns="114300" rIns="114300" bIns="114300" rtlCol="0" anchor="ctr"/>
          <a:lstStyle/>
          <a:p>
            <a:pPr algn="ctr" indent="0" marL="0">
              <a:buNone/>
            </a:pPr>
            <a:r>
              <a:rPr lang="en-US" sz="975" dirty="0">
                <a:solidFill>
                  <a:srgbClr val="4A5063"/>
                </a:solidFill>
                <a:latin typeface="Arial" pitchFamily="34" charset="0"/>
                <a:ea typeface="Arial" pitchFamily="34" charset="-122"/>
                <a:cs typeface="Arial" pitchFamily="34" charset="-120"/>
              </a:rPr>
              <a:t>order 3</a:t>
            </a:r>
            <a:endParaRPr lang="en-US" sz="975" dirty="0"/>
          </a:p>
          <a:p>
            <a:pPr algn="ctr" indent="0" marL="0">
              <a:buNone/>
            </a:pPr>
            <a:r>
              <a:rPr lang="en-US" sz="1650" b="1" dirty="0">
                <a:solidFill>
                  <a:srgbClr val="1C1F26"/>
                </a:solidFill>
                <a:latin typeface="Arial" pitchFamily="34" charset="0"/>
                <a:ea typeface="Arial" pitchFamily="34" charset="-122"/>
                <a:cs typeface="Arial" pitchFamily="34" charset="-120"/>
              </a:rPr>
              <a:t>10,400</a:t>
            </a:r>
            <a:endParaRPr lang="en-US" sz="975" dirty="0"/>
          </a:p>
        </p:txBody>
      </p:sp>
      <p:sp>
        <p:nvSpPr>
          <p:cNvPr id="13" name="Text 9"/>
          <p:cNvSpPr txBox="1"/>
          <p:nvPr/>
        </p:nvSpPr>
        <p:spPr>
          <a:xfrm>
            <a:off x="6007608" y="1988820"/>
            <a:ext cx="1303020" cy="857250"/>
          </a:xfrm>
          <a:prstGeom prst="rect">
            <a:avLst/>
          </a:prstGeom>
          <a:noFill/>
          <a:ln/>
        </p:spPr>
        <p:txBody>
          <a:bodyPr wrap="square" lIns="114300" tIns="114300" rIns="114300" bIns="114300" rtlCol="0" anchor="ctr"/>
          <a:lstStyle/>
          <a:p>
            <a:pPr algn="ctr" indent="0" marL="0">
              <a:buNone/>
            </a:pPr>
            <a:r>
              <a:rPr lang="en-US" sz="975" dirty="0">
                <a:solidFill>
                  <a:srgbClr val="4A5063"/>
                </a:solidFill>
                <a:latin typeface="Arial" pitchFamily="34" charset="0"/>
                <a:ea typeface="Arial" pitchFamily="34" charset="-122"/>
                <a:cs typeface="Arial" pitchFamily="34" charset="-120"/>
              </a:rPr>
              <a:t>order 4</a:t>
            </a:r>
            <a:endParaRPr lang="en-US" sz="975" dirty="0"/>
          </a:p>
          <a:p>
            <a:pPr algn="ctr" indent="0" marL="0">
              <a:buNone/>
            </a:pPr>
            <a:r>
              <a:rPr lang="en-US" sz="1650" b="1" dirty="0">
                <a:solidFill>
                  <a:srgbClr val="1C1F26"/>
                </a:solidFill>
                <a:latin typeface="Arial" pitchFamily="34" charset="0"/>
                <a:ea typeface="Arial" pitchFamily="34" charset="-122"/>
                <a:cs typeface="Arial" pitchFamily="34" charset="-120"/>
              </a:rPr>
              <a:t>12,200</a:t>
            </a:r>
            <a:endParaRPr lang="en-US" sz="975" dirty="0"/>
          </a:p>
        </p:txBody>
      </p:sp>
      <p:sp>
        <p:nvSpPr>
          <p:cNvPr id="14" name="Text 10"/>
          <p:cNvSpPr txBox="1"/>
          <p:nvPr/>
        </p:nvSpPr>
        <p:spPr>
          <a:xfrm>
            <a:off x="7406640" y="1988820"/>
            <a:ext cx="1303020" cy="857250"/>
          </a:xfrm>
          <a:prstGeom prst="rect">
            <a:avLst/>
          </a:prstGeom>
          <a:noFill/>
          <a:ln/>
        </p:spPr>
        <p:txBody>
          <a:bodyPr wrap="square" lIns="114300" tIns="114300" rIns="114300" bIns="114300" rtlCol="0" anchor="ctr"/>
          <a:lstStyle/>
          <a:p>
            <a:pPr algn="ctr" indent="0" marL="0">
              <a:buNone/>
            </a:pPr>
            <a:r>
              <a:rPr lang="en-US" sz="975" dirty="0">
                <a:solidFill>
                  <a:srgbClr val="4A5063"/>
                </a:solidFill>
                <a:latin typeface="Arial" pitchFamily="34" charset="0"/>
                <a:ea typeface="Arial" pitchFamily="34" charset="-122"/>
                <a:cs typeface="Arial" pitchFamily="34" charset="-120"/>
              </a:rPr>
              <a:t>order 5</a:t>
            </a:r>
            <a:endParaRPr lang="en-US" sz="975" dirty="0"/>
          </a:p>
          <a:p>
            <a:pPr algn="ctr" indent="0" marL="0">
              <a:buNone/>
            </a:pPr>
            <a:r>
              <a:rPr lang="en-US" sz="1650" b="1" dirty="0">
                <a:solidFill>
                  <a:srgbClr val="D93F3F"/>
                </a:solidFill>
                <a:latin typeface="Arial" pitchFamily="34" charset="0"/>
                <a:ea typeface="Arial" pitchFamily="34" charset="-122"/>
                <a:cs typeface="Arial" pitchFamily="34" charset="-120"/>
              </a:rPr>
              <a:t>14,000</a:t>
            </a:r>
            <a:endParaRPr lang="en-US" sz="975" dirty="0"/>
          </a:p>
        </p:txBody>
      </p:sp>
      <p:sp>
        <p:nvSpPr>
          <p:cNvPr id="15" name="Text 11"/>
          <p:cNvSpPr txBox="1"/>
          <p:nvPr/>
        </p:nvSpPr>
        <p:spPr>
          <a:xfrm>
            <a:off x="411480" y="3086100"/>
            <a:ext cx="8320857" cy="1440180"/>
          </a:xfrm>
          <a:prstGeom prst="rect">
            <a:avLst/>
          </a:prstGeom>
          <a:noFill/>
          <a:ln/>
        </p:spPr>
        <p:txBody>
          <a:bodyPr wrap="square" lIns="0" tIns="0" rIns="0" bIns="0" rtlCol="0" anchor="t"/>
          <a:lstStyle/>
          <a:p>
            <a:pPr marL="215900" indent="-215900">
              <a:spcAft>
                <a:spcPts val="750"/>
              </a:spcAft>
              <a:buSzPct val="100000"/>
              <a:buChar char="•"/>
            </a:pPr>
            <a:r>
              <a:rPr lang="en-US" sz="1350" b="1" dirty="0">
                <a:solidFill>
                  <a:srgbClr val="1C1F26"/>
                </a:solidFill>
                <a:latin typeface="Arial" pitchFamily="34" charset="0"/>
                <a:ea typeface="Arial" pitchFamily="34" charset="-122"/>
                <a:cs typeface="Arial" pitchFamily="34" charset="-120"/>
              </a:rPr>
              <a:t>Paid:</a:t>
            </a:r>
            <a:pPr indent="0" marL="0">
              <a:spcAft>
                <a:spcPts val="750"/>
              </a:spcAft>
              <a:buNone/>
            </a:pPr>
            <a:r>
              <a:rPr lang="en-US" sz="1350" dirty="0">
                <a:solidFill>
                  <a:srgbClr val="4A5063"/>
                </a:solidFill>
                <a:latin typeface="Arial" pitchFamily="34" charset="0"/>
                <a:ea typeface="Arial" pitchFamily="34" charset="-122"/>
                <a:cs typeface="Arial" pitchFamily="34" charset="-120"/>
              </a:rPr>
              <a:t> 0.00 on every order. Earned: 1,800 every time. +9,000 credits from nothing.</a:t>
            </a:r>
            <a:endParaRPr lang="en-US" sz="1350" dirty="0"/>
          </a:p>
          <a:p>
            <a:pPr marL="215900" indent="-215900">
              <a:spcAft>
                <a:spcPts val="750"/>
              </a:spcAft>
              <a:buSzPct val="100000"/>
              <a:buChar char="•"/>
            </a:pPr>
            <a:r>
              <a:rPr lang="en-US" sz="1350" b="1" dirty="0">
                <a:solidFill>
                  <a:srgbClr val="1C1F26"/>
                </a:solidFill>
                <a:latin typeface="Arial" pitchFamily="34" charset="0"/>
                <a:ea typeface="Arial" pitchFamily="34" charset="-122"/>
                <a:cs typeface="Arial" pitchFamily="34" charset="-120"/>
              </a:rPr>
              <a:t>Every request returned 201.</a:t>
            </a:r>
            <a:pPr indent="0" marL="0">
              <a:spcAft>
                <a:spcPts val="750"/>
              </a:spcAft>
              <a:buNone/>
            </a:pPr>
            <a:r>
              <a:rPr lang="en-US" sz="1350" dirty="0">
                <a:solidFill>
                  <a:srgbClr val="4A5063"/>
                </a:solidFill>
                <a:latin typeface="Arial" pitchFamily="34" charset="0"/>
                <a:ea typeface="Arial" pitchFamily="34" charset="-122"/>
                <a:cs typeface="Arial" pitchFamily="34" charset="-120"/>
              </a:rPr>
              <a:t> Nothing looked wrong. A dashboard would show a happy customer.</a:t>
            </a:r>
            <a:endParaRPr lang="en-US" sz="1350" dirty="0"/>
          </a:p>
          <a:p>
            <a:pPr marL="215900" indent="-215900">
              <a:spcAft>
                <a:spcPts val="750"/>
              </a:spcAft>
              <a:buSzPct val="100000"/>
              <a:buChar char="•"/>
            </a:pPr>
            <a:r>
              <a:rPr lang="en-US" sz="1350" b="1" dirty="0">
                <a:solidFill>
                  <a:srgbClr val="1C1F26"/>
                </a:solidFill>
                <a:latin typeface="Arial" pitchFamily="34" charset="0"/>
                <a:ea typeface="Arial" pitchFamily="34" charset="-122"/>
                <a:cs typeface="Arial" pitchFamily="34" charset="-120"/>
              </a:rPr>
              <a:t>The AI didn't find this.</a:t>
            </a:r>
            <a:pPr indent="0" marL="0">
              <a:spcAft>
                <a:spcPts val="750"/>
              </a:spcAft>
              <a:buNone/>
            </a:pPr>
            <a:r>
              <a:rPr lang="en-US" sz="1350" dirty="0">
                <a:solidFill>
                  <a:srgbClr val="4A5063"/>
                </a:solidFill>
                <a:latin typeface="Arial" pitchFamily="34" charset="0"/>
                <a:ea typeface="Arial" pitchFamily="34" charset="-122"/>
                <a:cs typeface="Arial" pitchFamily="34" charset="-120"/>
              </a:rPr>
              <a:t> I asked it to attack the money rules: it tested "buy 11 tickets", four times.</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3" name="Image 0" descr="bg/bg-18.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5" name="Text 1"/>
          <p:cNvSpPr txBox="1"/>
          <p:nvPr/>
        </p:nvSpPr>
        <p:spPr>
          <a:xfrm>
            <a:off x="411480" y="308610"/>
            <a:ext cx="6172200" cy="240030"/>
          </a:xfrm>
          <a:prstGeom prst="rect">
            <a:avLst/>
          </a:prstGeom>
          <a:noFill/>
          <a:ln/>
        </p:spPr>
        <p:txBody>
          <a:bodyPr wrap="square" lIns="0" tIns="0" rIns="0" bIns="0" rtlCol="0" anchor="t"/>
          <a:lstStyle/>
          <a:p>
            <a:pPr indent="0" marL="0">
              <a:buNone/>
            </a:pPr>
            <a:r>
              <a:rPr lang="en-US" sz="975" b="1" dirty="0">
                <a:solidFill>
                  <a:srgbClr val="B7791F"/>
                </a:solidFill>
                <a:latin typeface="Courier New" pitchFamily="34" charset="0"/>
                <a:ea typeface="Courier New" pitchFamily="34" charset="-122"/>
                <a:cs typeface="Courier New" pitchFamily="34" charset="-120"/>
              </a:rPr>
              <a:t>DEMO 4 · RACE CONDITION</a:t>
            </a:r>
            <a:endParaRPr lang="en-US" sz="975" dirty="0"/>
          </a:p>
        </p:txBody>
      </p:sp>
      <p:sp>
        <p:nvSpPr>
          <p:cNvPr id="6" name="Text 2"/>
          <p:cNvSpPr txBox="1"/>
          <p:nvPr/>
        </p:nvSpPr>
        <p:spPr>
          <a:xfrm>
            <a:off x="411480" y="548640"/>
            <a:ext cx="8320857" cy="582930"/>
          </a:xfrm>
          <a:prstGeom prst="rect">
            <a:avLst/>
          </a:prstGeom>
          <a:noFill/>
          <a:ln/>
        </p:spPr>
        <p:txBody>
          <a:bodyPr wrap="square" lIns="0" tIns="0" rIns="0" bIns="0" rtlCol="0" anchor="t"/>
          <a:lstStyle/>
          <a:p>
            <a:pPr indent="0" marL="0">
              <a:buNone/>
            </a:pPr>
            <a:r>
              <a:rPr lang="en-US" sz="2400" b="1" dirty="0">
                <a:solidFill>
                  <a:srgbClr val="1C1F26"/>
                </a:solidFill>
                <a:latin typeface="Arial" pitchFamily="34" charset="0"/>
                <a:ea typeface="Arial" pitchFamily="34" charset="-122"/>
                <a:cs typeface="Arial" pitchFamily="34" charset="-120"/>
              </a:rPr>
              <a:t>20 buyers, 5 seats, the same second</a:t>
            </a:r>
            <a:endParaRPr lang="en-US" sz="2400" dirty="0"/>
          </a:p>
        </p:txBody>
      </p:sp>
      <p:sp>
        <p:nvSpPr>
          <p:cNvPr id="7" name="Text 3"/>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18</a:t>
            </a:r>
            <a:endParaRPr lang="en-US" sz="825" dirty="0"/>
          </a:p>
        </p:txBody>
      </p:sp>
      <p:sp>
        <p:nvSpPr>
          <p:cNvPr id="8" name="Text 4"/>
          <p:cNvSpPr txBox="1"/>
          <p:nvPr/>
        </p:nvSpPr>
        <p:spPr>
          <a:xfrm>
            <a:off x="411480" y="1303020"/>
            <a:ext cx="3703320" cy="3086100"/>
          </a:xfrm>
          <a:prstGeom prst="rect">
            <a:avLst/>
          </a:prstGeom>
          <a:noFill/>
          <a:ln/>
        </p:spPr>
        <p:txBody>
          <a:bodyPr wrap="square" lIns="133350" tIns="133350" rIns="133350" bIns="133350" rtlCol="0" anchor="t"/>
          <a:lstStyle/>
          <a:p>
            <a:pPr indent="0" marL="0">
              <a:buNone/>
            </a:pPr>
            <a:r>
              <a:rPr lang="en-US" sz="1275" dirty="0">
                <a:solidFill>
                  <a:srgbClr val="8FE3B0"/>
                </a:solidFill>
                <a:latin typeface="Courier New" pitchFamily="34" charset="0"/>
                <a:ea typeface="Courier New" pitchFamily="34" charset="-122"/>
                <a:cs typeface="Courier New" pitchFamily="34" charset="-120"/>
              </a:rPr>
              <a:t>$ python demo/race.py</a:t>
            </a:r>
            <a:endParaRPr lang="en-US" sz="1275" dirty="0"/>
          </a:p>
          <a:p>
            <a:pPr indent="0" marL="0">
              <a:buNone/>
            </a:pPr>
            <a:r>
              <a:rPr lang="en-US" sz="1275" dirty="0">
                <a:solidFill>
                  <a:srgbClr val="E6E8F2"/>
                </a:solidFill>
                <a:latin typeface="Courier New" pitchFamily="34" charset="0"/>
                <a:ea typeface="Courier New" pitchFamily="34" charset="-122"/>
                <a:cs typeface="Courier New" pitchFamily="34" charset="-120"/>
              </a:rPr>
              <a:t> </a:t>
            </a:r>
            <a:endParaRPr lang="en-US" sz="1275" dirty="0"/>
          </a:p>
          <a:p>
            <a:pPr indent="0" marL="0">
              <a:buNone/>
            </a:pPr>
            <a:r>
              <a:rPr lang="en-US" sz="1275" dirty="0">
                <a:solidFill>
                  <a:srgbClr val="E6E8F2"/>
                </a:solidFill>
                <a:latin typeface="Courier New" pitchFamily="34" charset="0"/>
                <a:ea typeface="Courier New" pitchFamily="34" charset="-122"/>
                <a:cs typeface="Courier New" pitchFamily="34" charset="-120"/>
              </a:rPr>
              <a:t>orders accepted (201): 20</a:t>
            </a:r>
            <a:endParaRPr lang="en-US" sz="1275" dirty="0"/>
          </a:p>
          <a:p>
            <a:pPr indent="0" marL="0">
              <a:buNone/>
            </a:pPr>
            <a:r>
              <a:rPr lang="en-US" sz="1275" dirty="0">
                <a:solidFill>
                  <a:srgbClr val="E6E8F2"/>
                </a:solidFill>
                <a:latin typeface="Courier New" pitchFamily="34" charset="0"/>
                <a:ea typeface="Courier New" pitchFamily="34" charset="-122"/>
                <a:cs typeface="Courier New" pitchFamily="34" charset="-120"/>
              </a:rPr>
              <a:t>orders rejected (409): 0</a:t>
            </a:r>
            <a:endParaRPr lang="en-US" sz="1275" dirty="0"/>
          </a:p>
          <a:p>
            <a:pPr indent="0" marL="0">
              <a:buNone/>
            </a:pPr>
            <a:r>
              <a:rPr lang="en-US" sz="1275" dirty="0">
                <a:solidFill>
                  <a:srgbClr val="E6E8F2"/>
                </a:solidFill>
                <a:latin typeface="Courier New" pitchFamily="34" charset="0"/>
                <a:ea typeface="Courier New" pitchFamily="34" charset="-122"/>
                <a:cs typeface="Courier New" pitchFamily="34" charset="-120"/>
              </a:rPr>
              <a:t>seats remaining after: 3</a:t>
            </a:r>
            <a:endParaRPr lang="en-US" sz="1275" dirty="0"/>
          </a:p>
          <a:p>
            <a:pPr indent="0" marL="0">
              <a:buNone/>
            </a:pPr>
            <a:r>
              <a:rPr lang="en-US" sz="1275" dirty="0">
                <a:solidFill>
                  <a:srgbClr val="E6E8F2"/>
                </a:solidFill>
                <a:latin typeface="Courier New" pitchFamily="34" charset="0"/>
                <a:ea typeface="Courier New" pitchFamily="34" charset="-122"/>
                <a:cs typeface="Courier New" pitchFamily="34" charset="-120"/>
              </a:rPr>
              <a:t> </a:t>
            </a:r>
            <a:endParaRPr lang="en-US" sz="1275" dirty="0"/>
          </a:p>
          <a:p>
            <a:pPr indent="0" marL="0">
              <a:buNone/>
            </a:pPr>
            <a:r>
              <a:rPr lang="en-US" sz="1275" dirty="0">
                <a:solidFill>
                  <a:srgbClr val="FF8A8F"/>
                </a:solidFill>
                <a:latin typeface="Courier New" pitchFamily="34" charset="0"/>
                <a:ea typeface="Courier New" pitchFamily="34" charset="-122"/>
                <a:cs typeface="Courier New" pitchFamily="34" charset="-120"/>
              </a:rPr>
              <a:t>*** oversold by 15 seats ***</a:t>
            </a:r>
            <a:endParaRPr lang="en-US" sz="1275" dirty="0"/>
          </a:p>
        </p:txBody>
      </p:sp>
      <p:sp>
        <p:nvSpPr>
          <p:cNvPr id="9" name="Text 5"/>
          <p:cNvSpPr txBox="1"/>
          <p:nvPr/>
        </p:nvSpPr>
        <p:spPr>
          <a:xfrm>
            <a:off x="4320540" y="1303020"/>
            <a:ext cx="4409694" cy="3086100"/>
          </a:xfrm>
          <a:prstGeom prst="rect">
            <a:avLst/>
          </a:prstGeom>
          <a:noFill/>
          <a:ln/>
        </p:spPr>
        <p:txBody>
          <a:bodyPr wrap="square" lIns="0" tIns="0" rIns="0" bIns="0" rtlCol="0" anchor="t"/>
          <a:lstStyle/>
          <a:p>
            <a:pPr marL="215900" indent="-215900">
              <a:spcAft>
                <a:spcPts val="750"/>
              </a:spcAft>
              <a:buSzPct val="100000"/>
              <a:buChar char="•"/>
            </a:pPr>
            <a:r>
              <a:rPr lang="en-US" sz="1275" b="1" dirty="0">
                <a:solidFill>
                  <a:srgbClr val="1C1F26"/>
                </a:solidFill>
                <a:latin typeface="Arial" pitchFamily="34" charset="0"/>
                <a:ea typeface="Arial" pitchFamily="34" charset="-122"/>
                <a:cs typeface="Arial" pitchFamily="34" charset="-120"/>
              </a:rPr>
              <a:t>What happens:</a:t>
            </a:r>
            <a:pPr indent="0" marL="0">
              <a:spcAft>
                <a:spcPts val="750"/>
              </a:spcAft>
              <a:buNone/>
            </a:pPr>
            <a:r>
              <a:rPr lang="en-US" sz="1275" dirty="0">
                <a:solidFill>
                  <a:srgbClr val="4A5063"/>
                </a:solidFill>
                <a:latin typeface="Arial" pitchFamily="34" charset="0"/>
                <a:ea typeface="Arial" pitchFamily="34" charset="-122"/>
                <a:cs typeface="Arial" pitchFamily="34" charset="-120"/>
              </a:rPr>
              <a:t> each request reads "5 seats", waits for payment, then writes "4". They all read before anyone writes.</a:t>
            </a:r>
            <a:endParaRPr lang="en-US" sz="1275" dirty="0"/>
          </a:p>
          <a:p>
            <a:pPr marL="215900" indent="-215900">
              <a:spcAft>
                <a:spcPts val="750"/>
              </a:spcAft>
              <a:buSzPct val="100000"/>
              <a:buChar char="•"/>
            </a:pPr>
            <a:r>
              <a:rPr lang="en-US" sz="1275" b="1" dirty="0">
                <a:solidFill>
                  <a:srgbClr val="1C1F26"/>
                </a:solidFill>
                <a:latin typeface="Arial" pitchFamily="34" charset="0"/>
                <a:ea typeface="Arial" pitchFamily="34" charset="-122"/>
                <a:cs typeface="Arial" pitchFamily="34" charset="-120"/>
              </a:rPr>
              <a:t>Why tests miss it:</a:t>
            </a:r>
            <a:pPr indent="0" marL="0">
              <a:spcAft>
                <a:spcPts val="750"/>
              </a:spcAft>
              <a:buNone/>
            </a:pPr>
            <a:r>
              <a:rPr lang="en-US" sz="1275" dirty="0">
                <a:solidFill>
                  <a:srgbClr val="4A5063"/>
                </a:solidFill>
                <a:latin typeface="Arial" pitchFamily="34" charset="0"/>
                <a:ea typeface="Arial" pitchFamily="34" charset="-122"/>
                <a:cs typeface="Arial" pitchFamily="34" charset="-120"/>
              </a:rPr>
              <a:t> every single request is valid. The bug is in the timing between requests.</a:t>
            </a:r>
            <a:endParaRPr lang="en-US" sz="1275" dirty="0"/>
          </a:p>
          <a:p>
            <a:pPr marL="215900" indent="-215900">
              <a:spcAft>
                <a:spcPts val="750"/>
              </a:spcAft>
              <a:buSzPct val="100000"/>
              <a:buChar char="•"/>
            </a:pPr>
            <a:r>
              <a:rPr lang="en-US" sz="1275" b="1" dirty="0">
                <a:solidFill>
                  <a:srgbClr val="1C1F26"/>
                </a:solidFill>
                <a:latin typeface="Arial" pitchFamily="34" charset="0"/>
                <a:ea typeface="Arial" pitchFamily="34" charset="-122"/>
                <a:cs typeface="Arial" pitchFamily="34" charset="-120"/>
              </a:rPr>
              <a:t>Why the AI missed it:</a:t>
            </a:r>
            <a:pPr indent="0" marL="0">
              <a:spcAft>
                <a:spcPts val="750"/>
              </a:spcAft>
              <a:buNone/>
            </a:pPr>
            <a:r>
              <a:rPr lang="en-US" sz="1275" dirty="0">
                <a:solidFill>
                  <a:srgbClr val="4A5063"/>
                </a:solidFill>
                <a:latin typeface="Arial" pitchFamily="34" charset="0"/>
                <a:ea typeface="Arial" pitchFamily="34" charset="-122"/>
                <a:cs typeface="Arial" pitchFamily="34" charset="-120"/>
              </a:rPr>
              <a:t> its test format is one request, one expected answer. It can't say "twenty at once".</a:t>
            </a:r>
            <a:endParaRPr lang="en-US" sz="1275" dirty="0"/>
          </a:p>
          <a:p>
            <a:pPr marL="215900" indent="-215900">
              <a:spcAft>
                <a:spcPts val="750"/>
              </a:spcAft>
              <a:buSzPct val="100000"/>
              <a:buChar char="•"/>
            </a:pPr>
            <a:r>
              <a:rPr lang="en-US" sz="1275" b="1" dirty="0">
                <a:solidFill>
                  <a:srgbClr val="1C1F26"/>
                </a:solidFill>
                <a:latin typeface="Arial" pitchFamily="34" charset="0"/>
                <a:ea typeface="Arial" pitchFamily="34" charset="-122"/>
                <a:cs typeface="Arial" pitchFamily="34" charset="-120"/>
              </a:rPr>
              <a:t>Fix:</a:t>
            </a:r>
            <a:pPr indent="0" marL="0">
              <a:spcAft>
                <a:spcPts val="750"/>
              </a:spcAft>
              <a:buNone/>
            </a:pPr>
            <a:r>
              <a:rPr lang="en-US" sz="1275" dirty="0">
                <a:solidFill>
                  <a:srgbClr val="4A5063"/>
                </a:solidFill>
                <a:latin typeface="Arial" pitchFamily="34" charset="0"/>
                <a:ea typeface="Arial" pitchFamily="34" charset="-122"/>
                <a:cs typeface="Arial" pitchFamily="34" charset="-120"/>
              </a:rPr>
              <a:t> one atomic database update: only subtract if stock is still enough.</a:t>
            </a:r>
            <a:endParaRPr lang="en-US" sz="127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3" name="Image 0" descr="bg/bg-19.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5" name="Text 1"/>
          <p:cNvSpPr txBox="1"/>
          <p:nvPr/>
        </p:nvSpPr>
        <p:spPr>
          <a:xfrm>
            <a:off x="411480" y="308610"/>
            <a:ext cx="6172200" cy="240030"/>
          </a:xfrm>
          <a:prstGeom prst="rect">
            <a:avLst/>
          </a:prstGeom>
          <a:noFill/>
          <a:ln/>
        </p:spPr>
        <p:txBody>
          <a:bodyPr wrap="square" lIns="0" tIns="0" rIns="0" bIns="0" rtlCol="0" anchor="t"/>
          <a:lstStyle/>
          <a:p>
            <a:pPr indent="0" marL="0">
              <a:buNone/>
            </a:pPr>
            <a:r>
              <a:rPr lang="en-US" sz="975" b="1" dirty="0">
                <a:solidFill>
                  <a:srgbClr val="B7791F"/>
                </a:solidFill>
                <a:latin typeface="Courier New" pitchFamily="34" charset="0"/>
                <a:ea typeface="Courier New" pitchFamily="34" charset="-122"/>
                <a:cs typeface="Courier New" pitchFamily="34" charset="-120"/>
              </a:rPr>
              <a:t>DEMO 4 · THE UNWRITTEN RULE</a:t>
            </a:r>
            <a:endParaRPr lang="en-US" sz="975" dirty="0"/>
          </a:p>
        </p:txBody>
      </p:sp>
      <p:sp>
        <p:nvSpPr>
          <p:cNvPr id="6" name="Text 2"/>
          <p:cNvSpPr txBox="1"/>
          <p:nvPr/>
        </p:nvSpPr>
        <p:spPr>
          <a:xfrm>
            <a:off x="411480" y="548640"/>
            <a:ext cx="8320857" cy="582930"/>
          </a:xfrm>
          <a:prstGeom prst="rect">
            <a:avLst/>
          </a:prstGeom>
          <a:noFill/>
          <a:ln/>
        </p:spPr>
        <p:txBody>
          <a:bodyPr wrap="square" lIns="0" tIns="0" rIns="0" bIns="0" rtlCol="0" anchor="t"/>
          <a:lstStyle/>
          <a:p>
            <a:pPr indent="0" marL="0">
              <a:buNone/>
            </a:pPr>
            <a:r>
              <a:rPr lang="en-US" sz="2400" b="1" dirty="0">
                <a:solidFill>
                  <a:srgbClr val="1C1F26"/>
                </a:solidFill>
                <a:latin typeface="Arial" pitchFamily="34" charset="0"/>
                <a:ea typeface="Arial" pitchFamily="34" charset="-122"/>
                <a:cs typeface="Arial" pitchFamily="34" charset="-120"/>
              </a:rPr>
              <a:t>Is this a bug? You can't tell.</a:t>
            </a:r>
            <a:endParaRPr lang="en-US" sz="2400" dirty="0"/>
          </a:p>
        </p:txBody>
      </p:sp>
      <p:sp>
        <p:nvSpPr>
          <p:cNvPr id="7" name="Text 3"/>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19</a:t>
            </a:r>
            <a:endParaRPr lang="en-US" sz="825" dirty="0"/>
          </a:p>
        </p:txBody>
      </p:sp>
      <p:sp>
        <p:nvSpPr>
          <p:cNvPr id="8" name="Text 4"/>
          <p:cNvSpPr txBox="1"/>
          <p:nvPr/>
        </p:nvSpPr>
        <p:spPr>
          <a:xfrm>
            <a:off x="411480" y="1303020"/>
            <a:ext cx="8320857" cy="1303020"/>
          </a:xfrm>
          <a:prstGeom prst="rect">
            <a:avLst/>
          </a:prstGeom>
          <a:noFill/>
          <a:ln/>
        </p:spPr>
        <p:txBody>
          <a:bodyPr wrap="square" lIns="133350" tIns="133350" rIns="133350" bIns="133350" rtlCol="0" anchor="t"/>
          <a:lstStyle/>
          <a:p>
            <a:pPr indent="0" marL="0">
              <a:buNone/>
            </a:pPr>
            <a:r>
              <a:rPr lang="en-US" sz="1200" dirty="0">
                <a:solidFill>
                  <a:srgbClr val="8FE3B0"/>
                </a:solidFill>
                <a:latin typeface="Courier New" pitchFamily="34" charset="0"/>
                <a:ea typeface="Courier New" pitchFamily="34" charset="-122"/>
                <a:cs typeface="Courier New" pitchFamily="34" charset="-120"/>
              </a:rPr>
              <a:t>$ curl ... POST /orders {"ticket_id": 2}   (as alice@corp.example)</a:t>
            </a:r>
            <a:endParaRPr lang="en-US" sz="1200" dirty="0"/>
          </a:p>
          <a:p>
            <a:pPr indent="0" marL="0">
              <a:buNone/>
            </a:pPr>
            <a:r>
              <a:rPr lang="en-US" sz="1200" dirty="0">
                <a:solidFill>
                  <a:srgbClr val="E6E8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8FE3B0"/>
                </a:solidFill>
                <a:latin typeface="Courier New" pitchFamily="34" charset="0"/>
                <a:ea typeface="Courier New" pitchFamily="34" charset="-122"/>
                <a:cs typeface="Courier New" pitchFamily="34" charset="-120"/>
              </a:rPr>
              <a:t>201 Created</a:t>
            </a:r>
            <a:endParaRPr lang="en-US" sz="1200" dirty="0"/>
          </a:p>
          <a:p>
            <a:pPr indent="0" marL="0">
              <a:buNone/>
            </a:pPr>
            <a:r>
              <a:rPr lang="en-US" sz="1200" dirty="0">
                <a:solidFill>
                  <a:srgbClr val="E6E8F2"/>
                </a:solidFill>
                <a:latin typeface="Courier New" pitchFamily="34" charset="0"/>
                <a:ea typeface="Courier New" pitchFamily="34" charset="-122"/>
                <a:cs typeface="Courier New" pitchFamily="34" charset="-120"/>
              </a:rPr>
              <a:t>{ "ticket": "STUDENT-2026", "total_charged": 500.0 }</a:t>
            </a:r>
            <a:endParaRPr lang="en-US" sz="1200" dirty="0"/>
          </a:p>
        </p:txBody>
      </p:sp>
      <p:sp>
        <p:nvSpPr>
          <p:cNvPr id="9" name="Text 5"/>
          <p:cNvSpPr txBox="1"/>
          <p:nvPr/>
        </p:nvSpPr>
        <p:spPr>
          <a:xfrm>
            <a:off x="411480" y="2811780"/>
            <a:ext cx="8320857" cy="1714500"/>
          </a:xfrm>
          <a:prstGeom prst="rect">
            <a:avLst/>
          </a:prstGeom>
          <a:noFill/>
          <a:ln/>
        </p:spPr>
        <p:txBody>
          <a:bodyPr wrap="square" lIns="0" tIns="0" rIns="0" bIns="0" rtlCol="0" anchor="t"/>
          <a:lstStyle/>
          <a:p>
            <a:pPr marL="215900" indent="-215900">
              <a:spcAft>
                <a:spcPts val="750"/>
              </a:spcAft>
              <a:buSzPct val="100000"/>
              <a:buChar char="•"/>
            </a:pPr>
            <a:r>
              <a:rPr lang="en-US" sz="1350" b="1" dirty="0">
                <a:solidFill>
                  <a:srgbClr val="1C1F26"/>
                </a:solidFill>
                <a:latin typeface="Arial" pitchFamily="34" charset="0"/>
                <a:ea typeface="Arial" pitchFamily="34" charset="-122"/>
                <a:cs typeface="Arial" pitchFamily="34" charset="-120"/>
              </a:rPr>
              <a:t>The rule:</a:t>
            </a:r>
            <a:pPr indent="0" marL="0">
              <a:spcAft>
                <a:spcPts val="750"/>
              </a:spcAft>
              <a:buNone/>
            </a:pPr>
            <a:r>
              <a:rPr lang="en-US" sz="1350" dirty="0">
                <a:solidFill>
                  <a:srgbClr val="4A5063"/>
                </a:solidFill>
                <a:latin typeface="Arial" pitchFamily="34" charset="0"/>
                <a:ea typeface="Arial" pitchFamily="34" charset="-122"/>
                <a:cs typeface="Arial" pitchFamily="34" charset="-120"/>
              </a:rPr>
              <a:t> student price needs a verified student email. That rule is in a pricing document, not in the code.</a:t>
            </a:r>
            <a:endParaRPr lang="en-US" sz="1350" dirty="0"/>
          </a:p>
          <a:p>
            <a:pPr marL="215900" indent="-215900">
              <a:spcAft>
                <a:spcPts val="750"/>
              </a:spcAft>
              <a:buSzPct val="100000"/>
              <a:buChar char="•"/>
            </a:pPr>
            <a:r>
              <a:rPr lang="en-US" sz="1350" b="1" dirty="0">
                <a:solidFill>
                  <a:srgbClr val="1C1F26"/>
                </a:solidFill>
                <a:latin typeface="Arial" pitchFamily="34" charset="0"/>
                <a:ea typeface="Arial" pitchFamily="34" charset="-122"/>
                <a:cs typeface="Arial" pitchFamily="34" charset="-120"/>
              </a:rPr>
              <a:t>The AI:</a:t>
            </a:r>
            <a:pPr indent="0" marL="0">
              <a:spcAft>
                <a:spcPts val="750"/>
              </a:spcAft>
              <a:buNone/>
            </a:pPr>
            <a:r>
              <a:rPr lang="en-US" sz="1350" dirty="0">
                <a:solidFill>
                  <a:srgbClr val="4A5063"/>
                </a:solidFill>
                <a:latin typeface="Arial" pitchFamily="34" charset="0"/>
                <a:ea typeface="Arial" pitchFamily="34" charset="-122"/>
                <a:cs typeface="Arial" pitchFamily="34" charset="-120"/>
              </a:rPr>
              <a:t> might guess to try it, but it can't know the 201 is wrong. Neither can a new developer reading the code.</a:t>
            </a:r>
            <a:endParaRPr lang="en-US" sz="1350" dirty="0"/>
          </a:p>
          <a:p>
            <a:pPr marL="215900" indent="-215900">
              <a:spcAft>
                <a:spcPts val="750"/>
              </a:spcAft>
              <a:buSzPct val="100000"/>
              <a:buChar char="•"/>
            </a:pPr>
            <a:r>
              <a:rPr lang="en-US" sz="1350" b="1" dirty="0">
                <a:solidFill>
                  <a:srgbClr val="1C1F26"/>
                </a:solidFill>
                <a:latin typeface="Arial" pitchFamily="34" charset="0"/>
                <a:ea typeface="Arial" pitchFamily="34" charset="-122"/>
                <a:cs typeface="Arial" pitchFamily="34" charset="-120"/>
              </a:rPr>
              <a:t>The lesson:</a:t>
            </a:r>
            <a:pPr indent="0" marL="0">
              <a:spcAft>
                <a:spcPts val="750"/>
              </a:spcAft>
              <a:buNone/>
            </a:pPr>
            <a:r>
              <a:rPr lang="en-US" sz="1350" dirty="0">
                <a:solidFill>
                  <a:srgbClr val="4A5063"/>
                </a:solidFill>
                <a:latin typeface="Arial" pitchFamily="34" charset="0"/>
                <a:ea typeface="Arial" pitchFamily="34" charset="-122"/>
                <a:cs typeface="Arial" pitchFamily="34" charset="-120"/>
              </a:rPr>
              <a:t> write business rules where a reader can find them: API docs, schema, tests.</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3" name="Image 0" descr="bg/bg-20.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5" name="Text 1"/>
          <p:cNvSpPr txBox="1"/>
          <p:nvPr/>
        </p:nvSpPr>
        <p:spPr>
          <a:xfrm>
            <a:off x="411480" y="308610"/>
            <a:ext cx="6172200" cy="240030"/>
          </a:xfrm>
          <a:prstGeom prst="rect">
            <a:avLst/>
          </a:prstGeom>
          <a:noFill/>
          <a:ln/>
        </p:spPr>
        <p:txBody>
          <a:bodyPr wrap="square" lIns="0" tIns="0" rIns="0" bIns="0" rtlCol="0" anchor="t"/>
          <a:lstStyle/>
          <a:p>
            <a:pPr indent="0" marL="0">
              <a:buNone/>
            </a:pPr>
            <a:r>
              <a:rPr lang="en-US" sz="975" b="1" dirty="0">
                <a:solidFill>
                  <a:srgbClr val="B7791F"/>
                </a:solidFill>
                <a:latin typeface="Courier New" pitchFamily="34" charset="0"/>
                <a:ea typeface="Courier New" pitchFamily="34" charset="-122"/>
                <a:cs typeface="Courier New" pitchFamily="34" charset="-120"/>
              </a:rPr>
              <a:t>BEYOND THE PROMPT</a:t>
            </a:r>
            <a:endParaRPr lang="en-US" sz="975" dirty="0"/>
          </a:p>
        </p:txBody>
      </p:sp>
      <p:sp>
        <p:nvSpPr>
          <p:cNvPr id="6" name="Text 2"/>
          <p:cNvSpPr txBox="1"/>
          <p:nvPr/>
        </p:nvSpPr>
        <p:spPr>
          <a:xfrm>
            <a:off x="411480" y="548640"/>
            <a:ext cx="8320857" cy="582930"/>
          </a:xfrm>
          <a:prstGeom prst="rect">
            <a:avLst/>
          </a:prstGeom>
          <a:noFill/>
          <a:ln/>
        </p:spPr>
        <p:txBody>
          <a:bodyPr wrap="square" lIns="0" tIns="0" rIns="0" bIns="0" rtlCol="0" anchor="t"/>
          <a:lstStyle/>
          <a:p>
            <a:pPr indent="0" marL="0">
              <a:buNone/>
            </a:pPr>
            <a:r>
              <a:rPr lang="en-US" sz="2400" b="1" dirty="0">
                <a:solidFill>
                  <a:srgbClr val="1C1F26"/>
                </a:solidFill>
                <a:latin typeface="Arial" pitchFamily="34" charset="0"/>
                <a:ea typeface="Arial" pitchFamily="34" charset="-122"/>
                <a:cs typeface="Arial" pitchFamily="34" charset="-120"/>
              </a:rPr>
              <a:t>What the engineering caught</a:t>
            </a:r>
            <a:endParaRPr lang="en-US" sz="2400" dirty="0"/>
          </a:p>
        </p:txBody>
      </p:sp>
      <p:sp>
        <p:nvSpPr>
          <p:cNvPr id="7" name="Text 3"/>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20</a:t>
            </a:r>
            <a:endParaRPr lang="en-US" sz="825" dirty="0"/>
          </a:p>
        </p:txBody>
      </p:sp>
      <p:sp>
        <p:nvSpPr>
          <p:cNvPr id="8" name="Text 4"/>
          <p:cNvSpPr txBox="1"/>
          <p:nvPr/>
        </p:nvSpPr>
        <p:spPr>
          <a:xfrm>
            <a:off x="411480" y="1337310"/>
            <a:ext cx="2640330" cy="2331720"/>
          </a:xfrm>
          <a:prstGeom prst="rect">
            <a:avLst/>
          </a:prstGeom>
          <a:noFill/>
          <a:ln/>
        </p:spPr>
        <p:txBody>
          <a:bodyPr wrap="square" lIns="114300" tIns="114300" rIns="114300" bIns="114300" rtlCol="0" anchor="t"/>
          <a:lstStyle/>
          <a:p>
            <a:pPr indent="0" marL="0">
              <a:buNone/>
            </a:pPr>
            <a:r>
              <a:rPr lang="en-US" sz="1500" b="1" dirty="0">
                <a:solidFill>
                  <a:srgbClr val="B7791F"/>
                </a:solidFill>
                <a:latin typeface="Arial" pitchFamily="34" charset="0"/>
                <a:ea typeface="Arial" pitchFamily="34" charset="-122"/>
                <a:cs typeface="Arial" pitchFamily="34" charset="-120"/>
              </a:rPr>
              <a:t>Execution caught the mistakes</a:t>
            </a:r>
            <a:endParaRPr lang="en-US" sz="1500" dirty="0"/>
          </a:p>
          <a:p>
            <a:pPr indent="0" marL="0">
              <a:buNone/>
            </a:pPr>
            <a:r>
              <a:rPr lang="en-US" sz="450" dirty="0">
                <a:solidFill>
                  <a:srgbClr val="1C1F26"/>
                </a:solidFill>
                <a:latin typeface="Arial" pitchFamily="34" charset="0"/>
                <a:ea typeface="Arial" pitchFamily="34" charset="-122"/>
                <a:cs typeface="Arial" pitchFamily="34" charset="-120"/>
              </a:rPr>
              <a:t> </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Two confident but wrong results (a 500 called "correct", mixed-up coupons). Running them against the real API exposed both.</a:t>
            </a:r>
            <a:endParaRPr lang="en-US" sz="1500" dirty="0"/>
          </a:p>
        </p:txBody>
      </p:sp>
      <p:sp>
        <p:nvSpPr>
          <p:cNvPr id="9" name="Text 5"/>
          <p:cNvSpPr txBox="1"/>
          <p:nvPr/>
        </p:nvSpPr>
        <p:spPr>
          <a:xfrm>
            <a:off x="3250692" y="1337310"/>
            <a:ext cx="2640330" cy="2331720"/>
          </a:xfrm>
          <a:prstGeom prst="rect">
            <a:avLst/>
          </a:prstGeom>
          <a:noFill/>
          <a:ln/>
        </p:spPr>
        <p:txBody>
          <a:bodyPr wrap="square" lIns="114300" tIns="114300" rIns="114300" bIns="114300" rtlCol="0" anchor="t"/>
          <a:lstStyle/>
          <a:p>
            <a:pPr indent="0" marL="0">
              <a:buNone/>
            </a:pPr>
            <a:r>
              <a:rPr lang="en-US" sz="1500" b="1" dirty="0">
                <a:solidFill>
                  <a:srgbClr val="2F5FD0"/>
                </a:solidFill>
                <a:latin typeface="Arial" pitchFamily="34" charset="0"/>
                <a:ea typeface="Arial" pitchFamily="34" charset="-122"/>
                <a:cs typeface="Arial" pitchFamily="34" charset="-120"/>
              </a:rPr>
              <a:t>A better harness handles timing</a:t>
            </a:r>
            <a:endParaRPr lang="en-US" sz="1500" dirty="0"/>
          </a:p>
          <a:p>
            <a:pPr indent="0" marL="0">
              <a:buNone/>
            </a:pPr>
            <a:r>
              <a:rPr lang="en-US" sz="450" dirty="0">
                <a:solidFill>
                  <a:srgbClr val="1C1F26"/>
                </a:solidFill>
                <a:latin typeface="Arial" pitchFamily="34" charset="0"/>
                <a:ea typeface="Arial" pitchFamily="34" charset="-122"/>
                <a:cs typeface="Arial" pitchFamily="34" charset="-120"/>
              </a:rPr>
              <a:t> </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The race condition needs "twenty requests at once". Add that to the test format and it becomes testable.</a:t>
            </a:r>
            <a:endParaRPr lang="en-US" sz="1500" dirty="0"/>
          </a:p>
        </p:txBody>
      </p:sp>
      <p:sp>
        <p:nvSpPr>
          <p:cNvPr id="10" name="Text 6"/>
          <p:cNvSpPr txBox="1"/>
          <p:nvPr/>
        </p:nvSpPr>
        <p:spPr>
          <a:xfrm>
            <a:off x="6089904" y="1337310"/>
            <a:ext cx="2640330" cy="2331720"/>
          </a:xfrm>
          <a:prstGeom prst="rect">
            <a:avLst/>
          </a:prstGeom>
          <a:noFill/>
          <a:ln/>
        </p:spPr>
        <p:txBody>
          <a:bodyPr wrap="square" lIns="114300" tIns="114300" rIns="114300" bIns="114300" rtlCol="0" anchor="t"/>
          <a:lstStyle/>
          <a:p>
            <a:pPr indent="0" marL="0">
              <a:buNone/>
            </a:pPr>
            <a:r>
              <a:rPr lang="en-US" sz="1500" b="1" dirty="0">
                <a:solidFill>
                  <a:srgbClr val="6B4CC9"/>
                </a:solidFill>
                <a:latin typeface="Arial" pitchFamily="34" charset="0"/>
                <a:ea typeface="Arial" pitchFamily="34" charset="-122"/>
                <a:cs typeface="Arial" pitchFamily="34" charset="-120"/>
              </a:rPr>
              <a:t>Written rules become testable</a:t>
            </a:r>
            <a:endParaRPr lang="en-US" sz="1500" dirty="0"/>
          </a:p>
          <a:p>
            <a:pPr indent="0" marL="0">
              <a:buNone/>
            </a:pPr>
            <a:r>
              <a:rPr lang="en-US" sz="450" dirty="0">
                <a:solidFill>
                  <a:srgbClr val="1C1F26"/>
                </a:solidFill>
                <a:latin typeface="Arial" pitchFamily="34" charset="0"/>
                <a:ea typeface="Arial" pitchFamily="34" charset="-122"/>
                <a:cs typeface="Arial" pitchFamily="34" charset="-120"/>
              </a:rPr>
              <a:t> </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The student-pricing rule lived only in a document. Write it into the API docs and the AI can test it too.</a:t>
            </a:r>
            <a:endParaRPr lang="en-US" sz="1500" dirty="0"/>
          </a:p>
        </p:txBody>
      </p:sp>
      <p:sp>
        <p:nvSpPr>
          <p:cNvPr id="11" name="Text 7"/>
          <p:cNvSpPr txBox="1"/>
          <p:nvPr/>
        </p:nvSpPr>
        <p:spPr>
          <a:xfrm>
            <a:off x="411480" y="3874770"/>
            <a:ext cx="8320857" cy="582930"/>
          </a:xfrm>
          <a:prstGeom prst="rect">
            <a:avLst/>
          </a:prstGeom>
          <a:noFill/>
          <a:ln/>
        </p:spPr>
        <p:txBody>
          <a:bodyPr wrap="square" lIns="114300" tIns="114300" rIns="114300" bIns="114300" rtlCol="0" anchor="ctr"/>
          <a:lstStyle/>
          <a:p>
            <a:pPr algn="ctr" indent="0" marL="0">
              <a:buNone/>
            </a:pPr>
            <a:r>
              <a:rPr lang="en-US" sz="1575" b="1" dirty="0">
                <a:solidFill>
                  <a:srgbClr val="1C1F26"/>
                </a:solidFill>
                <a:latin typeface="Arial" pitchFamily="34" charset="0"/>
                <a:ea typeface="Arial" pitchFamily="34" charset="-122"/>
                <a:cs typeface="Arial" pitchFamily="34" charset="-120"/>
              </a:rPr>
              <a:t>The money loop needed business knowledge: a human connected the two bugs.</a:t>
            </a:r>
            <a:endParaRPr lang="en-US" sz="15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3" name="Image 0" descr="bg/bg-21.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5" name="Text 1"/>
          <p:cNvSpPr txBox="1"/>
          <p:nvPr/>
        </p:nvSpPr>
        <p:spPr>
          <a:xfrm>
            <a:off x="411480" y="308610"/>
            <a:ext cx="6172200" cy="240030"/>
          </a:xfrm>
          <a:prstGeom prst="rect">
            <a:avLst/>
          </a:prstGeom>
          <a:noFill/>
          <a:ln/>
        </p:spPr>
        <p:txBody>
          <a:bodyPr wrap="square" lIns="0" tIns="0" rIns="0" bIns="0" rtlCol="0" anchor="t"/>
          <a:lstStyle/>
          <a:p>
            <a:pPr indent="0" marL="0">
              <a:buNone/>
            </a:pPr>
            <a:r>
              <a:rPr lang="en-US" sz="975" b="1" dirty="0">
                <a:solidFill>
                  <a:srgbClr val="B7791F"/>
                </a:solidFill>
                <a:latin typeface="Courier New" pitchFamily="34" charset="0"/>
                <a:ea typeface="Courier New" pitchFamily="34" charset="-122"/>
                <a:cs typeface="Courier New" pitchFamily="34" charset="-120"/>
              </a:rPr>
              <a:t>THE HONEST NUMBERS</a:t>
            </a:r>
            <a:endParaRPr lang="en-US" sz="975" dirty="0"/>
          </a:p>
        </p:txBody>
      </p:sp>
      <p:sp>
        <p:nvSpPr>
          <p:cNvPr id="6" name="Text 2"/>
          <p:cNvSpPr txBox="1"/>
          <p:nvPr/>
        </p:nvSpPr>
        <p:spPr>
          <a:xfrm>
            <a:off x="411480" y="548640"/>
            <a:ext cx="8320857" cy="582930"/>
          </a:xfrm>
          <a:prstGeom prst="rect">
            <a:avLst/>
          </a:prstGeom>
          <a:noFill/>
          <a:ln/>
        </p:spPr>
        <p:txBody>
          <a:bodyPr wrap="square" lIns="0" tIns="0" rIns="0" bIns="0" rtlCol="0" anchor="t"/>
          <a:lstStyle/>
          <a:p>
            <a:pPr indent="0" marL="0">
              <a:buNone/>
            </a:pPr>
            <a:r>
              <a:rPr lang="en-US" sz="2400" b="1" dirty="0">
                <a:solidFill>
                  <a:srgbClr val="1C1F26"/>
                </a:solidFill>
                <a:latin typeface="Arial" pitchFamily="34" charset="0"/>
                <a:ea typeface="Arial" pitchFamily="34" charset="-122"/>
                <a:cs typeface="Arial" pitchFamily="34" charset="-120"/>
              </a:rPr>
              <a:t>Real run: qwen2.5-coder:7b, local, unedited</a:t>
            </a:r>
            <a:endParaRPr lang="en-US" sz="2400" dirty="0"/>
          </a:p>
        </p:txBody>
      </p:sp>
      <p:sp>
        <p:nvSpPr>
          <p:cNvPr id="7" name="Text 3"/>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21</a:t>
            </a:r>
            <a:endParaRPr lang="en-US" sz="825" dirty="0"/>
          </a:p>
        </p:txBody>
      </p:sp>
      <p:sp>
        <p:nvSpPr>
          <p:cNvPr id="8" name="Text 4"/>
          <p:cNvSpPr txBox="1"/>
          <p:nvPr/>
        </p:nvSpPr>
        <p:spPr>
          <a:xfrm>
            <a:off x="411480" y="1303020"/>
            <a:ext cx="1988820" cy="1577340"/>
          </a:xfrm>
          <a:prstGeom prst="rect">
            <a:avLst/>
          </a:prstGeom>
          <a:noFill/>
          <a:ln/>
        </p:spPr>
        <p:txBody>
          <a:bodyPr wrap="square" lIns="114300" tIns="114300" rIns="114300" bIns="114300" rtlCol="0" anchor="ctr"/>
          <a:lstStyle/>
          <a:p>
            <a:pPr algn="ctr" indent="0" marL="0">
              <a:buNone/>
            </a:pPr>
            <a:r>
              <a:rPr lang="en-US" sz="4500" b="1" dirty="0">
                <a:solidFill>
                  <a:srgbClr val="1C1F26"/>
                </a:solidFill>
                <a:latin typeface="Arial" pitchFamily="34" charset="0"/>
                <a:ea typeface="Arial" pitchFamily="34" charset="-122"/>
                <a:cs typeface="Arial" pitchFamily="34" charset="-120"/>
              </a:rPr>
              <a:t>8</a:t>
            </a:r>
            <a:endParaRPr lang="en-US" sz="4500" dirty="0"/>
          </a:p>
          <a:p>
            <a:pPr algn="ctr" indent="0" marL="0">
              <a:buNone/>
            </a:pPr>
            <a:r>
              <a:rPr lang="en-US" sz="1275" dirty="0">
                <a:solidFill>
                  <a:srgbClr val="4A5063"/>
                </a:solidFill>
                <a:latin typeface="Arial" pitchFamily="34" charset="0"/>
                <a:ea typeface="Arial" pitchFamily="34" charset="-122"/>
                <a:cs typeface="Arial" pitchFamily="34" charset="-120"/>
              </a:rPr>
              <a:t>tests run</a:t>
            </a:r>
            <a:endParaRPr lang="en-US" sz="4500" dirty="0"/>
          </a:p>
        </p:txBody>
      </p:sp>
      <p:sp>
        <p:nvSpPr>
          <p:cNvPr id="9" name="Text 5"/>
          <p:cNvSpPr txBox="1"/>
          <p:nvPr/>
        </p:nvSpPr>
        <p:spPr>
          <a:xfrm>
            <a:off x="2537460" y="1303020"/>
            <a:ext cx="1988820" cy="1577340"/>
          </a:xfrm>
          <a:prstGeom prst="rect">
            <a:avLst/>
          </a:prstGeom>
          <a:noFill/>
          <a:ln/>
        </p:spPr>
        <p:txBody>
          <a:bodyPr wrap="square" lIns="114300" tIns="114300" rIns="114300" bIns="114300" rtlCol="0" anchor="ctr"/>
          <a:lstStyle/>
          <a:p>
            <a:pPr algn="ctr" indent="0" marL="0">
              <a:buNone/>
            </a:pPr>
            <a:r>
              <a:rPr lang="en-US" sz="4500" b="1" dirty="0">
                <a:solidFill>
                  <a:srgbClr val="D93F3F"/>
                </a:solidFill>
                <a:latin typeface="Arial" pitchFamily="34" charset="0"/>
                <a:ea typeface="Arial" pitchFamily="34" charset="-122"/>
                <a:cs typeface="Arial" pitchFamily="34" charset="-120"/>
              </a:rPr>
              <a:t>5</a:t>
            </a:r>
            <a:endParaRPr lang="en-US" sz="4500" dirty="0"/>
          </a:p>
          <a:p>
            <a:pPr algn="ctr" indent="0" marL="0">
              <a:buNone/>
            </a:pPr>
            <a:r>
              <a:rPr lang="en-US" sz="1275" dirty="0">
                <a:solidFill>
                  <a:srgbClr val="4A5063"/>
                </a:solidFill>
                <a:latin typeface="Arial" pitchFamily="34" charset="0"/>
                <a:ea typeface="Arial" pitchFamily="34" charset="-122"/>
                <a:cs typeface="Arial" pitchFamily="34" charset="-120"/>
              </a:rPr>
              <a:t>came back red</a:t>
            </a:r>
            <a:endParaRPr lang="en-US" sz="4500" dirty="0"/>
          </a:p>
        </p:txBody>
      </p:sp>
      <p:sp>
        <p:nvSpPr>
          <p:cNvPr id="10" name="Text 6"/>
          <p:cNvSpPr txBox="1"/>
          <p:nvPr/>
        </p:nvSpPr>
        <p:spPr>
          <a:xfrm>
            <a:off x="4663440" y="1303020"/>
            <a:ext cx="1988820" cy="1577340"/>
          </a:xfrm>
          <a:prstGeom prst="rect">
            <a:avLst/>
          </a:prstGeom>
          <a:noFill/>
          <a:ln/>
        </p:spPr>
        <p:txBody>
          <a:bodyPr wrap="square" lIns="114300" tIns="114300" rIns="114300" bIns="114300" rtlCol="0" anchor="ctr"/>
          <a:lstStyle/>
          <a:p>
            <a:pPr algn="ctr" indent="0" marL="0">
              <a:buNone/>
            </a:pPr>
            <a:r>
              <a:rPr lang="en-US" sz="4500" b="1" dirty="0">
                <a:solidFill>
                  <a:srgbClr val="1E9E62"/>
                </a:solidFill>
                <a:latin typeface="Arial" pitchFamily="34" charset="0"/>
                <a:ea typeface="Arial" pitchFamily="34" charset="-122"/>
                <a:cs typeface="Arial" pitchFamily="34" charset="-120"/>
              </a:rPr>
              <a:t>3</a:t>
            </a:r>
            <a:endParaRPr lang="en-US" sz="4500" dirty="0"/>
          </a:p>
          <a:p>
            <a:pPr algn="ctr" indent="0" marL="0">
              <a:buNone/>
            </a:pPr>
            <a:r>
              <a:rPr lang="en-US" sz="1275" dirty="0">
                <a:solidFill>
                  <a:srgbClr val="4A5063"/>
                </a:solidFill>
                <a:latin typeface="Arial" pitchFamily="34" charset="0"/>
                <a:ea typeface="Arial" pitchFamily="34" charset="-122"/>
                <a:cs typeface="Arial" pitchFamily="34" charset="-120"/>
              </a:rPr>
              <a:t>real bugs</a:t>
            </a:r>
            <a:endParaRPr lang="en-US" sz="4500" dirty="0"/>
          </a:p>
        </p:txBody>
      </p:sp>
      <p:sp>
        <p:nvSpPr>
          <p:cNvPr id="11" name="Text 7"/>
          <p:cNvSpPr txBox="1"/>
          <p:nvPr/>
        </p:nvSpPr>
        <p:spPr>
          <a:xfrm>
            <a:off x="6789420" y="1303020"/>
            <a:ext cx="1988820" cy="1577340"/>
          </a:xfrm>
          <a:prstGeom prst="rect">
            <a:avLst/>
          </a:prstGeom>
          <a:noFill/>
          <a:ln/>
        </p:spPr>
        <p:txBody>
          <a:bodyPr wrap="square" lIns="114300" tIns="114300" rIns="114300" bIns="114300" rtlCol="0" anchor="ctr"/>
          <a:lstStyle/>
          <a:p>
            <a:pPr algn="ctr" indent="0" marL="0">
              <a:buNone/>
            </a:pPr>
            <a:r>
              <a:rPr lang="en-US" sz="4500" b="1" dirty="0">
                <a:solidFill>
                  <a:srgbClr val="B7791F"/>
                </a:solidFill>
                <a:latin typeface="Arial" pitchFamily="34" charset="0"/>
                <a:ea typeface="Arial" pitchFamily="34" charset="-122"/>
                <a:cs typeface="Arial" pitchFamily="34" charset="-120"/>
              </a:rPr>
              <a:t>2</a:t>
            </a:r>
            <a:endParaRPr lang="en-US" sz="4500" dirty="0"/>
          </a:p>
          <a:p>
            <a:pPr algn="ctr" indent="0" marL="0">
              <a:buNone/>
            </a:pPr>
            <a:r>
              <a:rPr lang="en-US" sz="1275" dirty="0">
                <a:solidFill>
                  <a:srgbClr val="4A5063"/>
                </a:solidFill>
                <a:latin typeface="Arial" pitchFamily="34" charset="0"/>
                <a:ea typeface="Arial" pitchFamily="34" charset="-122"/>
                <a:cs typeface="Arial" pitchFamily="34" charset="-120"/>
              </a:rPr>
              <a:t>false alarms</a:t>
            </a:r>
            <a:endParaRPr lang="en-US" sz="4500" dirty="0"/>
          </a:p>
        </p:txBody>
      </p:sp>
      <p:sp>
        <p:nvSpPr>
          <p:cNvPr id="12" name="Text 8"/>
          <p:cNvSpPr txBox="1"/>
          <p:nvPr/>
        </p:nvSpPr>
        <p:spPr>
          <a:xfrm>
            <a:off x="411480" y="3017520"/>
            <a:ext cx="8320857" cy="1645920"/>
          </a:xfrm>
          <a:prstGeom prst="rect">
            <a:avLst/>
          </a:prstGeom>
          <a:noFill/>
          <a:ln/>
        </p:spPr>
        <p:txBody>
          <a:bodyPr wrap="square" lIns="0" tIns="0" rIns="0" bIns="0" rtlCol="0" anchor="t"/>
          <a:lstStyle/>
          <a:p>
            <a:pPr marL="215900" indent="-215900">
              <a:spcAft>
                <a:spcPts val="750"/>
              </a:spcAft>
              <a:buSzPct val="100000"/>
              <a:buChar char="•"/>
            </a:pPr>
            <a:r>
              <a:rPr lang="en-US" sz="1275" b="1" dirty="0">
                <a:solidFill>
                  <a:srgbClr val="1C1F26"/>
                </a:solidFill>
                <a:latin typeface="Arial" pitchFamily="34" charset="0"/>
                <a:ea typeface="Arial" pitchFamily="34" charset="-122"/>
                <a:cs typeface="Arial" pitchFamily="34" charset="-120"/>
              </a:rPr>
              <a:t>0</a:t>
            </a:r>
            <a:pPr indent="0" marL="0">
              <a:spcAft>
                <a:spcPts val="750"/>
              </a:spcAft>
              <a:buNone/>
            </a:pPr>
            <a:r>
              <a:rPr lang="en-US" sz="1275" dirty="0">
                <a:solidFill>
                  <a:srgbClr val="4A5063"/>
                </a:solidFill>
                <a:latin typeface="Arial" pitchFamily="34" charset="0"/>
                <a:ea typeface="Arial" pitchFamily="34" charset="-122"/>
                <a:cs typeface="Arial" pitchFamily="34" charset="-120"/>
              </a:rPr>
              <a:t> findings on the money bugs</a:t>
            </a:r>
            <a:endParaRPr lang="en-US" sz="1275" dirty="0"/>
          </a:p>
          <a:p>
            <a:pPr marL="215900" indent="-215900">
              <a:spcAft>
                <a:spcPts val="750"/>
              </a:spcAft>
              <a:buSzPct val="100000"/>
              <a:buChar char="•"/>
            </a:pPr>
            <a:r>
              <a:rPr lang="en-US" sz="1275" b="1" dirty="0">
                <a:solidFill>
                  <a:srgbClr val="1C1F26"/>
                </a:solidFill>
                <a:latin typeface="Arial" pitchFamily="34" charset="0"/>
                <a:ea typeface="Arial" pitchFamily="34" charset="-122"/>
                <a:cs typeface="Arial" pitchFamily="34" charset="-120"/>
              </a:rPr>
              <a:t>1</a:t>
            </a:r>
            <a:pPr indent="0" marL="0">
              <a:spcAft>
                <a:spcPts val="750"/>
              </a:spcAft>
              <a:buNone/>
            </a:pPr>
            <a:r>
              <a:rPr lang="en-US" sz="1275" dirty="0">
                <a:solidFill>
                  <a:srgbClr val="4A5063"/>
                </a:solidFill>
                <a:latin typeface="Arial" pitchFamily="34" charset="0"/>
                <a:ea typeface="Arial" pitchFamily="34" charset="-122"/>
                <a:cs typeface="Arial" pitchFamily="34" charset="-120"/>
              </a:rPr>
              <a:t> case rejected as malformed before running</a:t>
            </a:r>
            <a:endParaRPr lang="en-US" sz="1275" dirty="0"/>
          </a:p>
          <a:p>
            <a:pPr marL="215900" indent="-215900">
              <a:spcAft>
                <a:spcPts val="750"/>
              </a:spcAft>
              <a:buSzPct val="100000"/>
              <a:buChar char="•"/>
            </a:pPr>
            <a:r>
              <a:rPr lang="en-US" sz="1275" b="1" dirty="0">
                <a:solidFill>
                  <a:srgbClr val="1C1F26"/>
                </a:solidFill>
                <a:latin typeface="Arial" pitchFamily="34" charset="0"/>
                <a:ea typeface="Arial" pitchFamily="34" charset="-122"/>
                <a:cs typeface="Arial" pitchFamily="34" charset="-120"/>
              </a:rPr>
              <a:t>91 seconds</a:t>
            </a:r>
            <a:pPr indent="0" marL="0">
              <a:spcAft>
                <a:spcPts val="750"/>
              </a:spcAft>
              <a:buNone/>
            </a:pPr>
            <a:r>
              <a:rPr lang="en-US" sz="1275" dirty="0">
                <a:solidFill>
                  <a:srgbClr val="4A5063"/>
                </a:solidFill>
                <a:latin typeface="Arial" pitchFamily="34" charset="0"/>
                <a:ea typeface="Arial" pitchFamily="34" charset="-122"/>
                <a:cs typeface="Arial" pitchFamily="34" charset="-120"/>
              </a:rPr>
              <a:t> to generate on a laptop</a:t>
            </a:r>
            <a:endParaRPr lang="en-US" sz="1275" dirty="0"/>
          </a:p>
          <a:p>
            <a:pPr marL="215900" indent="-215900">
              <a:spcAft>
                <a:spcPts val="750"/>
              </a:spcAft>
              <a:buSzPct val="100000"/>
              <a:buChar char="•"/>
            </a:pPr>
            <a:r>
              <a:rPr lang="en-US" sz="1275" b="1" dirty="0">
                <a:solidFill>
                  <a:srgbClr val="1C1F26"/>
                </a:solidFill>
                <a:latin typeface="Arial" pitchFamily="34" charset="0"/>
                <a:ea typeface="Arial" pitchFamily="34" charset="-122"/>
                <a:cs typeface="Arial" pitchFamily="34" charset="-120"/>
              </a:rPr>
              <a:t>60%</a:t>
            </a:r>
            <a:pPr indent="0" marL="0">
              <a:spcAft>
                <a:spcPts val="750"/>
              </a:spcAft>
              <a:buNone/>
            </a:pPr>
            <a:r>
              <a:rPr lang="en-US" sz="1275" dirty="0">
                <a:solidFill>
                  <a:srgbClr val="4A5063"/>
                </a:solidFill>
                <a:latin typeface="Arial" pitchFamily="34" charset="0"/>
                <a:ea typeface="Arial" pitchFamily="34" charset="-122"/>
                <a:cs typeface="Arial" pitchFamily="34" charset="-120"/>
              </a:rPr>
              <a:t> of red lines were real bugs (3 of 5)</a:t>
            </a:r>
            <a:endParaRPr lang="en-US" sz="1275" dirty="0"/>
          </a:p>
          <a:p>
            <a:pPr marL="215900" indent="-215900">
              <a:spcAft>
                <a:spcPts val="750"/>
              </a:spcAft>
              <a:buSzPct val="100000"/>
              <a:buChar char="•"/>
            </a:pPr>
            <a:r>
              <a:rPr lang="en-US" sz="1275" b="1" dirty="0">
                <a:solidFill>
                  <a:srgbClr val="1C1F26"/>
                </a:solidFill>
                <a:latin typeface="Arial" pitchFamily="34" charset="0"/>
                <a:ea typeface="Arial" pitchFamily="34" charset="-122"/>
                <a:cs typeface="Arial" pitchFamily="34" charset="-120"/>
              </a:rPr>
              <a:t>2nd prompt (input checks):</a:t>
            </a:r>
            <a:pPr indent="0" marL="0">
              <a:spcAft>
                <a:spcPts val="750"/>
              </a:spcAft>
              <a:buNone/>
            </a:pPr>
            <a:r>
              <a:rPr lang="en-US" sz="1275" dirty="0">
                <a:solidFill>
                  <a:srgbClr val="4A5063"/>
                </a:solidFill>
                <a:latin typeface="Arial" pitchFamily="34" charset="0"/>
                <a:ea typeface="Arial" pitchFamily="34" charset="-122"/>
                <a:cs typeface="Arial" pitchFamily="34" charset="-120"/>
              </a:rPr>
              <a:t> 10 more tests. 8 confirmed the API rejects bad input types, 2 arguable, 0 new bugs.</a:t>
            </a:r>
            <a:endParaRPr lang="en-US" sz="127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3" name="Image 0" descr="bg/bg-22.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5" name="Text 1"/>
          <p:cNvSpPr txBox="1"/>
          <p:nvPr/>
        </p:nvSpPr>
        <p:spPr>
          <a:xfrm>
            <a:off x="411480" y="308610"/>
            <a:ext cx="6172200" cy="240030"/>
          </a:xfrm>
          <a:prstGeom prst="rect">
            <a:avLst/>
          </a:prstGeom>
          <a:noFill/>
          <a:ln/>
        </p:spPr>
        <p:txBody>
          <a:bodyPr wrap="square" lIns="0" tIns="0" rIns="0" bIns="0" rtlCol="0" anchor="t"/>
          <a:lstStyle/>
          <a:p>
            <a:pPr indent="0" marL="0">
              <a:buNone/>
            </a:pPr>
            <a:r>
              <a:rPr lang="en-US" sz="975" b="1" dirty="0">
                <a:solidFill>
                  <a:srgbClr val="B7791F"/>
                </a:solidFill>
                <a:latin typeface="Courier New" pitchFamily="34" charset="0"/>
                <a:ea typeface="Courier New" pitchFamily="34" charset="-122"/>
                <a:cs typeface="Courier New" pitchFamily="34" charset="-120"/>
              </a:rPr>
              <a:t>SO, CAN AI FIND THE BUGS I FORGOT TO TEST?</a:t>
            </a:r>
            <a:endParaRPr lang="en-US" sz="975" dirty="0"/>
          </a:p>
        </p:txBody>
      </p:sp>
      <p:sp>
        <p:nvSpPr>
          <p:cNvPr id="6" name="Text 2"/>
          <p:cNvSpPr txBox="1"/>
          <p:nvPr/>
        </p:nvSpPr>
        <p:spPr>
          <a:xfrm>
            <a:off x="411480" y="548640"/>
            <a:ext cx="8320857" cy="582930"/>
          </a:xfrm>
          <a:prstGeom prst="rect">
            <a:avLst/>
          </a:prstGeom>
          <a:noFill/>
          <a:ln/>
        </p:spPr>
        <p:txBody>
          <a:bodyPr wrap="square" lIns="0" tIns="0" rIns="0" bIns="0" rtlCol="0" anchor="t"/>
          <a:lstStyle/>
          <a:p>
            <a:pPr indent="0" marL="0">
              <a:buNone/>
            </a:pPr>
            <a:r>
              <a:rPr lang="en-US" sz="2400" b="1" dirty="0">
                <a:solidFill>
                  <a:srgbClr val="1C1F26"/>
                </a:solidFill>
                <a:latin typeface="Arial" pitchFamily="34" charset="0"/>
                <a:ea typeface="Arial" pitchFamily="34" charset="-122"/>
                <a:cs typeface="Arial" pitchFamily="34" charset="-120"/>
              </a:rPr>
              <a:t>AI + engineering: fast, useful, trustworthy.</a:t>
            </a:r>
            <a:endParaRPr lang="en-US" sz="2400" dirty="0"/>
          </a:p>
        </p:txBody>
      </p:sp>
      <p:sp>
        <p:nvSpPr>
          <p:cNvPr id="7" name="Text 3"/>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22</a:t>
            </a:r>
            <a:endParaRPr lang="en-US" sz="825" dirty="0"/>
          </a:p>
        </p:txBody>
      </p:sp>
      <p:sp>
        <p:nvSpPr>
          <p:cNvPr id="8" name="Text 4"/>
          <p:cNvSpPr txBox="1"/>
          <p:nvPr/>
        </p:nvSpPr>
        <p:spPr>
          <a:xfrm>
            <a:off x="411480" y="1337310"/>
            <a:ext cx="4094226" cy="3086100"/>
          </a:xfrm>
          <a:prstGeom prst="rect">
            <a:avLst/>
          </a:prstGeom>
          <a:noFill/>
          <a:ln/>
        </p:spPr>
        <p:txBody>
          <a:bodyPr wrap="square" lIns="114300" tIns="114300" rIns="114300" bIns="114300" rtlCol="0" anchor="t"/>
          <a:lstStyle/>
          <a:p>
            <a:pPr indent="0" marL="0">
              <a:buNone/>
            </a:pPr>
            <a:r>
              <a:rPr lang="en-US" sz="1500" b="1" dirty="0">
                <a:solidFill>
                  <a:srgbClr val="1E9E62"/>
                </a:solidFill>
                <a:latin typeface="Arial" pitchFamily="34" charset="0"/>
                <a:ea typeface="Arial" pitchFamily="34" charset="-122"/>
                <a:cs typeface="Arial" pitchFamily="34" charset="-120"/>
              </a:rPr>
              <a:t>What the AI brought</a:t>
            </a:r>
            <a:endParaRPr lang="en-US" sz="1500" dirty="0"/>
          </a:p>
          <a:p>
            <a:pPr indent="0" marL="0">
              <a:buNone/>
            </a:pPr>
            <a:r>
              <a:rPr lang="en-US" sz="450" dirty="0">
                <a:solidFill>
                  <a:srgbClr val="1C1F26"/>
                </a:solidFill>
                <a:latin typeface="Arial" pitchFamily="34" charset="0"/>
                <a:ea typeface="Arial" pitchFamily="34" charset="-122"/>
                <a:cs typeface="Arial" pitchFamily="34" charset="-120"/>
              </a:rPr>
              <a:t> </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 3 real bugs my own tests missed</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 Attack ideas in about 90 seconds</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 Common attacks: fake tokens, other users' data, crashes</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 Checks that confirm the basics work</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 A reason for every test</a:t>
            </a:r>
            <a:endParaRPr lang="en-US" sz="1500" dirty="0"/>
          </a:p>
        </p:txBody>
      </p:sp>
      <p:sp>
        <p:nvSpPr>
          <p:cNvPr id="9" name="Text 5"/>
          <p:cNvSpPr txBox="1"/>
          <p:nvPr/>
        </p:nvSpPr>
        <p:spPr>
          <a:xfrm>
            <a:off x="4636008" y="1337310"/>
            <a:ext cx="4094226" cy="3086100"/>
          </a:xfrm>
          <a:prstGeom prst="rect">
            <a:avLst/>
          </a:prstGeom>
          <a:noFill/>
          <a:ln/>
        </p:spPr>
        <p:txBody>
          <a:bodyPr wrap="square" lIns="114300" tIns="114300" rIns="114300" bIns="114300" rtlCol="0" anchor="t"/>
          <a:lstStyle/>
          <a:p>
            <a:pPr indent="0" marL="0">
              <a:buNone/>
            </a:pPr>
            <a:r>
              <a:rPr lang="en-US" sz="1500" b="1" dirty="0">
                <a:solidFill>
                  <a:srgbClr val="2F5FD0"/>
                </a:solidFill>
                <a:latin typeface="Arial" pitchFamily="34" charset="0"/>
                <a:ea typeface="Arial" pitchFamily="34" charset="-122"/>
                <a:cs typeface="Arial" pitchFamily="34" charset="-120"/>
              </a:rPr>
              <a:t>What engineering + people brought</a:t>
            </a:r>
            <a:endParaRPr lang="en-US" sz="1500" dirty="0"/>
          </a:p>
          <a:p>
            <a:pPr indent="0" marL="0">
              <a:buNone/>
            </a:pPr>
            <a:r>
              <a:rPr lang="en-US" sz="450" dirty="0">
                <a:solidFill>
                  <a:srgbClr val="1C1F26"/>
                </a:solidFill>
                <a:latin typeface="Arial" pitchFamily="34" charset="0"/>
                <a:ea typeface="Arial" pitchFamily="34" charset="-122"/>
                <a:cs typeface="Arial" pitchFamily="34" charset="-120"/>
              </a:rPr>
              <a:t> </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 Structured output so ideas can run</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 Automatic rejection of broken output</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 Real evidence from the real API</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 Judgement on what "correct" means</a:t>
            </a:r>
            <a:endParaRPr lang="en-US" sz="1500" dirty="0"/>
          </a:p>
          <a:p>
            <a:pPr indent="0" marL="0">
              <a:buNone/>
            </a:pPr>
            <a:r>
              <a:rPr lang="en-US" sz="1275" dirty="0">
                <a:solidFill>
                  <a:srgbClr val="4A5063"/>
                </a:solidFill>
                <a:latin typeface="Arial" pitchFamily="34" charset="0"/>
                <a:ea typeface="Arial" pitchFamily="34" charset="-122"/>
                <a:cs typeface="Arial" pitchFamily="34" charset="-120"/>
              </a:rPr>
              <a:t>• Business knowledge: the money loop</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3" name="Image 0" descr="bg/bg-23.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5" name="Text 1"/>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23</a:t>
            </a:r>
            <a:endParaRPr lang="en-US" sz="825" dirty="0"/>
          </a:p>
        </p:txBody>
      </p:sp>
      <p:sp>
        <p:nvSpPr>
          <p:cNvPr id="6" name="Text 2"/>
          <p:cNvSpPr txBox="1"/>
          <p:nvPr/>
        </p:nvSpPr>
        <p:spPr>
          <a:xfrm>
            <a:off x="617220" y="1097280"/>
            <a:ext cx="8229600" cy="754380"/>
          </a:xfrm>
          <a:prstGeom prst="rect">
            <a:avLst/>
          </a:prstGeom>
          <a:noFill/>
          <a:ln/>
        </p:spPr>
        <p:txBody>
          <a:bodyPr wrap="square" lIns="0" tIns="0" rIns="0" bIns="0" rtlCol="0" anchor="t"/>
          <a:lstStyle/>
          <a:p>
            <a:pPr indent="0" marL="0">
              <a:buNone/>
            </a:pPr>
            <a:r>
              <a:rPr lang="en-US" sz="3600" b="1" dirty="0">
                <a:solidFill>
                  <a:srgbClr val="1C1F26"/>
                </a:solidFill>
                <a:latin typeface="Arial" pitchFamily="34" charset="0"/>
                <a:ea typeface="Arial" pitchFamily="34" charset="-122"/>
                <a:cs typeface="Arial" pitchFamily="34" charset="-120"/>
              </a:rPr>
              <a:t>AI generates hypotheses.</a:t>
            </a:r>
            <a:endParaRPr lang="en-US" sz="3600" dirty="0"/>
          </a:p>
        </p:txBody>
      </p:sp>
      <p:sp>
        <p:nvSpPr>
          <p:cNvPr id="7" name="Text 3"/>
          <p:cNvSpPr txBox="1"/>
          <p:nvPr/>
        </p:nvSpPr>
        <p:spPr>
          <a:xfrm>
            <a:off x="617220" y="1988820"/>
            <a:ext cx="8229600" cy="754380"/>
          </a:xfrm>
          <a:prstGeom prst="rect">
            <a:avLst/>
          </a:prstGeom>
          <a:noFill/>
          <a:ln/>
        </p:spPr>
        <p:txBody>
          <a:bodyPr wrap="square" lIns="0" tIns="0" rIns="0" bIns="0" rtlCol="0" anchor="t"/>
          <a:lstStyle/>
          <a:p>
            <a:pPr indent="0" marL="0">
              <a:buNone/>
            </a:pPr>
            <a:r>
              <a:rPr lang="en-US" sz="3600" b="1" dirty="0">
                <a:solidFill>
                  <a:srgbClr val="1C1F26"/>
                </a:solidFill>
                <a:latin typeface="Arial" pitchFamily="34" charset="0"/>
                <a:ea typeface="Arial" pitchFamily="34" charset="-122"/>
                <a:cs typeface="Arial" pitchFamily="34" charset="-120"/>
              </a:rPr>
              <a:t>Execution provides evidence.</a:t>
            </a:r>
            <a:endParaRPr lang="en-US" sz="3600" dirty="0"/>
          </a:p>
        </p:txBody>
      </p:sp>
      <p:sp>
        <p:nvSpPr>
          <p:cNvPr id="8" name="Text 4"/>
          <p:cNvSpPr txBox="1"/>
          <p:nvPr/>
        </p:nvSpPr>
        <p:spPr>
          <a:xfrm>
            <a:off x="617220" y="2880360"/>
            <a:ext cx="8229600" cy="754380"/>
          </a:xfrm>
          <a:prstGeom prst="rect">
            <a:avLst/>
          </a:prstGeom>
          <a:noFill/>
          <a:ln/>
        </p:spPr>
        <p:txBody>
          <a:bodyPr wrap="square" lIns="0" tIns="0" rIns="0" bIns="0" rtlCol="0" anchor="t"/>
          <a:lstStyle/>
          <a:p>
            <a:pPr indent="0" marL="0">
              <a:buNone/>
            </a:pPr>
            <a:r>
              <a:rPr lang="en-US" sz="3600" b="1" dirty="0">
                <a:solidFill>
                  <a:srgbClr val="D93F3F"/>
                </a:solidFill>
                <a:latin typeface="Arial" pitchFamily="34" charset="0"/>
                <a:ea typeface="Arial" pitchFamily="34" charset="-122"/>
                <a:cs typeface="Arial" pitchFamily="34" charset="-120"/>
              </a:rPr>
              <a:t>Humans decide what is a defect.</a:t>
            </a:r>
            <a:endParaRPr lang="en-US" sz="3600" dirty="0"/>
          </a:p>
        </p:txBody>
      </p:sp>
      <p:sp>
        <p:nvSpPr>
          <p:cNvPr id="9" name="Text 5"/>
          <p:cNvSpPr txBox="1"/>
          <p:nvPr/>
        </p:nvSpPr>
        <p:spPr>
          <a:xfrm>
            <a:off x="617220" y="3943350"/>
            <a:ext cx="8229600" cy="411480"/>
          </a:xfrm>
          <a:prstGeom prst="rect">
            <a:avLst/>
          </a:prstGeom>
          <a:noFill/>
          <a:ln/>
        </p:spPr>
        <p:txBody>
          <a:bodyPr wrap="square" lIns="0" tIns="0" rIns="0" bIns="0" rtlCol="0" anchor="t"/>
          <a:lstStyle/>
          <a:p>
            <a:pPr indent="0" marL="0">
              <a:buNone/>
            </a:pPr>
            <a:r>
              <a:rPr lang="en-US" sz="1650" dirty="0">
                <a:solidFill>
                  <a:srgbClr val="4A5063"/>
                </a:solidFill>
                <a:latin typeface="Arial" pitchFamily="34" charset="0"/>
                <a:ea typeface="Arial" pitchFamily="34" charset="-122"/>
                <a:cs typeface="Arial" pitchFamily="34" charset="-120"/>
              </a:rPr>
              <a:t>The prompt is the easy part. The engineering around it makes AI useful.</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3" name="Image 0" descr="bg/bg-24.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5" name="Text 1"/>
          <p:cNvSpPr txBox="1"/>
          <p:nvPr/>
        </p:nvSpPr>
        <p:spPr>
          <a:xfrm>
            <a:off x="411480" y="308610"/>
            <a:ext cx="6172200" cy="240030"/>
          </a:xfrm>
          <a:prstGeom prst="rect">
            <a:avLst/>
          </a:prstGeom>
          <a:noFill/>
          <a:ln/>
        </p:spPr>
        <p:txBody>
          <a:bodyPr wrap="square" lIns="0" tIns="0" rIns="0" bIns="0" rtlCol="0" anchor="t"/>
          <a:lstStyle/>
          <a:p>
            <a:pPr indent="0" marL="0">
              <a:buNone/>
            </a:pPr>
            <a:r>
              <a:rPr lang="en-US" sz="975" b="1" dirty="0">
                <a:solidFill>
                  <a:srgbClr val="B7791F"/>
                </a:solidFill>
                <a:latin typeface="Courier New" pitchFamily="34" charset="0"/>
                <a:ea typeface="Courier New" pitchFamily="34" charset="-122"/>
                <a:cs typeface="Courier New" pitchFamily="34" charset="-120"/>
              </a:rPr>
              <a:t>TRY IT ON MONDAY</a:t>
            </a:r>
            <a:endParaRPr lang="en-US" sz="975" dirty="0"/>
          </a:p>
        </p:txBody>
      </p:sp>
      <p:sp>
        <p:nvSpPr>
          <p:cNvPr id="6" name="Text 2"/>
          <p:cNvSpPr txBox="1"/>
          <p:nvPr/>
        </p:nvSpPr>
        <p:spPr>
          <a:xfrm>
            <a:off x="411480" y="548640"/>
            <a:ext cx="8320857" cy="582930"/>
          </a:xfrm>
          <a:prstGeom prst="rect">
            <a:avLst/>
          </a:prstGeom>
          <a:noFill/>
          <a:ln/>
        </p:spPr>
        <p:txBody>
          <a:bodyPr wrap="square" lIns="0" tIns="0" rIns="0" bIns="0" rtlCol="0" anchor="t"/>
          <a:lstStyle/>
          <a:p>
            <a:pPr indent="0" marL="0">
              <a:buNone/>
            </a:pPr>
            <a:r>
              <a:rPr lang="en-US" sz="2400" b="1" dirty="0">
                <a:solidFill>
                  <a:srgbClr val="1C1F26"/>
                </a:solidFill>
                <a:latin typeface="Arial" pitchFamily="34" charset="0"/>
                <a:ea typeface="Arial" pitchFamily="34" charset="-122"/>
                <a:cs typeface="Arial" pitchFamily="34" charset="-120"/>
              </a:rPr>
              <a:t>Four things you can do at work</a:t>
            </a:r>
            <a:endParaRPr lang="en-US" sz="2400" dirty="0"/>
          </a:p>
        </p:txBody>
      </p:sp>
      <p:sp>
        <p:nvSpPr>
          <p:cNvPr id="7" name="Text 3"/>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24</a:t>
            </a:r>
            <a:endParaRPr lang="en-US" sz="825" dirty="0"/>
          </a:p>
        </p:txBody>
      </p:sp>
      <p:sp>
        <p:nvSpPr>
          <p:cNvPr id="8" name="Text 4"/>
          <p:cNvSpPr txBox="1"/>
          <p:nvPr/>
        </p:nvSpPr>
        <p:spPr>
          <a:xfrm>
            <a:off x="411480" y="1303020"/>
            <a:ext cx="651510" cy="685800"/>
          </a:xfrm>
          <a:prstGeom prst="rect">
            <a:avLst/>
          </a:prstGeom>
          <a:noFill/>
          <a:ln/>
        </p:spPr>
        <p:txBody>
          <a:bodyPr wrap="square" lIns="0" tIns="0" rIns="0" bIns="0" rtlCol="0" anchor="ctr"/>
          <a:lstStyle/>
          <a:p>
            <a:pPr algn="ctr" indent="0" marL="0">
              <a:buNone/>
            </a:pPr>
            <a:r>
              <a:rPr lang="en-US" sz="1950" b="1" dirty="0">
                <a:solidFill>
                  <a:srgbClr val="FFFFFF"/>
                </a:solidFill>
                <a:latin typeface="Arial" pitchFamily="34" charset="0"/>
                <a:ea typeface="Arial" pitchFamily="34" charset="-122"/>
                <a:cs typeface="Arial" pitchFamily="34" charset="-120"/>
              </a:rPr>
              <a:t>1</a:t>
            </a:r>
            <a:endParaRPr lang="en-US" sz="1950" dirty="0"/>
          </a:p>
        </p:txBody>
      </p:sp>
      <p:sp>
        <p:nvSpPr>
          <p:cNvPr id="9" name="Text 5"/>
          <p:cNvSpPr txBox="1"/>
          <p:nvPr/>
        </p:nvSpPr>
        <p:spPr>
          <a:xfrm>
            <a:off x="1200150" y="1303020"/>
            <a:ext cx="7532096" cy="685800"/>
          </a:xfrm>
          <a:prstGeom prst="rect">
            <a:avLst/>
          </a:prstGeom>
          <a:noFill/>
          <a:ln/>
        </p:spPr>
        <p:txBody>
          <a:bodyPr wrap="square" lIns="114300" tIns="114300" rIns="114300" bIns="114300" rtlCol="0" anchor="ctr"/>
          <a:lstStyle/>
          <a:p>
            <a:pPr indent="0" marL="0">
              <a:buNone/>
            </a:pPr>
            <a:r>
              <a:rPr lang="en-US" sz="1425" b="1" dirty="0">
                <a:solidFill>
                  <a:srgbClr val="2F5FD0"/>
                </a:solidFill>
                <a:latin typeface="Arial" pitchFamily="34" charset="0"/>
                <a:ea typeface="Arial" pitchFamily="34" charset="-122"/>
                <a:cs typeface="Arial" pitchFamily="34" charset="-120"/>
              </a:rPr>
              <a:t>Pick one important endpoint</a:t>
            </a:r>
            <a:endParaRPr lang="en-US" sz="1425" dirty="0"/>
          </a:p>
          <a:p>
            <a:pPr indent="0" marL="0">
              <a:buNone/>
            </a:pPr>
            <a:r>
              <a:rPr lang="en-US" sz="1125" dirty="0">
                <a:solidFill>
                  <a:srgbClr val="4A5063"/>
                </a:solidFill>
                <a:latin typeface="Arial" pitchFamily="34" charset="0"/>
                <a:ea typeface="Arial" pitchFamily="34" charset="-122"/>
                <a:cs typeface="Arial" pitchFamily="34" charset="-120"/>
              </a:rPr>
              <a:t>Orders, payments, permissions. Run a test environment you can reset.</a:t>
            </a:r>
            <a:endParaRPr lang="en-US" sz="1425" dirty="0"/>
          </a:p>
        </p:txBody>
      </p:sp>
      <p:sp>
        <p:nvSpPr>
          <p:cNvPr id="10" name="Text 6"/>
          <p:cNvSpPr txBox="1"/>
          <p:nvPr/>
        </p:nvSpPr>
        <p:spPr>
          <a:xfrm>
            <a:off x="411480" y="2125980"/>
            <a:ext cx="651510" cy="685800"/>
          </a:xfrm>
          <a:prstGeom prst="rect">
            <a:avLst/>
          </a:prstGeom>
          <a:noFill/>
          <a:ln/>
        </p:spPr>
        <p:txBody>
          <a:bodyPr wrap="square" lIns="0" tIns="0" rIns="0" bIns="0" rtlCol="0" anchor="ctr"/>
          <a:lstStyle/>
          <a:p>
            <a:pPr algn="ctr" indent="0" marL="0">
              <a:buNone/>
            </a:pPr>
            <a:r>
              <a:rPr lang="en-US" sz="1950" b="1" dirty="0">
                <a:solidFill>
                  <a:srgbClr val="FFFFFF"/>
                </a:solidFill>
                <a:latin typeface="Arial" pitchFamily="34" charset="0"/>
                <a:ea typeface="Arial" pitchFamily="34" charset="-122"/>
                <a:cs typeface="Arial" pitchFamily="34" charset="-120"/>
              </a:rPr>
              <a:t>2</a:t>
            </a:r>
            <a:endParaRPr lang="en-US" sz="1950" dirty="0"/>
          </a:p>
        </p:txBody>
      </p:sp>
      <p:sp>
        <p:nvSpPr>
          <p:cNvPr id="11" name="Text 7"/>
          <p:cNvSpPr txBox="1"/>
          <p:nvPr/>
        </p:nvSpPr>
        <p:spPr>
          <a:xfrm>
            <a:off x="1200150" y="2125980"/>
            <a:ext cx="7532096" cy="685800"/>
          </a:xfrm>
          <a:prstGeom prst="rect">
            <a:avLst/>
          </a:prstGeom>
          <a:noFill/>
          <a:ln/>
        </p:spPr>
        <p:txBody>
          <a:bodyPr wrap="square" lIns="114300" tIns="114300" rIns="114300" bIns="114300" rtlCol="0" anchor="ctr"/>
          <a:lstStyle/>
          <a:p>
            <a:pPr indent="0" marL="0">
              <a:buNone/>
            </a:pPr>
            <a:r>
              <a:rPr lang="en-US" sz="1425" b="1" dirty="0">
                <a:solidFill>
                  <a:srgbClr val="6B4CC9"/>
                </a:solidFill>
                <a:latin typeface="Arial" pitchFamily="34" charset="0"/>
                <a:ea typeface="Arial" pitchFamily="34" charset="-122"/>
                <a:cs typeface="Arial" pitchFamily="34" charset="-120"/>
              </a:rPr>
              <a:t>Save the AI's test cases in the repo</a:t>
            </a:r>
            <a:endParaRPr lang="en-US" sz="1425" dirty="0"/>
          </a:p>
          <a:p>
            <a:pPr indent="0" marL="0">
              <a:buNone/>
            </a:pPr>
            <a:r>
              <a:rPr lang="en-US" sz="1125" dirty="0">
                <a:solidFill>
                  <a:srgbClr val="4A5063"/>
                </a:solidFill>
                <a:latin typeface="Arial" pitchFamily="34" charset="0"/>
                <a:ea typeface="Arial" pitchFamily="34" charset="-122"/>
                <a:cs typeface="Arial" pitchFamily="34" charset="-120"/>
              </a:rPr>
              <a:t>Review them like code. Don't regenerate them on every build.</a:t>
            </a:r>
            <a:endParaRPr lang="en-US" sz="1425" dirty="0"/>
          </a:p>
        </p:txBody>
      </p:sp>
      <p:sp>
        <p:nvSpPr>
          <p:cNvPr id="12" name="Text 8"/>
          <p:cNvSpPr txBox="1"/>
          <p:nvPr/>
        </p:nvSpPr>
        <p:spPr>
          <a:xfrm>
            <a:off x="411480" y="2948940"/>
            <a:ext cx="651510" cy="685800"/>
          </a:xfrm>
          <a:prstGeom prst="rect">
            <a:avLst/>
          </a:prstGeom>
          <a:noFill/>
          <a:ln/>
        </p:spPr>
        <p:txBody>
          <a:bodyPr wrap="square" lIns="0" tIns="0" rIns="0" bIns="0" rtlCol="0" anchor="ctr"/>
          <a:lstStyle/>
          <a:p>
            <a:pPr algn="ctr" indent="0" marL="0">
              <a:buNone/>
            </a:pPr>
            <a:r>
              <a:rPr lang="en-US" sz="1950" b="1" dirty="0">
                <a:solidFill>
                  <a:srgbClr val="FFFFFF"/>
                </a:solidFill>
                <a:latin typeface="Arial" pitchFamily="34" charset="0"/>
                <a:ea typeface="Arial" pitchFamily="34" charset="-122"/>
                <a:cs typeface="Arial" pitchFamily="34" charset="-120"/>
              </a:rPr>
              <a:t>3</a:t>
            </a:r>
            <a:endParaRPr lang="en-US" sz="1950" dirty="0"/>
          </a:p>
        </p:txBody>
      </p:sp>
      <p:sp>
        <p:nvSpPr>
          <p:cNvPr id="13" name="Text 9"/>
          <p:cNvSpPr txBox="1"/>
          <p:nvPr/>
        </p:nvSpPr>
        <p:spPr>
          <a:xfrm>
            <a:off x="1200150" y="2948940"/>
            <a:ext cx="7532096" cy="685800"/>
          </a:xfrm>
          <a:prstGeom prst="rect">
            <a:avLst/>
          </a:prstGeom>
          <a:noFill/>
          <a:ln/>
        </p:spPr>
        <p:txBody>
          <a:bodyPr wrap="square" lIns="114300" tIns="114300" rIns="114300" bIns="114300" rtlCol="0" anchor="ctr"/>
          <a:lstStyle/>
          <a:p>
            <a:pPr indent="0" marL="0">
              <a:buNone/>
            </a:pPr>
            <a:r>
              <a:rPr lang="en-US" sz="1425" b="1" dirty="0">
                <a:solidFill>
                  <a:srgbClr val="B7791F"/>
                </a:solidFill>
                <a:latin typeface="Arial" pitchFamily="34" charset="0"/>
                <a:ea typeface="Arial" pitchFamily="34" charset="-122"/>
                <a:cs typeface="Arial" pitchFamily="34" charset="-120"/>
              </a:rPr>
              <a:t>Run them in CI as a separate job</a:t>
            </a:r>
            <a:endParaRPr lang="en-US" sz="1425" dirty="0"/>
          </a:p>
          <a:p>
            <a:pPr indent="0" marL="0">
              <a:buNone/>
            </a:pPr>
            <a:r>
              <a:rPr lang="en-US" sz="1125" dirty="0">
                <a:solidFill>
                  <a:srgbClr val="4A5063"/>
                </a:solidFill>
                <a:latin typeface="Arial" pitchFamily="34" charset="0"/>
                <a:ea typeface="Arial" pitchFamily="34" charset="-122"/>
                <a:cs typeface="Arial" pitchFamily="34" charset="-120"/>
              </a:rPr>
              <a:t>Non-blocking until a human has checked the red lines.</a:t>
            </a:r>
            <a:endParaRPr lang="en-US" sz="1425" dirty="0"/>
          </a:p>
        </p:txBody>
      </p:sp>
      <p:sp>
        <p:nvSpPr>
          <p:cNvPr id="14" name="Text 10"/>
          <p:cNvSpPr txBox="1"/>
          <p:nvPr/>
        </p:nvSpPr>
        <p:spPr>
          <a:xfrm>
            <a:off x="411480" y="3771900"/>
            <a:ext cx="651510" cy="685800"/>
          </a:xfrm>
          <a:prstGeom prst="rect">
            <a:avLst/>
          </a:prstGeom>
          <a:noFill/>
          <a:ln/>
        </p:spPr>
        <p:txBody>
          <a:bodyPr wrap="square" lIns="0" tIns="0" rIns="0" bIns="0" rtlCol="0" anchor="ctr"/>
          <a:lstStyle/>
          <a:p>
            <a:pPr algn="ctr" indent="0" marL="0">
              <a:buNone/>
            </a:pPr>
            <a:r>
              <a:rPr lang="en-US" sz="1950" b="1" dirty="0">
                <a:solidFill>
                  <a:srgbClr val="FFFFFF"/>
                </a:solidFill>
                <a:latin typeface="Arial" pitchFamily="34" charset="0"/>
                <a:ea typeface="Arial" pitchFamily="34" charset="-122"/>
                <a:cs typeface="Arial" pitchFamily="34" charset="-120"/>
              </a:rPr>
              <a:t>4</a:t>
            </a:r>
            <a:endParaRPr lang="en-US" sz="1950" dirty="0"/>
          </a:p>
        </p:txBody>
      </p:sp>
      <p:sp>
        <p:nvSpPr>
          <p:cNvPr id="15" name="Text 11"/>
          <p:cNvSpPr txBox="1"/>
          <p:nvPr/>
        </p:nvSpPr>
        <p:spPr>
          <a:xfrm>
            <a:off x="1200150" y="3771900"/>
            <a:ext cx="7532096" cy="685800"/>
          </a:xfrm>
          <a:prstGeom prst="rect">
            <a:avLst/>
          </a:prstGeom>
          <a:noFill/>
          <a:ln/>
        </p:spPr>
        <p:txBody>
          <a:bodyPr wrap="square" lIns="114300" tIns="114300" rIns="114300" bIns="114300" rtlCol="0" anchor="ctr"/>
          <a:lstStyle/>
          <a:p>
            <a:pPr indent="0" marL="0">
              <a:buNone/>
            </a:pPr>
            <a:r>
              <a:rPr lang="en-US" sz="1425" b="1" dirty="0">
                <a:solidFill>
                  <a:srgbClr val="D93F3F"/>
                </a:solidFill>
                <a:latin typeface="Arial" pitchFamily="34" charset="0"/>
                <a:ea typeface="Arial" pitchFamily="34" charset="-122"/>
                <a:cs typeface="Arial" pitchFamily="34" charset="-120"/>
              </a:rPr>
              <a:t>Write your business rules down</a:t>
            </a:r>
            <a:endParaRPr lang="en-US" sz="1425" dirty="0"/>
          </a:p>
          <a:p>
            <a:pPr indent="0" marL="0">
              <a:buNone/>
            </a:pPr>
            <a:r>
              <a:rPr lang="en-US" sz="1125" dirty="0">
                <a:solidFill>
                  <a:srgbClr val="4A5063"/>
                </a:solidFill>
                <a:latin typeface="Arial" pitchFamily="34" charset="0"/>
                <a:ea typeface="Arial" pitchFamily="34" charset="-122"/>
                <a:cs typeface="Arial" pitchFamily="34" charset="-120"/>
              </a:rPr>
              <a:t>Every rule a reader can find is a rule a tool can test.</a:t>
            </a:r>
            <a:endParaRPr lang="en-US" sz="14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3" name="Image 0" descr="bg/bg-25.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qr.png">    </p:cNvPr>
          <p:cNvPicPr>
            <a:picLocks noChangeAspect="1"/>
          </p:cNvPicPr>
          <p:nvPr/>
        </p:nvPicPr>
        <p:blipFill>
          <a:blip r:embed="rId2"/>
          <a:stretch>
            <a:fillRect/>
          </a:stretch>
        </p:blipFill>
        <p:spPr>
          <a:xfrm>
            <a:off x="6789420" y="1200150"/>
            <a:ext cx="1851660" cy="1851660"/>
          </a:xfrm>
          <a:prstGeom prst="rect">
            <a:avLst/>
          </a:prstGeom>
        </p:spPr>
      </p:pic>
      <p:sp>
        <p:nvSpPr>
          <p:cNvPr id="5"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6" name="Text 1"/>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25</a:t>
            </a:r>
            <a:endParaRPr lang="en-US" sz="825" dirty="0"/>
          </a:p>
        </p:txBody>
      </p:sp>
      <p:sp>
        <p:nvSpPr>
          <p:cNvPr id="7" name="Text 2"/>
          <p:cNvSpPr txBox="1"/>
          <p:nvPr/>
        </p:nvSpPr>
        <p:spPr>
          <a:xfrm>
            <a:off x="411480" y="1028700"/>
            <a:ext cx="5897880" cy="685800"/>
          </a:xfrm>
          <a:prstGeom prst="rect">
            <a:avLst/>
          </a:prstGeom>
          <a:noFill/>
          <a:ln/>
        </p:spPr>
        <p:txBody>
          <a:bodyPr wrap="square" lIns="0" tIns="0" rIns="0" bIns="0" rtlCol="0" anchor="t"/>
          <a:lstStyle/>
          <a:p>
            <a:pPr indent="0" marL="0">
              <a:buNone/>
            </a:pPr>
            <a:r>
              <a:rPr lang="en-US" sz="3000" b="1" dirty="0">
                <a:solidFill>
                  <a:srgbClr val="1C1F26"/>
                </a:solidFill>
                <a:latin typeface="Arial" pitchFamily="34" charset="0"/>
                <a:ea typeface="Arial" pitchFamily="34" charset="-122"/>
                <a:cs typeface="Arial" pitchFamily="34" charset="-120"/>
              </a:rPr>
              <a:t>Thank you. Break it yourself.</a:t>
            </a:r>
            <a:endParaRPr lang="en-US" sz="3000" dirty="0"/>
          </a:p>
        </p:txBody>
      </p:sp>
      <p:sp>
        <p:nvSpPr>
          <p:cNvPr id="8" name="Text 3"/>
          <p:cNvSpPr txBox="1"/>
          <p:nvPr/>
        </p:nvSpPr>
        <p:spPr>
          <a:xfrm>
            <a:off x="411480" y="1988820"/>
            <a:ext cx="5760720" cy="1783080"/>
          </a:xfrm>
          <a:prstGeom prst="rect">
            <a:avLst/>
          </a:prstGeom>
          <a:noFill/>
          <a:ln/>
        </p:spPr>
        <p:txBody>
          <a:bodyPr wrap="square" lIns="0" tIns="0" rIns="0" bIns="0" rtlCol="0" anchor="t"/>
          <a:lstStyle/>
          <a:p>
            <a:pPr marL="215900" indent="-215900">
              <a:spcAft>
                <a:spcPts val="750"/>
              </a:spcAft>
              <a:buSzPct val="100000"/>
              <a:buChar char="•"/>
            </a:pPr>
            <a:r>
              <a:rPr lang="en-US" sz="1425" b="1" dirty="0">
                <a:solidFill>
                  <a:srgbClr val="1C1F26"/>
                </a:solidFill>
                <a:latin typeface="Arial" pitchFamily="34" charset="0"/>
                <a:ea typeface="Arial" pitchFamily="34" charset="-122"/>
                <a:cs typeface="Arial" pitchFamily="34" charset="-120"/>
              </a:rPr>
              <a:t>Everything runs locally:</a:t>
            </a:r>
            <a:pPr indent="0" marL="0">
              <a:spcAft>
                <a:spcPts val="750"/>
              </a:spcAft>
              <a:buNone/>
            </a:pPr>
            <a:r>
              <a:rPr lang="en-US" sz="1425" dirty="0">
                <a:solidFill>
                  <a:srgbClr val="4A5063"/>
                </a:solidFill>
                <a:latin typeface="Arial" pitchFamily="34" charset="0"/>
                <a:ea typeface="Arial" pitchFamily="34" charset="-122"/>
                <a:cs typeface="Arial" pitchFamily="34" charset="-120"/>
              </a:rPr>
              <a:t> Python, FastAPI, SQLite, Ollama. No paid APIs.</a:t>
            </a:r>
            <a:endParaRPr lang="en-US" sz="1425" dirty="0"/>
          </a:p>
          <a:p>
            <a:pPr marL="215900" indent="-215900">
              <a:spcAft>
                <a:spcPts val="750"/>
              </a:spcAft>
              <a:buSzPct val="100000"/>
              <a:buChar char="•"/>
            </a:pPr>
            <a:r>
              <a:rPr lang="en-US" sz="1425" b="1" dirty="0">
                <a:solidFill>
                  <a:srgbClr val="1C1F26"/>
                </a:solidFill>
                <a:latin typeface="Arial" pitchFamily="34" charset="0"/>
                <a:ea typeface="Arial" pitchFamily="34" charset="-122"/>
                <a:cs typeface="Arial" pitchFamily="34" charset="-120"/>
              </a:rPr>
              <a:t>In the repo:</a:t>
            </a:r>
            <a:pPr indent="0" marL="0">
              <a:spcAft>
                <a:spcPts val="750"/>
              </a:spcAft>
              <a:buNone/>
            </a:pPr>
            <a:r>
              <a:rPr lang="en-US" sz="1425" dirty="0">
                <a:solidFill>
                  <a:srgbClr val="4A5063"/>
                </a:solidFill>
                <a:latin typeface="Arial" pitchFamily="34" charset="0"/>
                <a:ea typeface="Arial" pitchFamily="34" charset="-122"/>
                <a:cs typeface="Arial" pitchFamily="34" charset="-120"/>
              </a:rPr>
              <a:t> the API, prompts, real AI output, test runner, demos, and a full PDF guide.</a:t>
            </a:r>
            <a:endParaRPr lang="en-US" sz="1425" dirty="0"/>
          </a:p>
          <a:p>
            <a:pPr marL="215900" indent="-215900">
              <a:spcAft>
                <a:spcPts val="750"/>
              </a:spcAft>
              <a:buSzPct val="100000"/>
              <a:buChar char="•"/>
            </a:pPr>
            <a:r>
              <a:rPr lang="en-US" sz="1425" b="1" dirty="0">
                <a:solidFill>
                  <a:srgbClr val="1C1F26"/>
                </a:solidFill>
                <a:latin typeface="Arial" pitchFamily="34" charset="0"/>
                <a:ea typeface="Arial" pitchFamily="34" charset="-122"/>
                <a:cs typeface="Arial" pitchFamily="34" charset="-120"/>
              </a:rPr>
              <a:t>Questions?</a:t>
            </a:r>
            <a:pPr indent="0" marL="0">
              <a:spcAft>
                <a:spcPts val="750"/>
              </a:spcAft>
              <a:buNone/>
            </a:pPr>
            <a:r>
              <a:rPr lang="en-US" sz="1425" dirty="0">
                <a:solidFill>
                  <a:srgbClr val="4A5063"/>
                </a:solidFill>
                <a:latin typeface="Arial" pitchFamily="34" charset="0"/>
                <a:ea typeface="Arial" pitchFamily="34" charset="-122"/>
                <a:cs typeface="Arial" pitchFamily="34" charset="-120"/>
              </a:rPr>
              <a:t> </a:t>
            </a:r>
            <a:endParaRPr lang="en-US" sz="1425" dirty="0"/>
          </a:p>
        </p:txBody>
      </p:sp>
      <p:sp>
        <p:nvSpPr>
          <p:cNvPr id="9" name="Text 4"/>
          <p:cNvSpPr txBox="1"/>
          <p:nvPr/>
        </p:nvSpPr>
        <p:spPr>
          <a:xfrm>
            <a:off x="411480" y="4114800"/>
            <a:ext cx="5486400" cy="274320"/>
          </a:xfrm>
          <a:prstGeom prst="rect">
            <a:avLst/>
          </a:prstGeom>
          <a:noFill/>
          <a:ln/>
        </p:spPr>
        <p:txBody>
          <a:bodyPr wrap="square" lIns="0" tIns="0" rIns="0" bIns="0" rtlCol="0" anchor="t"/>
          <a:lstStyle/>
          <a:p>
            <a:pPr indent="0" marL="0">
              <a:buNone/>
            </a:pPr>
            <a:r>
              <a:rPr lang="en-US" sz="1200" dirty="0">
                <a:solidFill>
                  <a:srgbClr val="4A5063"/>
                </a:solidFill>
                <a:latin typeface="Arial" pitchFamily="34" charset="0"/>
                <a:ea typeface="Arial" pitchFamily="34" charset="-122"/>
                <a:cs typeface="Arial" pitchFamily="34" charset="-120"/>
              </a:rPr>
              <a:t>Vidyarathna B · Soult Digital</a:t>
            </a:r>
            <a:endParaRPr lang="en-US" sz="1200" dirty="0"/>
          </a:p>
        </p:txBody>
      </p:sp>
      <p:sp>
        <p:nvSpPr>
          <p:cNvPr id="10" name="Text 5"/>
          <p:cNvSpPr txBox="1"/>
          <p:nvPr/>
        </p:nvSpPr>
        <p:spPr>
          <a:xfrm>
            <a:off x="6343650" y="3291840"/>
            <a:ext cx="2743200" cy="240030"/>
          </a:xfrm>
          <a:prstGeom prst="rect">
            <a:avLst/>
          </a:prstGeom>
          <a:noFill/>
          <a:ln/>
        </p:spPr>
        <p:txBody>
          <a:bodyPr wrap="square" lIns="0" tIns="0" rIns="0" bIns="0" rtlCol="0" anchor="t"/>
          <a:lstStyle/>
          <a:p>
            <a:pPr algn="ctr" indent="0" marL="0">
              <a:buNone/>
            </a:pPr>
            <a:r>
              <a:rPr lang="en-US" sz="825" dirty="0">
                <a:solidFill>
                  <a:srgbClr val="4A5063"/>
                </a:solidFill>
                <a:latin typeface="Courier New" pitchFamily="34" charset="0"/>
                <a:ea typeface="Courier New" pitchFamily="34" charset="-122"/>
                <a:cs typeface="Courier New" pitchFamily="34" charset="-120"/>
              </a:rPr>
              <a:t>github.com/vidyarathna/break-my-api</a:t>
            </a:r>
            <a:endParaRPr lang="en-US" sz="82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3" name="Image 0" descr="bg/bg-26.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feedback-qr.png">    </p:cNvPr>
          <p:cNvPicPr>
            <a:picLocks noChangeAspect="1"/>
          </p:cNvPicPr>
          <p:nvPr/>
        </p:nvPicPr>
        <p:blipFill>
          <a:blip r:embed="rId2"/>
          <a:stretch>
            <a:fillRect/>
          </a:stretch>
        </p:blipFill>
        <p:spPr>
          <a:xfrm>
            <a:off x="5506974" y="1337310"/>
            <a:ext cx="3086100" cy="3086100"/>
          </a:xfrm>
          <a:prstGeom prst="rect">
            <a:avLst/>
          </a:prstGeom>
        </p:spPr>
      </p:pic>
      <p:sp>
        <p:nvSpPr>
          <p:cNvPr id="5" name="Text 0"/>
          <p:cNvSpPr txBox="1"/>
          <p:nvPr/>
        </p:nvSpPr>
        <p:spPr>
          <a:xfrm>
            <a:off x="5394960" y="73152"/>
            <a:ext cx="3520440" cy="274320"/>
          </a:xfrm>
          <a:prstGeom prst="rect">
            <a:avLst/>
          </a:prstGeom>
          <a:noFill/>
          <a:ln/>
        </p:spPr>
        <p:txBody>
          <a:bodyPr wrap="square" lIns="0" tIns="0" rIns="0" bIns="0" rtlCol="0" anchor="t"/>
          <a:lstStyle/>
          <a:p>
            <a:pPr algn="r" indent="0" marL="0">
              <a:buNone/>
            </a:pPr>
            <a:r>
              <a:rPr lang="en-US" sz="1102" dirty="0">
                <a:solidFill>
                  <a:srgbClr val="595959"/>
                </a:solidFill>
                <a:latin typeface="Arial" pitchFamily="34" charset="0"/>
                <a:ea typeface="Arial" pitchFamily="34" charset="-122"/>
                <a:cs typeface="Arial" pitchFamily="34" charset="-120"/>
              </a:rPr>
              <a:t>@hackersmang #HMSep26</a:t>
            </a:r>
            <a:endParaRPr lang="en-US" sz="1102" dirty="0"/>
          </a:p>
        </p:txBody>
      </p:sp>
      <p:sp>
        <p:nvSpPr>
          <p:cNvPr id="6" name="Text 1"/>
          <p:cNvSpPr txBox="1"/>
          <p:nvPr/>
        </p:nvSpPr>
        <p:spPr>
          <a:xfrm>
            <a:off x="411480" y="308610"/>
            <a:ext cx="6172200" cy="240030"/>
          </a:xfrm>
          <a:prstGeom prst="rect">
            <a:avLst/>
          </a:prstGeom>
          <a:noFill/>
          <a:ln/>
        </p:spPr>
        <p:txBody>
          <a:bodyPr wrap="square" lIns="0" tIns="0" rIns="0" bIns="0" rtlCol="0" anchor="t"/>
          <a:lstStyle/>
          <a:p>
            <a:pPr indent="0" marL="0">
              <a:buNone/>
            </a:pPr>
            <a:r>
              <a:rPr lang="en-US" sz="975" b="1" dirty="0">
                <a:solidFill>
                  <a:srgbClr val="B7791F"/>
                </a:solidFill>
                <a:latin typeface="Courier New" pitchFamily="34" charset="0"/>
                <a:ea typeface="Courier New" pitchFamily="34" charset="-122"/>
                <a:cs typeface="Courier New" pitchFamily="34" charset="-120"/>
              </a:rPr>
              <a:t>FEEDBACK</a:t>
            </a:r>
            <a:endParaRPr lang="en-US" sz="975" dirty="0"/>
          </a:p>
        </p:txBody>
      </p:sp>
      <p:sp>
        <p:nvSpPr>
          <p:cNvPr id="7" name="Text 2"/>
          <p:cNvSpPr txBox="1"/>
          <p:nvPr/>
        </p:nvSpPr>
        <p:spPr>
          <a:xfrm>
            <a:off x="411480" y="548640"/>
            <a:ext cx="8320857" cy="582930"/>
          </a:xfrm>
          <a:prstGeom prst="rect">
            <a:avLst/>
          </a:prstGeom>
          <a:noFill/>
          <a:ln/>
        </p:spPr>
        <p:txBody>
          <a:bodyPr wrap="square" lIns="0" tIns="0" rIns="0" bIns="0" rtlCol="0" anchor="t"/>
          <a:lstStyle/>
          <a:p>
            <a:pPr indent="0" marL="0">
              <a:buNone/>
            </a:pPr>
            <a:r>
              <a:rPr lang="en-US" sz="2400" b="1" dirty="0">
                <a:solidFill>
                  <a:srgbClr val="1C1F26"/>
                </a:solidFill>
                <a:latin typeface="Arial" pitchFamily="34" charset="0"/>
                <a:ea typeface="Arial" pitchFamily="34" charset="-122"/>
                <a:cs typeface="Arial" pitchFamily="34" charset="-120"/>
              </a:rPr>
              <a:t>How was this talk?</a:t>
            </a:r>
            <a:endParaRPr lang="en-US" sz="2400" dirty="0"/>
          </a:p>
        </p:txBody>
      </p:sp>
      <p:sp>
        <p:nvSpPr>
          <p:cNvPr id="8" name="Text 3"/>
          <p:cNvSpPr txBox="1"/>
          <p:nvPr/>
        </p:nvSpPr>
        <p:spPr>
          <a:xfrm>
            <a:off x="8320857" y="4766310"/>
            <a:ext cx="411480" cy="205740"/>
          </a:xfrm>
          <a:prstGeom prst="rect">
            <a:avLst/>
          </a:prstGeom>
          <a:noFill/>
          <a:ln/>
        </p:spPr>
        <p:txBody>
          <a:bodyPr wrap="square" lIns="0" tIns="0" rIns="0" bIns="0" rtlCol="0" anchor="t"/>
          <a:lstStyle/>
          <a:p>
            <a:pPr algn="r" indent="0" marL="0">
              <a:buNone/>
            </a:pPr>
            <a:r>
              <a:rPr lang="en-US" sz="825" dirty="0">
                <a:solidFill>
                  <a:srgbClr val="8A90A0"/>
                </a:solidFill>
                <a:latin typeface="Arial" pitchFamily="34" charset="0"/>
                <a:ea typeface="Arial" pitchFamily="34" charset="-122"/>
                <a:cs typeface="Arial" pitchFamily="34" charset="-120"/>
              </a:rPr>
              <a:t>26</a:t>
            </a:r>
            <a:endParaRPr lang="en-US" sz="825" dirty="0"/>
          </a:p>
        </p:txBody>
      </p:sp>
      <p:sp>
        <p:nvSpPr>
          <p:cNvPr id="9" name="Text 4"/>
          <p:cNvSpPr txBox="1"/>
          <p:nvPr/>
        </p:nvSpPr>
        <p:spPr>
          <a:xfrm>
            <a:off x="411480" y="1440180"/>
            <a:ext cx="4526280" cy="2057400"/>
          </a:xfrm>
          <a:prstGeom prst="rect">
            <a:avLst/>
          </a:prstGeom>
          <a:noFill/>
          <a:ln/>
        </p:spPr>
        <p:txBody>
          <a:bodyPr wrap="square" lIns="0" tIns="0" rIns="0" bIns="0" rtlCol="0" anchor="t"/>
          <a:lstStyle/>
          <a:p>
            <a:pPr marL="215900" indent="-215900">
              <a:spcAft>
                <a:spcPts val="750"/>
              </a:spcAft>
              <a:buSzPct val="100000"/>
              <a:buChar char="•"/>
            </a:pPr>
            <a:r>
              <a:rPr lang="en-US" sz="1650" b="1" dirty="0">
                <a:solidFill>
                  <a:srgbClr val="1C1F26"/>
                </a:solidFill>
                <a:latin typeface="Arial" pitchFamily="34" charset="0"/>
                <a:ea typeface="Arial" pitchFamily="34" charset="-122"/>
                <a:cs typeface="Arial" pitchFamily="34" charset="-120"/>
              </a:rPr>
              <a:t>Scan the QR code</a:t>
            </a:r>
            <a:pPr indent="0" marL="0">
              <a:spcAft>
                <a:spcPts val="750"/>
              </a:spcAft>
              <a:buNone/>
            </a:pPr>
            <a:r>
              <a:rPr lang="en-US" sz="1650" dirty="0">
                <a:solidFill>
                  <a:srgbClr val="4A5063"/>
                </a:solidFill>
                <a:latin typeface="Arial" pitchFamily="34" charset="0"/>
                <a:ea typeface="Arial" pitchFamily="34" charset="-122"/>
                <a:cs typeface="Arial" pitchFamily="34" charset="-120"/>
              </a:rPr>
              <a:t> to share your feedback.</a:t>
            </a:r>
            <a:endParaRPr lang="en-US" sz="1650" dirty="0"/>
          </a:p>
          <a:p>
            <a:pPr marL="215900" indent="-215900">
              <a:spcAft>
                <a:spcPts val="750"/>
              </a:spcAft>
              <a:buSzPct val="100000"/>
              <a:buChar char="•"/>
            </a:pPr>
            <a:r>
              <a:rPr lang="en-US" sz="1650" b="1" dirty="0">
                <a:solidFill>
                  <a:srgbClr val="1C1F26"/>
                </a:solidFill>
                <a:latin typeface="Arial" pitchFamily="34" charset="0"/>
                <a:ea typeface="Arial" pitchFamily="34" charset="-122"/>
                <a:cs typeface="Arial" pitchFamily="34" charset="-120"/>
              </a:rPr>
              <a:t>It takes under a minute.</a:t>
            </a:r>
            <a:pPr indent="0" marL="0">
              <a:spcAft>
                <a:spcPts val="750"/>
              </a:spcAft>
              <a:buNone/>
            </a:pPr>
            <a:r>
              <a:rPr lang="en-US" sz="1650" dirty="0">
                <a:solidFill>
                  <a:srgbClr val="4A5063"/>
                </a:solidFill>
                <a:latin typeface="Arial" pitchFamily="34" charset="0"/>
                <a:ea typeface="Arial" pitchFamily="34" charset="-122"/>
                <a:cs typeface="Arial" pitchFamily="34" charset="-120"/>
              </a:rPr>
              <a:t> </a:t>
            </a:r>
            <a:endParaRPr lang="en-US" sz="1650" dirty="0"/>
          </a:p>
          <a:p>
            <a:pPr marL="215900" indent="-215900">
              <a:spcAft>
                <a:spcPts val="750"/>
              </a:spcAft>
              <a:buSzPct val="100000"/>
              <a:buChar char="•"/>
            </a:pPr>
            <a:r>
              <a:rPr lang="en-US" sz="1650" b="1" dirty="0">
                <a:solidFill>
                  <a:srgbClr val="1C1F26"/>
                </a:solidFill>
                <a:latin typeface="Arial" pitchFamily="34" charset="0"/>
                <a:ea typeface="Arial" pitchFamily="34" charset="-122"/>
                <a:cs typeface="Arial" pitchFamily="34" charset="-120"/>
              </a:rPr>
              <a:t>Tell me:</a:t>
            </a:r>
            <a:pPr indent="0" marL="0">
              <a:spcAft>
                <a:spcPts val="750"/>
              </a:spcAft>
              <a:buNone/>
            </a:pPr>
            <a:r>
              <a:rPr lang="en-US" sz="1650" dirty="0">
                <a:solidFill>
                  <a:srgbClr val="4A5063"/>
                </a:solidFill>
                <a:latin typeface="Arial" pitchFamily="34" charset="0"/>
                <a:ea typeface="Arial" pitchFamily="34" charset="-122"/>
                <a:cs typeface="Arial" pitchFamily="34" charset="-120"/>
              </a:rPr>
              <a:t> what worked, what didn't, and what you'd like to see next.</a:t>
            </a:r>
            <a:endParaRPr lang="en-US" sz="1650" dirty="0"/>
          </a:p>
        </p:txBody>
      </p:sp>
      <p:sp>
        <p:nvSpPr>
          <p:cNvPr id="10" name="Text 5"/>
          <p:cNvSpPr txBox="1"/>
          <p:nvPr/>
        </p:nvSpPr>
        <p:spPr>
          <a:xfrm>
            <a:off x="411480" y="3703320"/>
            <a:ext cx="4526280" cy="411480"/>
          </a:xfrm>
          <a:prstGeom prst="rect">
            <a:avLst/>
          </a:prstGeom>
          <a:noFill/>
          <a:ln/>
        </p:spPr>
        <p:txBody>
          <a:bodyPr wrap="square" lIns="0" tIns="0" rIns="0" bIns="0" rtlCol="0" anchor="t"/>
          <a:lstStyle/>
          <a:p>
            <a:pPr indent="0" marL="0">
              <a:buNone/>
            </a:pPr>
            <a:r>
              <a:rPr lang="en-US" sz="1950" b="1" dirty="0">
                <a:solidFill>
                  <a:srgbClr val="D93F3F"/>
                </a:solidFill>
                <a:latin typeface="Arial" pitchFamily="34" charset="0"/>
                <a:ea typeface="Arial" pitchFamily="34" charset="-122"/>
                <a:cs typeface="Arial" pitchFamily="34" charset="-120"/>
              </a:rPr>
              <a:t>Thank you for listening!</a:t>
            </a:r>
            <a:endParaRPr lang="en-US" sz="1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3" name="Image 0" descr="bg/bg-27.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hm-qr.png">    </p:cNvPr>
          <p:cNvPicPr>
            <a:picLocks noChangeAspect="1"/>
          </p:cNvPicPr>
          <p:nvPr/>
        </p:nvPicPr>
        <p:blipFill>
          <a:blip r:embed="rId2"/>
          <a:stretch>
            <a:fillRect/>
          </a:stretch>
        </p:blipFill>
        <p:spPr>
          <a:xfrm>
            <a:off x="2743200" y="932688"/>
            <a:ext cx="3666744" cy="3666744"/>
          </a:xfrm>
          <a:prstGeom prst="rect">
            <a:avLst/>
          </a:prstGeom>
        </p:spPr>
      </p:pic>
      <p:sp>
        <p:nvSpPr>
          <p:cNvPr id="5" name="Text 0"/>
          <p:cNvSpPr txBox="1"/>
          <p:nvPr/>
        </p:nvSpPr>
        <p:spPr>
          <a:xfrm>
            <a:off x="457200" y="45720"/>
            <a:ext cx="8229600" cy="822960"/>
          </a:xfrm>
          <a:prstGeom prst="rect">
            <a:avLst/>
          </a:prstGeom>
          <a:noFill/>
          <a:ln/>
        </p:spPr>
        <p:txBody>
          <a:bodyPr wrap="square" lIns="0" tIns="0" rIns="0" bIns="0" rtlCol="0" anchor="ctr"/>
          <a:lstStyle/>
          <a:p>
            <a:pPr algn="ctr" indent="0" marL="0">
              <a:buNone/>
            </a:pPr>
            <a:r>
              <a:rPr lang="en-US" sz="3000" dirty="0">
                <a:solidFill>
                  <a:srgbClr val="404040"/>
                </a:solidFill>
                <a:latin typeface="Caveat" pitchFamily="34" charset="0"/>
                <a:ea typeface="Caveat" pitchFamily="34" charset="-122"/>
                <a:cs typeface="Caveat" pitchFamily="34" charset="-120"/>
              </a:rPr>
              <a:t>Stay Connected with @hackersmang</a:t>
            </a:r>
            <a:endParaRPr lang="en-US" sz="3000" dirty="0"/>
          </a:p>
        </p:txBody>
      </p:sp>
      <p:sp>
        <p:nvSpPr>
          <p:cNvPr id="6" name="Text 1"/>
          <p:cNvSpPr txBox="1"/>
          <p:nvPr/>
        </p:nvSpPr>
        <p:spPr>
          <a:xfrm>
            <a:off x="3218688" y="4645152"/>
            <a:ext cx="2880360" cy="438912"/>
          </a:xfrm>
          <a:prstGeom prst="rect">
            <a:avLst/>
          </a:prstGeom>
          <a:noFill/>
          <a:ln/>
        </p:spPr>
        <p:txBody>
          <a:bodyPr wrap="square" lIns="0" tIns="0" rIns="0" bIns="0" rtlCol="0" anchor="ctr"/>
          <a:lstStyle/>
          <a:p>
            <a:pPr algn="ctr" indent="0" marL="0">
              <a:buNone/>
            </a:pPr>
            <a:r>
              <a:rPr lang="en-US" sz="3600" dirty="0">
                <a:solidFill>
                  <a:srgbClr val="404040"/>
                </a:solidFill>
                <a:latin typeface="Caveat" pitchFamily="34" charset="0"/>
                <a:ea typeface="Caveat" pitchFamily="34" charset="-122"/>
                <a:cs typeface="Caveat" pitchFamily="34" charset="-120"/>
              </a:rPr>
              <a:t>#HMSep26</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Break My API: Can AI Find the Bugs I Forgot to Test?</dc:title>
  <dc:subject>PptxGenJS Presentation</dc:subject>
  <dc:creator>Vidyarathna B</dc:creator>
  <cp:lastModifiedBy>Vidyarathna B</cp:lastModifiedBy>
  <cp:revision>1</cp:revision>
  <dcterms:created xsi:type="dcterms:W3CDTF">2026-09-18T15:30:20Z</dcterms:created>
  <dcterms:modified xsi:type="dcterms:W3CDTF">2026-09-18T15:30:20Z</dcterms:modified>
</cp:coreProperties>
</file>